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8.xml" ContentType="application/vnd.openxmlformats-officedocument.presentationml.notesSlide+xml"/>
  <Override PartName="/ppt/tags/tag41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67" r:id="rId1"/>
    <p:sldMasterId id="2147483863" r:id="rId2"/>
    <p:sldMasterId id="2147483865" r:id="rId3"/>
  </p:sldMasterIdLst>
  <p:notesMasterIdLst>
    <p:notesMasterId r:id="rId40"/>
  </p:notesMasterIdLst>
  <p:sldIdLst>
    <p:sldId id="763" r:id="rId4"/>
    <p:sldId id="802" r:id="rId5"/>
    <p:sldId id="765" r:id="rId6"/>
    <p:sldId id="767" r:id="rId7"/>
    <p:sldId id="766" r:id="rId8"/>
    <p:sldId id="768" r:id="rId9"/>
    <p:sldId id="801" r:id="rId10"/>
    <p:sldId id="773" r:id="rId11"/>
    <p:sldId id="774" r:id="rId12"/>
    <p:sldId id="775" r:id="rId13"/>
    <p:sldId id="803" r:id="rId14"/>
    <p:sldId id="804" r:id="rId15"/>
    <p:sldId id="787" r:id="rId16"/>
    <p:sldId id="811" r:id="rId17"/>
    <p:sldId id="805" r:id="rId18"/>
    <p:sldId id="820" r:id="rId19"/>
    <p:sldId id="807" r:id="rId20"/>
    <p:sldId id="832" r:id="rId21"/>
    <p:sldId id="833" r:id="rId22"/>
    <p:sldId id="818" r:id="rId23"/>
    <p:sldId id="831" r:id="rId24"/>
    <p:sldId id="819" r:id="rId25"/>
    <p:sldId id="788" r:id="rId26"/>
    <p:sldId id="821" r:id="rId27"/>
    <p:sldId id="814" r:id="rId28"/>
    <p:sldId id="815" r:id="rId29"/>
    <p:sldId id="825" r:id="rId30"/>
    <p:sldId id="824" r:id="rId31"/>
    <p:sldId id="834" r:id="rId32"/>
    <p:sldId id="827" r:id="rId33"/>
    <p:sldId id="784" r:id="rId34"/>
    <p:sldId id="828" r:id="rId35"/>
    <p:sldId id="786" r:id="rId36"/>
    <p:sldId id="830" r:id="rId37"/>
    <p:sldId id="829" r:id="rId38"/>
    <p:sldId id="782" r:id="rId39"/>
  </p:sldIdLst>
  <p:sldSz cx="12192000" cy="6858000"/>
  <p:notesSz cx="9926638" cy="14355763"/>
  <p:custDataLst>
    <p:tags r:id="rId41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2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orient="horz" pos="3997">
          <p15:clr>
            <a:srgbClr val="A4A3A4"/>
          </p15:clr>
        </p15:guide>
        <p15:guide id="5" orient="horz" pos="2636">
          <p15:clr>
            <a:srgbClr val="A4A3A4"/>
          </p15:clr>
        </p15:guide>
        <p15:guide id="6" orient="horz" pos="595">
          <p15:clr>
            <a:srgbClr val="A4A3A4"/>
          </p15:clr>
        </p15:guide>
        <p15:guide id="7" orient="horz" pos="3725">
          <p15:clr>
            <a:srgbClr val="A4A3A4"/>
          </p15:clr>
        </p15:guide>
        <p15:guide id="8" orient="horz" pos="1026" userDrawn="1">
          <p15:clr>
            <a:srgbClr val="A4A3A4"/>
          </p15:clr>
        </p15:guide>
        <p15:guide id="9" pos="302" userDrawn="1">
          <p15:clr>
            <a:srgbClr val="A4A3A4"/>
          </p15:clr>
        </p15:guide>
        <p15:guide id="11" pos="6675">
          <p15:clr>
            <a:srgbClr val="A4A3A4"/>
          </p15:clr>
        </p15:guide>
        <p15:guide id="12" pos="1255">
          <p15:clr>
            <a:srgbClr val="A4A3A4"/>
          </p15:clr>
        </p15:guide>
        <p15:guide id="13" pos="3795">
          <p15:clr>
            <a:srgbClr val="A4A3A4"/>
          </p15:clr>
        </p15:guide>
        <p15:guide id="14" pos="3885">
          <p15:clr>
            <a:srgbClr val="A4A3A4"/>
          </p15:clr>
        </p15:guide>
        <p15:guide id="15" pos="6448">
          <p15:clr>
            <a:srgbClr val="A4A3A4"/>
          </p15:clr>
        </p15:guide>
        <p15:guide id="16" pos="7423" userDrawn="1">
          <p15:clr>
            <a:srgbClr val="A4A3A4"/>
          </p15:clr>
        </p15:guide>
        <p15:guide id="17" pos="39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C8"/>
    <a:srgbClr val="FF6600"/>
    <a:srgbClr val="FF0000"/>
    <a:srgbClr val="E7E7E7"/>
    <a:srgbClr val="0D406F"/>
    <a:srgbClr val="FFFFFF"/>
    <a:srgbClr val="BEBEBE"/>
    <a:srgbClr val="BFBFBF"/>
    <a:srgbClr val="164266"/>
    <a:srgbClr val="004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5" autoAdjust="0"/>
    <p:restoredTop sz="93257" autoAdjust="0"/>
  </p:normalViewPr>
  <p:slideViewPr>
    <p:cSldViewPr snapToObjects="1">
      <p:cViewPr varScale="1">
        <p:scale>
          <a:sx n="80" d="100"/>
          <a:sy n="80" d="100"/>
        </p:scale>
        <p:origin x="330" y="90"/>
      </p:cViewPr>
      <p:guideLst>
        <p:guide pos="3840"/>
        <p:guide orient="horz" pos="4065"/>
        <p:guide orient="horz" pos="3997"/>
        <p:guide orient="horz" pos="2636"/>
        <p:guide orient="horz" pos="595"/>
        <p:guide orient="horz" pos="3725"/>
        <p:guide orient="horz" pos="1026"/>
        <p:guide pos="302"/>
        <p:guide pos="6675"/>
        <p:guide pos="1255"/>
        <p:guide pos="3795"/>
        <p:guide pos="3885"/>
        <p:guide pos="6448"/>
        <p:guide pos="7423"/>
        <p:guide pos="393"/>
      </p:guideLst>
    </p:cSldViewPr>
  </p:slideViewPr>
  <p:outlineViewPr>
    <p:cViewPr>
      <p:scale>
        <a:sx n="33" d="100"/>
        <a:sy n="33" d="100"/>
      </p:scale>
      <p:origin x="0" y="22242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1543" cy="71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 eaLnBrk="1">
              <a:defRPr sz="17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799" y="0"/>
            <a:ext cx="4301543" cy="71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>
            <a:lvl1pPr algn="r" eaLnBrk="1">
              <a:defRPr sz="17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6213" y="1076325"/>
            <a:ext cx="9574212" cy="538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65" y="6818988"/>
            <a:ext cx="7941310" cy="646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62" tIns="66381" rIns="132762" bIns="663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Textmasterformate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635483"/>
            <a:ext cx="4301543" cy="71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 eaLnBrk="1">
              <a:defRPr sz="17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799" y="13635483"/>
            <a:ext cx="4301543" cy="71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62" tIns="66381" rIns="132762" bIns="66381" numCol="1" anchor="b" anchorCtr="0" compatLnSpc="1">
            <a:prstTxWarp prst="textNoShape">
              <a:avLst/>
            </a:prstTxWarp>
          </a:bodyPr>
          <a:lstStyle>
            <a:lvl1pPr algn="r">
              <a:defRPr sz="17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0CB1F548-C26E-47DD-8BF7-3513A723B4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7848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5E7FAF7-A9A9-4B19-8F8D-9CACCE246D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0D8134B-51FB-46E8-A39A-1B9D0964A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9609" y="6570637"/>
            <a:ext cx="8774480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093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244" y="6942559"/>
            <a:ext cx="9017894" cy="6611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69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8C01AA3-7D12-4CAF-BE95-410789C27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A4C763C-1122-4C0C-9D7F-792AD3CE2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2242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68687EF-76CF-4090-B545-620AA94B5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3A513CF-F40E-4D2B-B4EF-139544308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Please refer to the </a:t>
            </a:r>
            <a:r>
              <a:rPr lang="en-US" altLang="en-US" b="1" dirty="0" err="1">
                <a:solidFill>
                  <a:srgbClr val="C00000"/>
                </a:solidFill>
                <a:latin typeface="Arial" panose="020B0604020202020204" pitchFamily="34" charset="0"/>
              </a:rPr>
              <a:t>Shainin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 Pocket Guide for the tree standards.</a:t>
            </a:r>
          </a:p>
          <a:p>
            <a:pPr algn="ctr">
              <a:spcBef>
                <a:spcPct val="0"/>
              </a:spcBef>
            </a:pPr>
            <a:endParaRPr lang="en-US" altLang="en-US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82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8A6BF86-3E48-475D-A3C0-0E8BD68632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3AAEF81-33D4-4E1F-BAAF-4C79D4168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457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E1098D94-C13F-46ED-8BB7-7E4573236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35952D3F-501B-4352-906E-E8E367D8F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endParaRPr lang="en-US" altLang="en-US" dirty="0"/>
          </a:p>
        </p:txBody>
      </p:sp>
      <p:pic>
        <p:nvPicPr>
          <p:cNvPr id="29700" name="Picture 1">
            <a:extLst>
              <a:ext uri="{FF2B5EF4-FFF2-40B4-BE49-F238E27FC236}">
                <a16:creationId xmlns:a16="http://schemas.microsoft.com/office/drawing/2014/main" id="{884F3A74-4D6D-4BFB-B117-4DD7A591D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976" y="9348579"/>
            <a:ext cx="3090194" cy="2562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9726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8C01AA3-7D12-4CAF-BE95-410789C27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A4C763C-1122-4C0C-9D7F-792AD3CE2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9834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8C01AA3-7D12-4CAF-BE95-410789C27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A4C763C-1122-4C0C-9D7F-792AD3CE2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5015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2FA2FAD-6788-4686-B06F-5FE95C3764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99626B26-7953-4C62-9409-7904D2D1C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595" y="7399428"/>
            <a:ext cx="5341190" cy="120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2762" tIns="66381" rIns="132762" bIns="66381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defTabSz="1327617" eaLnBrk="0" hangingPunct="0">
              <a:defRPr/>
            </a:pPr>
            <a:r>
              <a:rPr lang="en-US" altLang="en-US" sz="1700" dirty="0">
                <a:solidFill>
                  <a:srgbClr val="C00000"/>
                </a:solidFill>
              </a:rPr>
              <a:t>Please refer to our website: www.Shainin.com, the Collaboration Platform and Reference Manual.  A pdf document is available with guidelines and standards for this tool.</a:t>
            </a:r>
            <a:endParaRPr lang="en-US" altLang="en-US" sz="1700" b="0" dirty="0"/>
          </a:p>
        </p:txBody>
      </p:sp>
      <p:sp>
        <p:nvSpPr>
          <p:cNvPr id="41988" name="Notes Placeholder 1">
            <a:extLst>
              <a:ext uri="{FF2B5EF4-FFF2-40B4-BE49-F238E27FC236}">
                <a16:creationId xmlns:a16="http://schemas.microsoft.com/office/drawing/2014/main" id="{A12A8817-3AC5-4547-9755-D54AF4BE5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This TEST slide should be modified for the exact type of test that is being planned such as a B vs C or B vs W or a Barrier etc.  The test risk level is determined by completing a Risk Assessment Matrix discussion.</a:t>
            </a:r>
          </a:p>
        </p:txBody>
      </p:sp>
    </p:spTree>
    <p:extLst>
      <p:ext uri="{BB962C8B-B14F-4D97-AF65-F5344CB8AC3E}">
        <p14:creationId xmlns:p14="http://schemas.microsoft.com/office/powerpoint/2010/main" val="198899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28CCF16-CFB1-4FEC-AB32-26CE1B7D8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1">
            <a:extLst>
              <a:ext uri="{FF2B5EF4-FFF2-40B4-BE49-F238E27FC236}">
                <a16:creationId xmlns:a16="http://schemas.microsoft.com/office/drawing/2014/main" id="{6C33DD13-207E-4DA1-9279-9B55A089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1233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28CCF16-CFB1-4FEC-AB32-26CE1B7D8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1">
            <a:extLst>
              <a:ext uri="{FF2B5EF4-FFF2-40B4-BE49-F238E27FC236}">
                <a16:creationId xmlns:a16="http://schemas.microsoft.com/office/drawing/2014/main" id="{6C33DD13-207E-4DA1-9279-9B55A089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082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28CCF16-CFB1-4FEC-AB32-26CE1B7D8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1">
            <a:extLst>
              <a:ext uri="{FF2B5EF4-FFF2-40B4-BE49-F238E27FC236}">
                <a16:creationId xmlns:a16="http://schemas.microsoft.com/office/drawing/2014/main" id="{6C33DD13-207E-4DA1-9279-9B55A089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4290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28CCF16-CFB1-4FEC-AB32-26CE1B7D8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1">
            <a:extLst>
              <a:ext uri="{FF2B5EF4-FFF2-40B4-BE49-F238E27FC236}">
                <a16:creationId xmlns:a16="http://schemas.microsoft.com/office/drawing/2014/main" id="{6C33DD13-207E-4DA1-9279-9B55A089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280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28CCF16-CFB1-4FEC-AB32-26CE1B7D8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1">
            <a:extLst>
              <a:ext uri="{FF2B5EF4-FFF2-40B4-BE49-F238E27FC236}">
                <a16:creationId xmlns:a16="http://schemas.microsoft.com/office/drawing/2014/main" id="{6C33DD13-207E-4DA1-9279-9B55A089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3572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28CCF16-CFB1-4FEC-AB32-26CE1B7D8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1">
            <a:extLst>
              <a:ext uri="{FF2B5EF4-FFF2-40B4-BE49-F238E27FC236}">
                <a16:creationId xmlns:a16="http://schemas.microsoft.com/office/drawing/2014/main" id="{6C33DD13-207E-4DA1-9279-9B55A089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689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28CCF16-CFB1-4FEC-AB32-26CE1B7D8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1">
            <a:extLst>
              <a:ext uri="{FF2B5EF4-FFF2-40B4-BE49-F238E27FC236}">
                <a16:creationId xmlns:a16="http://schemas.microsoft.com/office/drawing/2014/main" id="{6C33DD13-207E-4DA1-9279-9B55A089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255" y="6942560"/>
            <a:ext cx="7789235" cy="6281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301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8230CC3-43A8-4767-AD9F-F0AEA56343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9BAB5D1-E87C-48BD-BCAF-327C17EDE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56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327617">
              <a:defRPr/>
            </a:pPr>
            <a:fld id="{0CB1F548-C26E-47DD-8BF7-3513A723B4D0}" type="slidenum">
              <a:rPr lang="en-US">
                <a:solidFill>
                  <a:srgbClr val="000000"/>
                </a:solidFill>
                <a:latin typeface="Arial" charset="0"/>
              </a:rPr>
              <a:pPr defTabSz="1327617">
                <a:defRPr/>
              </a:pPr>
              <a:t>34</a:t>
            </a:fld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6549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327617">
              <a:defRPr/>
            </a:pPr>
            <a:fld id="{0CB1F548-C26E-47DD-8BF7-3513A723B4D0}" type="slidenum">
              <a:rPr lang="en-US">
                <a:solidFill>
                  <a:srgbClr val="000000"/>
                </a:solidFill>
                <a:latin typeface="Arial" charset="0"/>
              </a:rPr>
              <a:pPr defTabSz="1327617">
                <a:defRPr/>
              </a:pPr>
              <a:t>35</a:t>
            </a:fld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372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ags" Target="../tags/tag5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png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9.vml"/><Relationship Id="rId6" Type="http://schemas.openxmlformats.org/officeDocument/2006/relationships/tags" Target="../tags/tag20.xml"/><Relationship Id="rId11" Type="http://schemas.openxmlformats.org/officeDocument/2006/relationships/image" Target="../media/image10.png"/><Relationship Id="rId5" Type="http://schemas.openxmlformats.org/officeDocument/2006/relationships/tags" Target="../tags/tag19.xml"/><Relationship Id="rId10" Type="http://schemas.openxmlformats.org/officeDocument/2006/relationships/image" Target="../media/image9.emf"/><Relationship Id="rId4" Type="http://schemas.openxmlformats.org/officeDocument/2006/relationships/tags" Target="../tags/tag18.xml"/><Relationship Id="rId9" Type="http://schemas.openxmlformats.org/officeDocument/2006/relationships/oleObject" Target="../embeddings/oleObject9.bin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elfoli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0082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29" name="think-cell Folie" r:id="rId5" imgW="370" imgH="371" progId="TCLayout.ActiveDocument.1">
                  <p:embed/>
                </p:oleObj>
              </mc:Choice>
              <mc:Fallback>
                <p:oleObj name="think-cell Folie" r:id="rId5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200" b="1" i="0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04949" y="4473116"/>
            <a:ext cx="10603619" cy="9720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defRPr sz="3200" b="1" spc="0" baseline="0">
                <a:solidFill>
                  <a:schemeClr val="tx1">
                    <a:lumMod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Calibri 32 </a:t>
            </a:r>
            <a:r>
              <a:rPr lang="en-US" noProof="0" dirty="0" err="1"/>
              <a:t>pt</a:t>
            </a:r>
            <a:endParaRPr lang="en-US" noProof="0" dirty="0"/>
          </a:p>
        </p:txBody>
      </p:sp>
      <p:sp>
        <p:nvSpPr>
          <p:cNvPr id="54283" name="Rectangle 11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04949" y="5560316"/>
            <a:ext cx="10603619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buFontTx/>
              <a:buNone/>
              <a:defRPr lang="de-DE" sz="1600" b="0" i="0" kern="1200" spc="0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 err="1"/>
              <a:t>Untertitelmaster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pic>
        <p:nvPicPr>
          <p:cNvPr id="12" name="Bild 6" descr="balken.png"/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073311"/>
            <a:ext cx="12192000" cy="109701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805" y="-46182"/>
            <a:ext cx="12287610" cy="4182781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1368" y="6020113"/>
            <a:ext cx="1879576" cy="519232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999" y="6354940"/>
            <a:ext cx="1524484" cy="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397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0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_Linie D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45643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3" name="think-cell Folie" r:id="rId5" imgW="370" imgH="371" progId="TCLayout.ActiveDocument.1">
                  <p:embed/>
                </p:oleObj>
              </mc:Choice>
              <mc:Fallback>
                <p:oleObj name="think-cell Folie" r:id="rId5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600" b="1" i="0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101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530557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77" name="think-cell Folie" r:id="rId5" imgW="370" imgH="371" progId="TCLayout.ActiveDocument.1">
                  <p:embed/>
                </p:oleObj>
              </mc:Choice>
              <mc:Fallback>
                <p:oleObj name="think-cell Folie" r:id="rId5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600" b="1" i="0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6009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kt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341158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01" name="think-cell Folie" r:id="rId5" imgW="370" imgH="371" progId="TCLayout.ActiveDocument.1">
                  <p:embed/>
                </p:oleObj>
              </mc:Choice>
              <mc:Fallback>
                <p:oleObj name="think-cell Folie" r:id="rId5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hteck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600" b="1" i="0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1176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RO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95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ject Definition Tree APPRO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9">
            <a:extLst>
              <a:ext uri="{FF2B5EF4-FFF2-40B4-BE49-F238E27FC236}">
                <a16:creationId xmlns:a16="http://schemas.microsoft.com/office/drawing/2014/main" id="{AA481418-5FEB-4733-8644-D23990009A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36467" y="1866901"/>
            <a:ext cx="373168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marL="168275" indent="-168275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buFont typeface="Wingdings" pitchFamily="2" charset="2"/>
              <a:buChar char="§"/>
              <a:defRPr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A2CC16E-37CF-4355-AA0B-04084B9E3A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60018" y="1570039"/>
            <a:ext cx="55753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8275" indent="-168275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443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ution Tree CONV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1579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664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OBLEM DEFINITION TREE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6590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16740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folie_1sp_18/16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8ED7-C9B8-4191-8D93-7CD7F153A8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752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8402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54" name="think-cell Folie" r:id="rId5" imgW="370" imgH="371" progId="TCLayout.ActiveDocument.1">
                  <p:embed/>
                </p:oleObj>
              </mc:Choice>
              <mc:Fallback>
                <p:oleObj name="think-cell Folie" r:id="rId5" imgW="370" imgH="371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en-US" sz="2600" b="1" i="0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42800" y="597600"/>
            <a:ext cx="11305016" cy="828000"/>
          </a:xfrm>
          <a:prstGeom prst="rect">
            <a:avLst/>
          </a:prstGeom>
        </p:spPr>
        <p:txBody>
          <a:bodyPr vert="horz"/>
          <a:lstStyle>
            <a:lvl1pPr rtl="0">
              <a:defRPr/>
            </a:lvl1pPr>
          </a:lstStyle>
          <a:p>
            <a:r>
              <a:rPr lang="en-US" dirty="0" err="1" smtClean="0"/>
              <a:t>Titelmasterformat</a:t>
            </a:r>
            <a:r>
              <a:rPr lang="en-US" dirty="0" smtClean="0"/>
              <a:t> </a:t>
            </a:r>
            <a:r>
              <a:rPr lang="en-US" dirty="0" err="1" smtClean="0"/>
              <a:t>durch</a:t>
            </a:r>
            <a:r>
              <a:rPr lang="en-US" dirty="0" smtClean="0"/>
              <a:t> </a:t>
            </a:r>
            <a:r>
              <a:rPr lang="en-US" dirty="0" err="1" smtClean="0"/>
              <a:t>Klicken</a:t>
            </a:r>
            <a:r>
              <a:rPr lang="en-US" dirty="0" smtClean="0"/>
              <a:t> </a:t>
            </a:r>
            <a:r>
              <a:rPr lang="en-US" dirty="0" err="1" smtClean="0"/>
              <a:t>bearbeiten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 eaLnBrk="1">
              <a:defRPr/>
            </a:lvl1pPr>
          </a:lstStyle>
          <a:p>
            <a:endParaRPr lang="en-US" dirty="0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91544" y="337438"/>
            <a:ext cx="7091256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rtl="0">
              <a:defRPr sz="1200" b="0">
                <a:solidFill>
                  <a:srgbClr val="3E3D40"/>
                </a:solidFill>
              </a:defRPr>
            </a:lvl1pPr>
          </a:lstStyle>
          <a:p>
            <a:r>
              <a:rPr lang="en-US" smtClean="0"/>
              <a:t>&lt;&lt;Project Title&gt;&gt; | DMAIC Project Documentation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8790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DERST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301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6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folie_1sp_18/16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0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58" name="think-cell Folie" r:id="rId9" imgW="360" imgH="360" progId="TCLayout.ActiveDocument.1">
                  <p:embed/>
                </p:oleObj>
              </mc:Choice>
              <mc:Fallback>
                <p:oleObj name="think-cell Folie" r:id="rId9" imgW="360" imgH="360" progId="TCLayout.ActiveDocument.1">
                  <p:embed/>
                  <p:pic>
                    <p:nvPicPr>
                      <p:cNvPr id="2" name="Objekt 1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29"/>
          <p:cNvCxnSpPr>
            <a:cxnSpLocks noChangeShapeType="1"/>
          </p:cNvCxnSpPr>
          <p:nvPr/>
        </p:nvCxnSpPr>
        <p:spPr bwMode="auto">
          <a:xfrm>
            <a:off x="11113" y="6450013"/>
            <a:ext cx="12192000" cy="0"/>
          </a:xfrm>
          <a:prstGeom prst="line">
            <a:avLst/>
          </a:prstGeom>
          <a:noFill/>
          <a:ln w="22225" cap="rnd" algn="ctr">
            <a:solidFill>
              <a:srgbClr val="00406E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Gerade Verbindung 167"/>
          <p:cNvCxnSpPr>
            <a:cxnSpLocks noChangeShapeType="1"/>
            <a:endCxn id="13" idx="3"/>
          </p:cNvCxnSpPr>
          <p:nvPr userDrawn="1">
            <p:custDataLst>
              <p:tags r:id="rId3"/>
            </p:custDataLst>
          </p:nvPr>
        </p:nvCxnSpPr>
        <p:spPr bwMode="auto">
          <a:xfrm>
            <a:off x="4079776" y="431007"/>
            <a:ext cx="676761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feld 20"/>
          <p:cNvSpPr txBox="1"/>
          <p:nvPr userDrawn="1"/>
        </p:nvSpPr>
        <p:spPr bwMode="auto">
          <a:xfrm>
            <a:off x="219075" y="619125"/>
            <a:ext cx="2924175" cy="323850"/>
          </a:xfrm>
          <a:prstGeom prst="rect">
            <a:avLst/>
          </a:prstGeom>
          <a:solidFill>
            <a:srgbClr val="102542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 algn="ctr" eaLnBrk="1" hangingPunct="1">
              <a:buClr>
                <a:schemeClr val="accent3"/>
              </a:buClr>
              <a:defRPr/>
            </a:pPr>
            <a:r>
              <a:rPr lang="de-DE" sz="1200">
                <a:solidFill>
                  <a:schemeClr val="bg1"/>
                </a:solidFill>
                <a:latin typeface="+mj-lt"/>
                <a:cs typeface="+mn-cs"/>
              </a:rPr>
              <a:t>Define</a:t>
            </a:r>
            <a:endParaRPr lang="de-DE" sz="1200" dirty="0" err="1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7" name="Textfeld 22"/>
          <p:cNvSpPr txBox="1"/>
          <p:nvPr userDrawn="1"/>
        </p:nvSpPr>
        <p:spPr bwMode="auto">
          <a:xfrm>
            <a:off x="3148013" y="619125"/>
            <a:ext cx="2925762" cy="323850"/>
          </a:xfrm>
          <a:prstGeom prst="rect">
            <a:avLst/>
          </a:prstGeom>
          <a:solidFill>
            <a:srgbClr val="173760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 algn="ctr" eaLnBrk="1" hangingPunct="1">
              <a:buClr>
                <a:schemeClr val="accent3"/>
              </a:buClr>
              <a:defRPr/>
            </a:pPr>
            <a:r>
              <a:rPr lang="de-DE" sz="1200">
                <a:solidFill>
                  <a:schemeClr val="bg1"/>
                </a:solidFill>
                <a:latin typeface="+mj-lt"/>
                <a:cs typeface="+mn-cs"/>
              </a:rPr>
              <a:t>Measure</a:t>
            </a:r>
            <a:endParaRPr lang="de-DE" sz="1200" dirty="0" err="1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8" name="Textfeld 23"/>
          <p:cNvSpPr txBox="1"/>
          <p:nvPr userDrawn="1"/>
        </p:nvSpPr>
        <p:spPr bwMode="auto">
          <a:xfrm>
            <a:off x="6075363" y="627063"/>
            <a:ext cx="2932112" cy="315912"/>
          </a:xfrm>
          <a:prstGeom prst="rect">
            <a:avLst/>
          </a:prstGeom>
          <a:solidFill>
            <a:srgbClr val="285EA6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 algn="ctr" eaLnBrk="1" hangingPunct="1">
              <a:buClr>
                <a:schemeClr val="accent3"/>
              </a:buClr>
              <a:defRPr/>
            </a:pPr>
            <a:r>
              <a:rPr lang="de-DE" sz="1200">
                <a:solidFill>
                  <a:schemeClr val="bg1"/>
                </a:solidFill>
                <a:latin typeface="+mj-lt"/>
                <a:cs typeface="+mn-cs"/>
              </a:rPr>
              <a:t>Analyze</a:t>
            </a:r>
            <a:endParaRPr lang="de-DE" sz="1200" dirty="0" err="1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9" name="Textfeld 24"/>
          <p:cNvSpPr txBox="1"/>
          <p:nvPr userDrawn="1"/>
        </p:nvSpPr>
        <p:spPr bwMode="auto">
          <a:xfrm>
            <a:off x="9010650" y="619125"/>
            <a:ext cx="2927350" cy="323850"/>
          </a:xfrm>
          <a:prstGeom prst="rect">
            <a:avLst/>
          </a:prstGeom>
          <a:solidFill>
            <a:srgbClr val="507BB0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 algn="ctr" eaLnBrk="1" hangingPunct="1">
              <a:buClr>
                <a:schemeClr val="accent3"/>
              </a:buClr>
              <a:defRPr/>
            </a:pPr>
            <a:r>
              <a:rPr lang="de-DE" sz="1200">
                <a:solidFill>
                  <a:schemeClr val="bg1"/>
                </a:solidFill>
                <a:latin typeface="+mj-lt"/>
                <a:cs typeface="+mn-cs"/>
              </a:rPr>
              <a:t>Improve</a:t>
            </a:r>
            <a:endParaRPr lang="de-DE" sz="1200" dirty="0" err="1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10" name="Textfeld 25"/>
          <p:cNvSpPr txBox="1"/>
          <p:nvPr userDrawn="1"/>
        </p:nvSpPr>
        <p:spPr bwMode="auto">
          <a:xfrm>
            <a:off x="9013453" y="3915147"/>
            <a:ext cx="2927350" cy="323850"/>
          </a:xfrm>
          <a:prstGeom prst="rect">
            <a:avLst/>
          </a:prstGeom>
          <a:solidFill>
            <a:srgbClr val="B0C2DA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 algn="ctr" eaLnBrk="1" hangingPunct="1">
              <a:buClr>
                <a:schemeClr val="accent3"/>
              </a:buClr>
              <a:defRPr/>
            </a:pPr>
            <a:r>
              <a:rPr lang="de-DE" sz="1200" dirty="0">
                <a:solidFill>
                  <a:schemeClr val="bg1"/>
                </a:solidFill>
                <a:latin typeface="+mj-lt"/>
                <a:cs typeface="+mn-cs"/>
              </a:rPr>
              <a:t>Control</a:t>
            </a:r>
          </a:p>
        </p:txBody>
      </p:sp>
      <p:sp>
        <p:nvSpPr>
          <p:cNvPr id="11" name="Rechteck 26"/>
          <p:cNvSpPr/>
          <p:nvPr userDrawn="1"/>
        </p:nvSpPr>
        <p:spPr>
          <a:xfrm>
            <a:off x="219075" y="619125"/>
            <a:ext cx="11720513" cy="32385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latin typeface="+mj-lt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388" y="165100"/>
            <a:ext cx="1092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hteck 28"/>
          <p:cNvSpPr/>
          <p:nvPr userDrawn="1"/>
        </p:nvSpPr>
        <p:spPr>
          <a:xfrm>
            <a:off x="219075" y="242888"/>
            <a:ext cx="10628313" cy="37623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latin typeface="+mj-lt"/>
            </a:endParaRPr>
          </a:p>
        </p:txBody>
      </p:sp>
      <p:sp>
        <p:nvSpPr>
          <p:cNvPr id="14" name="Line 78"/>
          <p:cNvSpPr>
            <a:spLocks noChangeShapeType="1"/>
          </p:cNvSpPr>
          <p:nvPr userDrawn="1">
            <p:custDataLst>
              <p:tags r:id="rId4"/>
            </p:custDataLst>
          </p:nvPr>
        </p:nvSpPr>
        <p:spPr bwMode="auto">
          <a:xfrm>
            <a:off x="7535863" y="242888"/>
            <a:ext cx="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Rechteck 30"/>
          <p:cNvSpPr/>
          <p:nvPr userDrawn="1"/>
        </p:nvSpPr>
        <p:spPr>
          <a:xfrm>
            <a:off x="219075" y="619125"/>
            <a:ext cx="2928938" cy="509072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/>
          </a:p>
        </p:txBody>
      </p:sp>
      <p:sp>
        <p:nvSpPr>
          <p:cNvPr id="16" name="Rechteck 31"/>
          <p:cNvSpPr/>
          <p:nvPr userDrawn="1"/>
        </p:nvSpPr>
        <p:spPr>
          <a:xfrm>
            <a:off x="3148013" y="627063"/>
            <a:ext cx="2930525" cy="508871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/>
          </a:p>
        </p:txBody>
      </p:sp>
      <p:sp>
        <p:nvSpPr>
          <p:cNvPr id="17" name="Rechteck 32"/>
          <p:cNvSpPr/>
          <p:nvPr userDrawn="1"/>
        </p:nvSpPr>
        <p:spPr>
          <a:xfrm>
            <a:off x="9009063" y="619125"/>
            <a:ext cx="2930525" cy="577373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/>
          </a:p>
        </p:txBody>
      </p:sp>
      <p:sp>
        <p:nvSpPr>
          <p:cNvPr id="19" name="Rechteck 36"/>
          <p:cNvSpPr/>
          <p:nvPr userDrawn="1"/>
        </p:nvSpPr>
        <p:spPr>
          <a:xfrm>
            <a:off x="6078538" y="619125"/>
            <a:ext cx="2930525" cy="577373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/>
          </a:p>
        </p:txBody>
      </p:sp>
      <p:sp>
        <p:nvSpPr>
          <p:cNvPr id="20" name="Rechteck 37"/>
          <p:cNvSpPr/>
          <p:nvPr userDrawn="1"/>
        </p:nvSpPr>
        <p:spPr>
          <a:xfrm>
            <a:off x="219075" y="5715774"/>
            <a:ext cx="5859463" cy="67708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/>
          </a:p>
        </p:txBody>
      </p:sp>
      <p:sp>
        <p:nvSpPr>
          <p:cNvPr id="21" name="Rectangle 4"/>
          <p:cNvSpPr>
            <a:spLocks noChangeArrowheads="1"/>
          </p:cNvSpPr>
          <p:nvPr userDrawn="1"/>
        </p:nvSpPr>
        <p:spPr bwMode="auto">
          <a:xfrm>
            <a:off x="188306" y="5709853"/>
            <a:ext cx="240568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rgbClr val="007EC1"/>
              </a:buClr>
              <a:buFont typeface="Wingdings 2" pitchFamily="18" charset="2"/>
              <a:buChar char=""/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ClrTx/>
              <a:defRPr/>
            </a:pPr>
            <a:r>
              <a:rPr lang="en-US" altLang="en-US" sz="800" u="sng" dirty="0" smtClean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Planned Actions / Roadblocks</a:t>
            </a:r>
          </a:p>
        </p:txBody>
      </p:sp>
      <p:sp>
        <p:nvSpPr>
          <p:cNvPr id="22" name="Line 78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5951538" y="242888"/>
            <a:ext cx="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3" name="Rechteck 22"/>
          <p:cNvSpPr/>
          <p:nvPr userDrawn="1"/>
        </p:nvSpPr>
        <p:spPr>
          <a:xfrm>
            <a:off x="9002713" y="6097588"/>
            <a:ext cx="2930525" cy="2905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/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auto">
          <a:xfrm>
            <a:off x="8961438" y="6069013"/>
            <a:ext cx="146526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rgbClr val="007EC1"/>
              </a:buClr>
              <a:buFont typeface="Wingdings 2" pitchFamily="18" charset="2"/>
              <a:buChar char=""/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ClrTx/>
              <a:defRPr/>
            </a:pPr>
            <a:r>
              <a:rPr lang="en-US" altLang="en-US" sz="800" u="sng" dirty="0" smtClean="0">
                <a:solidFill>
                  <a:srgbClr val="000000"/>
                </a:solidFill>
                <a:latin typeface="+mj-lt"/>
                <a:cs typeface="+mn-cs"/>
              </a:rPr>
              <a:t>Cost Savings:</a:t>
            </a:r>
          </a:p>
        </p:txBody>
      </p:sp>
      <p:sp>
        <p:nvSpPr>
          <p:cNvPr id="25" name="Line 78"/>
          <p:cNvSpPr>
            <a:spLocks noChangeShapeType="1"/>
          </p:cNvSpPr>
          <p:nvPr userDrawn="1">
            <p:custDataLst>
              <p:tags r:id="rId6"/>
            </p:custDataLst>
          </p:nvPr>
        </p:nvSpPr>
        <p:spPr bwMode="auto">
          <a:xfrm>
            <a:off x="4079776" y="239712"/>
            <a:ext cx="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6" name="Line 78"/>
          <p:cNvSpPr>
            <a:spLocks noChangeShapeType="1"/>
          </p:cNvSpPr>
          <p:nvPr userDrawn="1">
            <p:custDataLst>
              <p:tags r:id="rId7"/>
            </p:custDataLst>
          </p:nvPr>
        </p:nvSpPr>
        <p:spPr bwMode="auto">
          <a:xfrm>
            <a:off x="8975725" y="233363"/>
            <a:ext cx="0" cy="198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7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4B8A6-7BAD-464F-8F7C-D91F0AFAE548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28" name="Textfeld 27"/>
          <p:cNvSpPr txBox="1"/>
          <p:nvPr userDrawn="1"/>
        </p:nvSpPr>
        <p:spPr>
          <a:xfrm>
            <a:off x="426903" y="6574431"/>
            <a:ext cx="4483874" cy="1669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spc="0" baseline="0" dirty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© </a:t>
            </a:r>
            <a:r>
              <a:rPr lang="en-US" sz="1200" b="0" kern="1200" spc="0" baseline="0" dirty="0" err="1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Rheinmetall</a:t>
            </a:r>
            <a:r>
              <a:rPr lang="en-US" sz="1200" b="0" kern="1200" spc="0" baseline="0" dirty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 AG I </a:t>
            </a:r>
            <a:r>
              <a:rPr lang="en-US" sz="1200" b="0" kern="1200" spc="0" baseline="0" dirty="0" smtClean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S + A I Confidential </a:t>
            </a:r>
            <a:endParaRPr lang="en-US" sz="1200" b="0" dirty="0">
              <a:solidFill>
                <a:srgbClr val="3E3D4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1889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10136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ution Tree CONV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311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037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11.jpeg"/><Relationship Id="rId2" Type="http://schemas.openxmlformats.org/officeDocument/2006/relationships/vmlDrawing" Target="../drawings/vmlDrawing7.vml"/><Relationship Id="rId1" Type="http://schemas.openxmlformats.org/officeDocument/2006/relationships/theme" Target="../theme/theme2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slideLayout" Target="../slideLayouts/slideLayout18.xml"/><Relationship Id="rId7" Type="http://schemas.openxmlformats.org/officeDocument/2006/relationships/tags" Target="../tags/tag1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vmlDrawing" Target="../drawings/vmlDrawing8.vml"/><Relationship Id="rId11" Type="http://schemas.openxmlformats.org/officeDocument/2006/relationships/image" Target="../media/image11.jpeg"/><Relationship Id="rId5" Type="http://schemas.openxmlformats.org/officeDocument/2006/relationships/theme" Target="../theme/theme3.xml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9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9092926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" name="think-cell Folie" r:id="rId20" imgW="395" imgH="394" progId="TCLayout.ActiveDocument.1">
                  <p:embed/>
                </p:oleObj>
              </mc:Choice>
              <mc:Fallback>
                <p:oleObj name="think-cell Folie" r:id="rId20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en-US" sz="2600" b="1" i="0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48528" y="6544782"/>
            <a:ext cx="1127448" cy="2262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="0">
                <a:solidFill>
                  <a:srgbClr val="3E3D40"/>
                </a:solidFill>
                <a:latin typeface="+mn-lt"/>
                <a:cs typeface="TisaOT-Bold" panose="02010804040101020102" pitchFamily="50" charset="0"/>
              </a:defRPr>
            </a:lvl1pPr>
          </a:lstStyle>
          <a:p>
            <a:fld id="{6E90DB15-F479-43AD-A48C-7C7AA575C53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Gerader Verbinder 29"/>
          <p:cNvCxnSpPr/>
          <p:nvPr/>
        </p:nvCxnSpPr>
        <p:spPr>
          <a:xfrm>
            <a:off x="11324" y="6449378"/>
            <a:ext cx="12192000" cy="0"/>
          </a:xfrm>
          <a:prstGeom prst="line">
            <a:avLst/>
          </a:prstGeom>
          <a:noFill/>
          <a:ln w="22225" cap="rnd" cmpd="sng" algn="ctr">
            <a:solidFill>
              <a:srgbClr val="00406E"/>
            </a:solidFill>
            <a:prstDash val="sysDot"/>
          </a:ln>
          <a:effectLst/>
        </p:spPr>
      </p:cxnSp>
      <p:sp>
        <p:nvSpPr>
          <p:cNvPr id="11" name="Textfeld 10"/>
          <p:cNvSpPr txBox="1"/>
          <p:nvPr/>
        </p:nvSpPr>
        <p:spPr>
          <a:xfrm>
            <a:off x="426848" y="6574430"/>
            <a:ext cx="4445016" cy="1669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spc="0" baseline="0" dirty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© </a:t>
            </a:r>
            <a:r>
              <a:rPr lang="en-US" sz="1200" b="0" kern="1200" spc="0" baseline="0" dirty="0" err="1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Rheinmetall</a:t>
            </a:r>
            <a:r>
              <a:rPr lang="en-US" sz="1200" b="0" kern="1200" spc="0" baseline="0" dirty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 AG I </a:t>
            </a:r>
            <a:r>
              <a:rPr lang="en-US" sz="1200" b="0" kern="1200" spc="0" baseline="0" dirty="0" smtClean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S+A| Confidential I Version: </a:t>
            </a:r>
            <a:r>
              <a:rPr lang="en-US" sz="1200" b="0" kern="1200" spc="0" baseline="0" dirty="0" err="1" smtClean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Ib</a:t>
            </a:r>
            <a:r>
              <a:rPr lang="en-US" sz="1200" b="0" kern="1200" spc="0" baseline="0" dirty="0" smtClean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rPr>
              <a:t> </a:t>
            </a:r>
            <a:endParaRPr lang="en-US" sz="1200" b="0" dirty="0">
              <a:solidFill>
                <a:srgbClr val="3E3D40"/>
              </a:solidFill>
              <a:latin typeface="+mn-lt"/>
            </a:endParaRP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00" y="276188"/>
            <a:ext cx="1440000" cy="24125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3149" y="144639"/>
            <a:ext cx="1493651" cy="412621"/>
          </a:xfrm>
          <a:prstGeom prst="rect">
            <a:avLst/>
          </a:prstGeom>
        </p:spPr>
      </p:pic>
      <p:sp>
        <p:nvSpPr>
          <p:cNvPr id="12" name="Textfeld 11"/>
          <p:cNvSpPr txBox="1"/>
          <p:nvPr userDrawn="1"/>
        </p:nvSpPr>
        <p:spPr>
          <a:xfrm>
            <a:off x="2180965" y="315683"/>
            <a:ext cx="295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de-DE" sz="1000" b="0" smtClean="0">
                <a:solidFill>
                  <a:schemeClr val="tx1">
                    <a:lumMod val="10000"/>
                  </a:schemeClr>
                </a:solidFill>
              </a:rPr>
              <a:t>Project Title</a:t>
            </a:r>
            <a:endParaRPr lang="en-US" sz="1000" b="0" dirty="0">
              <a:solidFill>
                <a:schemeClr val="tx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43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1" r:id="rId2"/>
    <p:sldLayoutId id="2147483772" r:id="rId3"/>
    <p:sldLayoutId id="2147483773" r:id="rId4"/>
    <p:sldLayoutId id="2147483819" r:id="rId5"/>
    <p:sldLayoutId id="2147483820" r:id="rId6"/>
    <p:sldLayoutId id="2147483821" r:id="rId7"/>
    <p:sldLayoutId id="2147483828" r:id="rId8"/>
    <p:sldLayoutId id="2147483829" r:id="rId9"/>
    <p:sldLayoutId id="2147483830" r:id="rId10"/>
    <p:sldLayoutId id="2147483831" r:id="rId11"/>
    <p:sldLayoutId id="2147483862" r:id="rId12"/>
    <p:sldLayoutId id="2147483868" r:id="rId13"/>
    <p:sldLayoutId id="2147483869" r:id="rId14"/>
    <p:sldLayoutId id="2147483872" r:id="rId15"/>
  </p:sldLayoutIdLst>
  <p:transition spd="slow">
    <p:fade/>
  </p:transition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600" b="1" kern="1200" baseline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10000"/>
          </a:schemeClr>
        </a:buClr>
        <a:buSzTx/>
        <a:buFontTx/>
        <a:buNone/>
        <a:tabLst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marR="0" indent="-1778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7EC1"/>
        </a:buClr>
        <a:buSzTx/>
        <a:buFont typeface="Wingdings 2" panose="05020102010507070707" pitchFamily="18" charset="2"/>
        <a:buChar char="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marR="0" indent="-179388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7EC1"/>
        </a:buClr>
        <a:buSzTx/>
        <a:buFont typeface="Wingdings" panose="05000000000000000000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6575" indent="-177800" algn="l" defTabSz="914400" rtl="0" eaLnBrk="1" latinLnBrk="0" hangingPunct="1">
        <a:lnSpc>
          <a:spcPct val="100000"/>
        </a:lnSpc>
        <a:spcBef>
          <a:spcPts val="600"/>
        </a:spcBef>
        <a:buClr>
          <a:srgbClr val="007EC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kt 1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5" name="think-cell Folie" r:id="rId4" imgW="360" imgH="360" progId="TCLayout.ActiveDocument.1">
                  <p:embed/>
                </p:oleObj>
              </mc:Choice>
              <mc:Fallback>
                <p:oleObj name="think-cell Folie" r:id="rId4" imgW="360" imgH="360" progId="TCLayout.ActiveDocument.1">
                  <p:embed/>
                  <p:pic>
                    <p:nvPicPr>
                      <p:cNvPr id="1026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platzhalter 16"/>
          <p:cNvSpPr>
            <a:spLocks noGrp="1"/>
          </p:cNvSpPr>
          <p:nvPr>
            <p:ph type="body" idx="1"/>
          </p:nvPr>
        </p:nvSpPr>
        <p:spPr bwMode="auto">
          <a:xfrm>
            <a:off x="442913" y="1663700"/>
            <a:ext cx="11304587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Click to add text</a:t>
            </a:r>
          </a:p>
          <a:p>
            <a:pPr lvl="1"/>
            <a:r>
              <a:rPr lang="de-DE" altLang="de-DE" smtClean="0"/>
              <a:t>2nd level</a:t>
            </a:r>
          </a:p>
          <a:p>
            <a:pPr lvl="2"/>
            <a:r>
              <a:rPr lang="de-DE" altLang="de-DE" smtClean="0"/>
              <a:t>3rd level</a:t>
            </a:r>
          </a:p>
          <a:p>
            <a:pPr lvl="3"/>
            <a:r>
              <a:rPr lang="de-DE" altLang="de-DE" smtClean="0"/>
              <a:t>4th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72838" y="6573838"/>
            <a:ext cx="471487" cy="115887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rgbClr val="3E3D40"/>
                </a:solidFill>
                <a:ea typeface="TisaOT-Bold"/>
                <a:cs typeface="TisaOT-Bold"/>
              </a:defRPr>
            </a:lvl1pPr>
          </a:lstStyle>
          <a:p>
            <a:pPr>
              <a:defRPr/>
            </a:pPr>
            <a:fld id="{FDB56152-958B-4035-88FB-86C6B5761C34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029" name="Titelplatzhalter 21"/>
          <p:cNvSpPr>
            <a:spLocks noGrp="1"/>
          </p:cNvSpPr>
          <p:nvPr>
            <p:ph type="title"/>
          </p:nvPr>
        </p:nvSpPr>
        <p:spPr bwMode="auto">
          <a:xfrm>
            <a:off x="442913" y="595313"/>
            <a:ext cx="11304587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de-DE" altLang="de-DE" smtClean="0"/>
          </a:p>
        </p:txBody>
      </p:sp>
      <p:sp>
        <p:nvSpPr>
          <p:cNvPr id="1030" name="Textfeld 14"/>
          <p:cNvSpPr txBox="1">
            <a:spLocks noChangeArrowheads="1"/>
          </p:cNvSpPr>
          <p:nvPr/>
        </p:nvSpPr>
        <p:spPr bwMode="auto">
          <a:xfrm>
            <a:off x="427038" y="6556375"/>
            <a:ext cx="1979612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200" b="0" smtClean="0">
                <a:solidFill>
                  <a:srgbClr val="3E3D40"/>
                </a:solidFill>
                <a:ea typeface="MS PGothic" panose="020B0600070205080204" pitchFamily="34" charset="-128"/>
                <a:cs typeface="TisaOT-Light"/>
              </a:rPr>
              <a:t>© Rheinmetall Automotive AG I</a:t>
            </a: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92313" y="338138"/>
            <a:ext cx="7089775" cy="1508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hangingPunct="1">
              <a:defRPr sz="1200" b="0">
                <a:solidFill>
                  <a:srgbClr val="3E3D40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de-DE"/>
              <a:t>Project/WS Name | CI Project/WS</a:t>
            </a:r>
          </a:p>
        </p:txBody>
      </p:sp>
      <p:cxnSp>
        <p:nvCxnSpPr>
          <p:cNvPr id="1032" name="Gerader Verbinder 29"/>
          <p:cNvCxnSpPr>
            <a:cxnSpLocks noChangeShapeType="1"/>
          </p:cNvCxnSpPr>
          <p:nvPr/>
        </p:nvCxnSpPr>
        <p:spPr bwMode="auto">
          <a:xfrm>
            <a:off x="11113" y="6450013"/>
            <a:ext cx="12192000" cy="0"/>
          </a:xfrm>
          <a:prstGeom prst="line">
            <a:avLst/>
          </a:prstGeom>
          <a:noFill/>
          <a:ln w="22225" cap="rnd" algn="ctr">
            <a:solidFill>
              <a:srgbClr val="00406E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>
          <a:xfrm>
            <a:off x="2424113" y="6556375"/>
            <a:ext cx="1343025" cy="18256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 eaLnBrk="1" hangingPunct="1">
              <a:defRPr lang="de-DE" sz="1200" b="0" kern="1200" spc="0" baseline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defRPr>
            </a:lvl1pPr>
          </a:lstStyle>
          <a:p>
            <a:pPr>
              <a:defRPr/>
            </a:pPr>
            <a:endParaRPr/>
          </a:p>
        </p:txBody>
      </p:sp>
      <p:pic>
        <p:nvPicPr>
          <p:cNvPr id="103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4338" y="153988"/>
            <a:ext cx="10937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Grafik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292100"/>
            <a:ext cx="12604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0997410"/>
      </p:ext>
    </p:extLst>
  </p:cSld>
  <p:clrMap bg1="lt1" tx1="dk1" bg2="lt2" tx2="dk2" accent1="accent1" accent2="accent2" accent3="accent3" accent4="accent4" accent5="accent5" accent6="accent6" hlink="hlink" folHlink="folHlink"/>
  <p:transition spd="slow">
    <p:fade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rtl="0" eaLnBrk="0" fontAlgn="base" hangingPunct="0">
        <a:spcBef>
          <a:spcPts val="600"/>
        </a:spcBef>
        <a:spcAft>
          <a:spcPct val="0"/>
        </a:spcAft>
        <a:buClr>
          <a:srgbClr val="007EC1"/>
        </a:buClr>
        <a:buFont typeface="Wingdings 2" panose="05020102010507070707" pitchFamily="18" charset="2"/>
        <a:buChar char="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rtl="0" eaLnBrk="0" fontAlgn="base" hangingPunct="0">
        <a:lnSpc>
          <a:spcPts val="2000"/>
        </a:lnSpc>
        <a:spcBef>
          <a:spcPts val="600"/>
        </a:spcBef>
        <a:spcAft>
          <a:spcPct val="0"/>
        </a:spcAft>
        <a:buClr>
          <a:srgbClr val="007EC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6575" indent="-177800" algn="l" rtl="0" eaLnBrk="0" fontAlgn="base" hangingPunct="0">
        <a:lnSpc>
          <a:spcPts val="2000"/>
        </a:lnSpc>
        <a:spcBef>
          <a:spcPts val="600"/>
        </a:spcBef>
        <a:spcAft>
          <a:spcPct val="0"/>
        </a:spcAft>
        <a:buClr>
          <a:srgbClr val="007EC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kt 1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6" name="think-cell Folie" r:id="rId8" imgW="360" imgH="360" progId="TCLayout.ActiveDocument.1">
                  <p:embed/>
                </p:oleObj>
              </mc:Choice>
              <mc:Fallback>
                <p:oleObj name="think-cell Folie" r:id="rId8" imgW="360" imgH="360" progId="TCLayout.ActiveDocument.1">
                  <p:embed/>
                  <p:pic>
                    <p:nvPicPr>
                      <p:cNvPr id="1026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platzhalter 16"/>
          <p:cNvSpPr>
            <a:spLocks noGrp="1"/>
          </p:cNvSpPr>
          <p:nvPr>
            <p:ph type="body" idx="1"/>
          </p:nvPr>
        </p:nvSpPr>
        <p:spPr bwMode="auto">
          <a:xfrm>
            <a:off x="442913" y="1663700"/>
            <a:ext cx="11304587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Click to add text</a:t>
            </a:r>
          </a:p>
          <a:p>
            <a:pPr lvl="1"/>
            <a:r>
              <a:rPr lang="de-DE" altLang="de-DE" smtClean="0"/>
              <a:t>2nd level</a:t>
            </a:r>
          </a:p>
          <a:p>
            <a:pPr lvl="2"/>
            <a:r>
              <a:rPr lang="de-DE" altLang="de-DE" smtClean="0"/>
              <a:t>3rd level</a:t>
            </a:r>
          </a:p>
          <a:p>
            <a:pPr lvl="3"/>
            <a:r>
              <a:rPr lang="de-DE" altLang="de-DE" smtClean="0"/>
              <a:t>4th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72838" y="6573838"/>
            <a:ext cx="471487" cy="115887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rgbClr val="3E3D40"/>
                </a:solidFill>
                <a:ea typeface="TisaOT-Bold"/>
                <a:cs typeface="TisaOT-Bold"/>
              </a:defRPr>
            </a:lvl1pPr>
          </a:lstStyle>
          <a:p>
            <a:pPr>
              <a:defRPr/>
            </a:pPr>
            <a:fld id="{FDB56152-958B-4035-88FB-86C6B5761C34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029" name="Titelplatzhalter 21"/>
          <p:cNvSpPr>
            <a:spLocks noGrp="1"/>
          </p:cNvSpPr>
          <p:nvPr>
            <p:ph type="title"/>
          </p:nvPr>
        </p:nvSpPr>
        <p:spPr bwMode="auto">
          <a:xfrm>
            <a:off x="442913" y="595313"/>
            <a:ext cx="11304587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de-DE" altLang="de-DE" smtClean="0"/>
          </a:p>
        </p:txBody>
      </p:sp>
      <p:sp>
        <p:nvSpPr>
          <p:cNvPr id="1030" name="Textfeld 14"/>
          <p:cNvSpPr txBox="1">
            <a:spLocks noChangeArrowheads="1"/>
          </p:cNvSpPr>
          <p:nvPr/>
        </p:nvSpPr>
        <p:spPr bwMode="auto">
          <a:xfrm>
            <a:off x="427038" y="6556375"/>
            <a:ext cx="1979612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de-DE" altLang="de-DE" sz="1200" b="0" smtClean="0">
                <a:solidFill>
                  <a:srgbClr val="3E3D40"/>
                </a:solidFill>
                <a:ea typeface="MS PGothic" panose="020B0600070205080204" pitchFamily="34" charset="-128"/>
                <a:cs typeface="TisaOT-Light"/>
              </a:rPr>
              <a:t>© Rheinmetall Automotive AG I</a:t>
            </a:r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92313" y="338138"/>
            <a:ext cx="7089775" cy="1508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hangingPunct="1">
              <a:defRPr sz="1200" b="0">
                <a:solidFill>
                  <a:srgbClr val="3E3D40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de-DE"/>
              <a:t>Project/WS Name | CI Project/WS</a:t>
            </a:r>
          </a:p>
        </p:txBody>
      </p:sp>
      <p:cxnSp>
        <p:nvCxnSpPr>
          <p:cNvPr id="1032" name="Gerader Verbinder 29"/>
          <p:cNvCxnSpPr>
            <a:cxnSpLocks noChangeShapeType="1"/>
          </p:cNvCxnSpPr>
          <p:nvPr/>
        </p:nvCxnSpPr>
        <p:spPr bwMode="auto">
          <a:xfrm>
            <a:off x="11113" y="6450013"/>
            <a:ext cx="12192000" cy="0"/>
          </a:xfrm>
          <a:prstGeom prst="line">
            <a:avLst/>
          </a:prstGeom>
          <a:noFill/>
          <a:ln w="22225" cap="rnd" algn="ctr">
            <a:solidFill>
              <a:srgbClr val="00406E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>
          <a:xfrm>
            <a:off x="2424113" y="6556375"/>
            <a:ext cx="1343025" cy="18256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 eaLnBrk="1" hangingPunct="1">
              <a:defRPr lang="de-DE" sz="1200" b="0" kern="1200" spc="0" baseline="0">
                <a:solidFill>
                  <a:srgbClr val="3E3D40"/>
                </a:solidFill>
                <a:latin typeface="Calibri" pitchFamily="34" charset="0"/>
                <a:ea typeface="ＭＳ Ｐゴシック" pitchFamily="68" charset="-128"/>
                <a:cs typeface="TisaOT-Light" panose="02010504030101010102" pitchFamily="50" charset="0"/>
              </a:defRPr>
            </a:lvl1pPr>
          </a:lstStyle>
          <a:p>
            <a:pPr>
              <a:defRPr/>
            </a:pPr>
            <a:endParaRPr/>
          </a:p>
        </p:txBody>
      </p:sp>
      <p:pic>
        <p:nvPicPr>
          <p:cNvPr id="103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4338" y="153988"/>
            <a:ext cx="10937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Grafik 1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292100"/>
            <a:ext cx="12604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70" r:id="rId3"/>
    <p:sldLayoutId id="2147483871" r:id="rId4"/>
  </p:sldLayoutIdLst>
  <p:transition spd="slow">
    <p:fade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rtl="0" eaLnBrk="0" fontAlgn="base" hangingPunct="0">
        <a:spcBef>
          <a:spcPts val="600"/>
        </a:spcBef>
        <a:spcAft>
          <a:spcPct val="0"/>
        </a:spcAft>
        <a:buClr>
          <a:srgbClr val="007EC1"/>
        </a:buClr>
        <a:buFont typeface="Wingdings 2" panose="05020102010507070707" pitchFamily="18" charset="2"/>
        <a:buChar char="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rtl="0" eaLnBrk="0" fontAlgn="base" hangingPunct="0">
        <a:lnSpc>
          <a:spcPts val="2000"/>
        </a:lnSpc>
        <a:spcBef>
          <a:spcPts val="600"/>
        </a:spcBef>
        <a:spcAft>
          <a:spcPct val="0"/>
        </a:spcAft>
        <a:buClr>
          <a:srgbClr val="007EC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6575" indent="-177800" algn="l" rtl="0" eaLnBrk="0" fontAlgn="base" hangingPunct="0">
        <a:lnSpc>
          <a:spcPts val="2000"/>
        </a:lnSpc>
        <a:spcBef>
          <a:spcPts val="600"/>
        </a:spcBef>
        <a:spcAft>
          <a:spcPct val="0"/>
        </a:spcAft>
        <a:buClr>
          <a:srgbClr val="007EC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image" Target="../media/image82.png"/><Relationship Id="rId3" Type="http://schemas.openxmlformats.org/officeDocument/2006/relationships/tags" Target="../tags/tag24.xml"/><Relationship Id="rId21" Type="http://schemas.openxmlformats.org/officeDocument/2006/relationships/image" Target="../media/image78.png"/><Relationship Id="rId34" Type="http://schemas.openxmlformats.org/officeDocument/2006/relationships/image" Target="../media/image90.png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image" Target="../media/image81.png"/><Relationship Id="rId33" Type="http://schemas.openxmlformats.org/officeDocument/2006/relationships/image" Target="../media/image89.png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image" Target="../media/image77.png"/><Relationship Id="rId29" Type="http://schemas.openxmlformats.org/officeDocument/2006/relationships/image" Target="../media/image85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10" Type="http://schemas.openxmlformats.org/officeDocument/2006/relationships/tags" Target="../tags/tag31.xml"/><Relationship Id="rId19" Type="http://schemas.openxmlformats.org/officeDocument/2006/relationships/slideLayout" Target="../slideLayouts/slideLayout16.xml"/><Relationship Id="rId31" Type="http://schemas.openxmlformats.org/officeDocument/2006/relationships/image" Target="../media/image87.png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image" Target="../media/image17.emf"/><Relationship Id="rId27" Type="http://schemas.openxmlformats.org/officeDocument/2006/relationships/image" Target="../media/image83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0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2.emf"/><Relationship Id="rId5" Type="http://schemas.openxmlformats.org/officeDocument/2006/relationships/oleObject" Target="../embeddings/oleObject10.bin"/><Relationship Id="rId4" Type="http://schemas.openxmlformats.org/officeDocument/2006/relationships/notesSlide" Target="../notesSlides/notesSlide1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93.png"/><Relationship Id="rId2" Type="http://schemas.openxmlformats.org/officeDocument/2006/relationships/tags" Target="../tags/tag4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2.emf"/><Relationship Id="rId5" Type="http://schemas.openxmlformats.org/officeDocument/2006/relationships/oleObject" Target="../embeddings/oleObject11.bin"/><Relationship Id="rId4" Type="http://schemas.openxmlformats.org/officeDocument/2006/relationships/notesSlide" Target="../notesSlides/notesSlide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8">
            <a:extLst>
              <a:ext uri="{FF2B5EF4-FFF2-40B4-BE49-F238E27FC236}">
                <a16:creationId xmlns:a16="http://schemas.microsoft.com/office/drawing/2014/main" id="{B79E39E6-0C27-4F86-83FA-BA2BFB3642A2}"/>
              </a:ext>
            </a:extLst>
          </p:cNvPr>
          <p:cNvSpPr txBox="1">
            <a:spLocks/>
          </p:cNvSpPr>
          <p:nvPr/>
        </p:nvSpPr>
        <p:spPr>
          <a:xfrm>
            <a:off x="464643" y="5559000"/>
            <a:ext cx="9261475" cy="1188244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</a:pPr>
            <a:endParaRPr lang="en-US" sz="1600" b="0" kern="0" dirty="0" smtClean="0">
              <a:solidFill>
                <a:srgbClr val="000000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59CE4F3-32DC-4B29-A447-CB10FF61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643" y="4221088"/>
            <a:ext cx="10815933" cy="587698"/>
          </a:xfrm>
        </p:spPr>
        <p:txBody>
          <a:bodyPr/>
          <a:lstStyle/>
          <a:p>
            <a:r>
              <a:rPr lang="en-US" sz="2800" dirty="0" smtClean="0"/>
              <a:t>PU2025-18- FTQ </a:t>
            </a:r>
            <a:r>
              <a:rPr lang="en-US" sz="2800" dirty="0"/>
              <a:t>improvement for </a:t>
            </a:r>
            <a:r>
              <a:rPr lang="en-US" sz="2800" dirty="0" smtClean="0"/>
              <a:t>BR10 VOP- RR1 test NOK</a:t>
            </a:r>
            <a:endParaRPr lang="de-DE" sz="2800" dirty="0"/>
          </a:p>
        </p:txBody>
      </p:sp>
      <p:sp>
        <p:nvSpPr>
          <p:cNvPr id="7" name="Untertitel 7"/>
          <p:cNvSpPr>
            <a:spLocks noGrp="1"/>
          </p:cNvSpPr>
          <p:nvPr>
            <p:ph type="subTitle" idx="1"/>
          </p:nvPr>
        </p:nvSpPr>
        <p:spPr>
          <a:xfrm>
            <a:off x="464643" y="4988786"/>
            <a:ext cx="10603619" cy="360000"/>
          </a:xfrm>
        </p:spPr>
        <p:txBody>
          <a:bodyPr/>
          <a:lstStyle/>
          <a:p>
            <a:r>
              <a:rPr lang="en-US" dirty="0" smtClean="0"/>
              <a:t>Division Power System</a:t>
            </a:r>
            <a:r>
              <a:rPr lang="en-US" dirty="0" smtClean="0">
                <a:ea typeface="ＭＳ Ｐゴシック" pitchFamily="68" charset="-128"/>
                <a:cs typeface="TisaOT-Light" panose="02010504030101010102" pitchFamily="50" charset="0"/>
              </a:rPr>
              <a:t> </a:t>
            </a:r>
            <a:r>
              <a:rPr lang="en-US" dirty="0">
                <a:ea typeface="ＭＳ Ｐゴシック" pitchFamily="68" charset="-128"/>
                <a:cs typeface="TisaOT-Light" panose="02010504030101010102" pitchFamily="50" charset="0"/>
              </a:rPr>
              <a:t>I Business Excellence </a:t>
            </a:r>
          </a:p>
          <a:p>
            <a:endParaRPr lang="en-US" dirty="0" smtClean="0">
              <a:ea typeface="ＭＳ Ｐゴシック" pitchFamily="68" charset="-128"/>
              <a:cs typeface="TisaOT-Light" panose="02010504030101010102" pitchFamily="50" charset="0"/>
            </a:endParaRPr>
          </a:p>
          <a:p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Project </a:t>
            </a:r>
            <a:r>
              <a:rPr lang="en-US" sz="1500" kern="0" dirty="0">
                <a:solidFill>
                  <a:srgbClr val="000000"/>
                </a:solidFill>
                <a:latin typeface="+mn-lt"/>
              </a:rPr>
              <a:t>Leader: 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Mr. Ganesh Hole </a:t>
            </a:r>
            <a:endParaRPr lang="en-US" sz="1500" kern="0" dirty="0">
              <a:solidFill>
                <a:srgbClr val="000000"/>
              </a:solidFill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sz="1500" kern="0" dirty="0">
                <a:solidFill>
                  <a:srgbClr val="000000"/>
                </a:solidFill>
                <a:latin typeface="+mn-lt"/>
              </a:rPr>
              <a:t>Team Member(s): 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Mr. </a:t>
            </a:r>
            <a:r>
              <a:rPr lang="en-US" sz="1500" kern="0" dirty="0" err="1" smtClean="0">
                <a:solidFill>
                  <a:srgbClr val="000000"/>
                </a:solidFill>
                <a:latin typeface="+mn-lt"/>
              </a:rPr>
              <a:t>Shahiraj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500" kern="0" dirty="0" err="1" smtClean="0">
                <a:solidFill>
                  <a:srgbClr val="000000"/>
                </a:solidFill>
                <a:latin typeface="+mn-lt"/>
              </a:rPr>
              <a:t>Shelar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- Prod., Mr. Ramesh </a:t>
            </a:r>
            <a:r>
              <a:rPr lang="en-US" sz="1500" kern="0" dirty="0" err="1" smtClean="0">
                <a:solidFill>
                  <a:srgbClr val="000000"/>
                </a:solidFill>
                <a:latin typeface="+mn-lt"/>
              </a:rPr>
              <a:t>Sawant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- Prod., Mr. </a:t>
            </a:r>
            <a:r>
              <a:rPr lang="en-US" sz="1500" kern="0" dirty="0" err="1" smtClean="0">
                <a:solidFill>
                  <a:srgbClr val="000000"/>
                </a:solidFill>
                <a:latin typeface="+mn-lt"/>
              </a:rPr>
              <a:t>Shriram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500" kern="0" dirty="0" err="1" smtClean="0">
                <a:solidFill>
                  <a:srgbClr val="000000"/>
                </a:solidFill>
                <a:latin typeface="+mn-lt"/>
              </a:rPr>
              <a:t>Sutar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- QA, Mr. </a:t>
            </a:r>
            <a:r>
              <a:rPr lang="en-US" sz="1500" kern="0" dirty="0" err="1" smtClean="0">
                <a:solidFill>
                  <a:srgbClr val="000000"/>
                </a:solidFill>
                <a:latin typeface="+mn-lt"/>
              </a:rPr>
              <a:t>Vaibhav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500" kern="0" dirty="0" err="1" smtClean="0">
                <a:solidFill>
                  <a:srgbClr val="000000"/>
                </a:solidFill>
                <a:latin typeface="+mn-lt"/>
              </a:rPr>
              <a:t>Jogade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- QA</a:t>
            </a:r>
          </a:p>
          <a:p>
            <a:pPr>
              <a:spcBef>
                <a:spcPts val="0"/>
              </a:spcBef>
            </a:pP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Date </a:t>
            </a:r>
            <a:r>
              <a:rPr lang="en-US" sz="1500" kern="0" dirty="0">
                <a:solidFill>
                  <a:srgbClr val="000000"/>
                </a:solidFill>
                <a:latin typeface="+mn-lt"/>
              </a:rPr>
              <a:t>range: </a:t>
            </a:r>
            <a:r>
              <a:rPr lang="en-US" sz="1500" kern="0" dirty="0" smtClean="0">
                <a:solidFill>
                  <a:srgbClr val="000000"/>
                </a:solidFill>
                <a:latin typeface="+mn-lt"/>
              </a:rPr>
              <a:t>10 Feb 2025- 31 Dec 2025</a:t>
            </a:r>
            <a:endParaRPr lang="en-US" sz="15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64253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>
          <a:xfrm>
            <a:off x="335360" y="654644"/>
            <a:ext cx="11305016" cy="455136"/>
          </a:xfrm>
          <a:prstGeom prst="rect">
            <a:avLst/>
          </a:prstGeom>
        </p:spPr>
        <p:txBody>
          <a:bodyPr/>
          <a:lstStyle/>
          <a:p>
            <a:r>
              <a:rPr lang="en-US" smtClean="0">
                <a:latin typeface="+mj-lt"/>
                <a:cs typeface="Arial" panose="020B0604020202020204" pitchFamily="34" charset="0"/>
              </a:rPr>
              <a:t>Table of Contents</a:t>
            </a:r>
            <a:endParaRPr lang="en-US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Inhaltsplatzhalter 6"/>
          <p:cNvSpPr txBox="1">
            <a:spLocks/>
          </p:cNvSpPr>
          <p:nvPr/>
        </p:nvSpPr>
        <p:spPr>
          <a:xfrm>
            <a:off x="1101955" y="1419871"/>
            <a:ext cx="7728520" cy="382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511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SzPct val="100000"/>
              <a:buFont typeface="Wingdings 2" panose="05020102010507070707" pitchFamily="18" charset="2"/>
              <a:buChar char="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950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613" indent="-265113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de-DE" sz="180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DMAIC Summary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Gerader Verbinder 12"/>
          <p:cNvCxnSpPr/>
          <p:nvPr/>
        </p:nvCxnSpPr>
        <p:spPr>
          <a:xfrm>
            <a:off x="442800" y="1923694"/>
            <a:ext cx="8377790" cy="0"/>
          </a:xfrm>
          <a:prstGeom prst="line">
            <a:avLst/>
          </a:prstGeom>
          <a:ln w="22225" cap="rnd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442800" y="1357662"/>
            <a:ext cx="180605" cy="50822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0" h="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dirty="0"/>
          </a:p>
        </p:txBody>
      </p:sp>
      <p:sp>
        <p:nvSpPr>
          <p:cNvPr id="18" name="Inhaltsplatzhalter 6"/>
          <p:cNvSpPr txBox="1">
            <a:spLocks/>
          </p:cNvSpPr>
          <p:nvPr/>
        </p:nvSpPr>
        <p:spPr>
          <a:xfrm>
            <a:off x="1101955" y="2040448"/>
            <a:ext cx="7728520" cy="382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511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SzPct val="100000"/>
              <a:buFont typeface="Wingdings 2" panose="05020102010507070707" pitchFamily="18" charset="2"/>
              <a:buChar char="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950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613" indent="-265113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SzPct val="100000"/>
              <a:buNone/>
            </a:pPr>
            <a:r>
              <a:rPr lang="en-US" altLang="de-DE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endParaRPr lang="en-US" altLang="de-DE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Gerader Verbinder 12"/>
          <p:cNvCxnSpPr/>
          <p:nvPr/>
        </p:nvCxnSpPr>
        <p:spPr>
          <a:xfrm>
            <a:off x="446842" y="2507031"/>
            <a:ext cx="8377790" cy="0"/>
          </a:xfrm>
          <a:prstGeom prst="line">
            <a:avLst/>
          </a:prstGeom>
          <a:ln w="22225" cap="rnd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3"/>
          <p:cNvSpPr/>
          <p:nvPr/>
        </p:nvSpPr>
        <p:spPr>
          <a:xfrm>
            <a:off x="446842" y="1940999"/>
            <a:ext cx="180605" cy="50822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0" h="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dirty="0"/>
          </a:p>
        </p:txBody>
      </p:sp>
      <p:sp>
        <p:nvSpPr>
          <p:cNvPr id="21" name="Inhaltsplatzhalter 6"/>
          <p:cNvSpPr txBox="1">
            <a:spLocks/>
          </p:cNvSpPr>
          <p:nvPr/>
        </p:nvSpPr>
        <p:spPr>
          <a:xfrm>
            <a:off x="1101955" y="2661025"/>
            <a:ext cx="7728520" cy="382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511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SzPct val="100000"/>
              <a:buFont typeface="Wingdings 2" panose="05020102010507070707" pitchFamily="18" charset="2"/>
              <a:buChar char="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950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613" indent="-265113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SzPct val="100000"/>
              <a:buNone/>
            </a:pPr>
            <a:r>
              <a:rPr lang="en-US" altLang="de-DE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endParaRPr lang="en-US" altLang="de-DE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Gerader Verbinder 12"/>
          <p:cNvCxnSpPr/>
          <p:nvPr/>
        </p:nvCxnSpPr>
        <p:spPr>
          <a:xfrm>
            <a:off x="446842" y="3113692"/>
            <a:ext cx="8377790" cy="0"/>
          </a:xfrm>
          <a:prstGeom prst="line">
            <a:avLst/>
          </a:prstGeom>
          <a:ln w="22225" cap="rnd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13"/>
          <p:cNvSpPr/>
          <p:nvPr/>
        </p:nvSpPr>
        <p:spPr>
          <a:xfrm>
            <a:off x="446842" y="2547660"/>
            <a:ext cx="180605" cy="50822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0" h="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dirty="0"/>
          </a:p>
        </p:txBody>
      </p:sp>
      <p:sp>
        <p:nvSpPr>
          <p:cNvPr id="24" name="Inhaltsplatzhalter 6"/>
          <p:cNvSpPr txBox="1">
            <a:spLocks/>
          </p:cNvSpPr>
          <p:nvPr/>
        </p:nvSpPr>
        <p:spPr>
          <a:xfrm>
            <a:off x="1101955" y="3281602"/>
            <a:ext cx="7728520" cy="382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511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SzPct val="100000"/>
              <a:buFont typeface="Wingdings 2" panose="05020102010507070707" pitchFamily="18" charset="2"/>
              <a:buChar char="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950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613" indent="-265113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SzPct val="100000"/>
              <a:buNone/>
            </a:pPr>
            <a:r>
              <a:rPr lang="en-US" altLang="de-DE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endParaRPr lang="en-US" altLang="de-DE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Gerader Verbinder 12"/>
          <p:cNvCxnSpPr/>
          <p:nvPr/>
        </p:nvCxnSpPr>
        <p:spPr>
          <a:xfrm>
            <a:off x="452685" y="3738876"/>
            <a:ext cx="8377790" cy="0"/>
          </a:xfrm>
          <a:prstGeom prst="line">
            <a:avLst/>
          </a:prstGeom>
          <a:ln w="22225" cap="rnd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13"/>
          <p:cNvSpPr/>
          <p:nvPr/>
        </p:nvSpPr>
        <p:spPr>
          <a:xfrm>
            <a:off x="452685" y="3191762"/>
            <a:ext cx="180605" cy="50822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0" h="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dirty="0"/>
          </a:p>
        </p:txBody>
      </p:sp>
      <p:sp>
        <p:nvSpPr>
          <p:cNvPr id="27" name="Inhaltsplatzhalter 6"/>
          <p:cNvSpPr txBox="1">
            <a:spLocks/>
          </p:cNvSpPr>
          <p:nvPr/>
        </p:nvSpPr>
        <p:spPr>
          <a:xfrm>
            <a:off x="1101955" y="3902179"/>
            <a:ext cx="7728520" cy="382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511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SzPct val="100000"/>
              <a:buFont typeface="Wingdings 2" panose="05020102010507070707" pitchFamily="18" charset="2"/>
              <a:buChar char="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950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613" indent="-265113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SzPct val="100000"/>
              <a:buNone/>
            </a:pPr>
            <a:r>
              <a:rPr lang="en-US" altLang="de-DE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</a:t>
            </a:r>
            <a:endParaRPr lang="en-US" altLang="de-DE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Gerader Verbinder 12"/>
          <p:cNvCxnSpPr/>
          <p:nvPr/>
        </p:nvCxnSpPr>
        <p:spPr>
          <a:xfrm>
            <a:off x="452685" y="4401895"/>
            <a:ext cx="8377790" cy="0"/>
          </a:xfrm>
          <a:prstGeom prst="line">
            <a:avLst/>
          </a:prstGeom>
          <a:ln w="22225" cap="rnd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13"/>
          <p:cNvSpPr/>
          <p:nvPr/>
        </p:nvSpPr>
        <p:spPr>
          <a:xfrm>
            <a:off x="452685" y="3835863"/>
            <a:ext cx="180605" cy="50822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0" h="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dirty="0"/>
          </a:p>
        </p:txBody>
      </p:sp>
      <p:sp>
        <p:nvSpPr>
          <p:cNvPr id="30" name="Inhaltsplatzhalter 6"/>
          <p:cNvSpPr txBox="1">
            <a:spLocks/>
          </p:cNvSpPr>
          <p:nvPr/>
        </p:nvSpPr>
        <p:spPr>
          <a:xfrm>
            <a:off x="1101955" y="4522756"/>
            <a:ext cx="7728520" cy="382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511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SzPct val="100000"/>
              <a:buFont typeface="Wingdings 2" panose="05020102010507070707" pitchFamily="18" charset="2"/>
              <a:buChar char="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950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613" indent="-265113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SzPct val="100000"/>
              <a:buNone/>
            </a:pPr>
            <a:r>
              <a:rPr lang="en-US" altLang="de-DE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Gerader Verbinder 12"/>
          <p:cNvCxnSpPr/>
          <p:nvPr/>
        </p:nvCxnSpPr>
        <p:spPr>
          <a:xfrm>
            <a:off x="452685" y="5026579"/>
            <a:ext cx="8377790" cy="0"/>
          </a:xfrm>
          <a:prstGeom prst="line">
            <a:avLst/>
          </a:prstGeom>
          <a:ln w="22225" cap="rnd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13"/>
          <p:cNvSpPr/>
          <p:nvPr/>
        </p:nvSpPr>
        <p:spPr>
          <a:xfrm>
            <a:off x="452685" y="4460547"/>
            <a:ext cx="180605" cy="50822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0" h="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en-US" dirty="0"/>
          </a:p>
        </p:txBody>
      </p:sp>
      <p:sp>
        <p:nvSpPr>
          <p:cNvPr id="33" name="Inhaltsplatzhalter 6"/>
          <p:cNvSpPr txBox="1">
            <a:spLocks/>
          </p:cNvSpPr>
          <p:nvPr/>
        </p:nvSpPr>
        <p:spPr>
          <a:xfrm>
            <a:off x="1101955" y="5174001"/>
            <a:ext cx="7728520" cy="382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511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SzPct val="100000"/>
              <a:buFont typeface="Wingdings 2" panose="05020102010507070707" pitchFamily="18" charset="2"/>
              <a:buChar char="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indent="-26511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9500" indent="-274638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613" indent="-265113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9082800" y="1214359"/>
            <a:ext cx="0" cy="509496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" name="Gruppieren 8"/>
          <p:cNvGrpSpPr/>
          <p:nvPr/>
        </p:nvGrpSpPr>
        <p:grpSpPr>
          <a:xfrm>
            <a:off x="8711528" y="2986174"/>
            <a:ext cx="3320278" cy="3981035"/>
            <a:chOff x="8714192" y="2986174"/>
            <a:chExt cx="3320278" cy="3981035"/>
          </a:xfrm>
        </p:grpSpPr>
        <p:grpSp>
          <p:nvGrpSpPr>
            <p:cNvPr id="34" name="Gruppieren 33"/>
            <p:cNvGrpSpPr/>
            <p:nvPr/>
          </p:nvGrpSpPr>
          <p:grpSpPr>
            <a:xfrm>
              <a:off x="9403016" y="2986174"/>
              <a:ext cx="2631454" cy="2140456"/>
              <a:chOff x="304094" y="0"/>
              <a:chExt cx="4526280" cy="3681730"/>
            </a:xfrm>
          </p:grpSpPr>
          <p:pic>
            <p:nvPicPr>
              <p:cNvPr id="35" name="Grafik 3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4" y="0"/>
                <a:ext cx="4526280" cy="3681730"/>
              </a:xfrm>
              <a:prstGeom prst="rect">
                <a:avLst/>
              </a:prstGeom>
            </p:spPr>
          </p:pic>
          <p:sp>
            <p:nvSpPr>
              <p:cNvPr id="36" name="Rechteck 35"/>
              <p:cNvSpPr/>
              <p:nvPr/>
            </p:nvSpPr>
            <p:spPr>
              <a:xfrm>
                <a:off x="356520" y="147711"/>
                <a:ext cx="3170321" cy="9504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GB" sz="500" b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Mone(Y) = Mass Flow [kg/s]</a:t>
                </a:r>
                <a:endParaRPr lang="en-US" sz="50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" name="Textfeld 36"/>
            <p:cNvSpPr txBox="1"/>
            <p:nvPr/>
          </p:nvSpPr>
          <p:spPr>
            <a:xfrm>
              <a:off x="9469795" y="5064577"/>
              <a:ext cx="47075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de-DE" sz="700" smtClean="0">
                  <a:solidFill>
                    <a:schemeClr val="bg2"/>
                  </a:solidFill>
                  <a:latin typeface="Century Gothic" panose="020B0502020202020204" pitchFamily="34" charset="0"/>
                </a:rPr>
                <a:t>BIG X</a:t>
              </a:r>
              <a:endParaRPr lang="en-US" sz="700" dirty="0" smtClean="0">
                <a:solidFill>
                  <a:schemeClr val="bg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8" name="TextBox 7"/>
            <p:cNvSpPr txBox="1"/>
            <p:nvPr/>
          </p:nvSpPr>
          <p:spPr>
            <a:xfrm>
              <a:off x="8714192" y="5313081"/>
              <a:ext cx="31190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800" b="0" dirty="0" smtClean="0">
                  <a:solidFill>
                    <a:schemeClr val="tx1">
                      <a:lumMod val="10000"/>
                    </a:schemeClr>
                  </a:solidFill>
                </a:rPr>
                <a:t>            </a:t>
              </a:r>
              <a:r>
                <a:rPr lang="en-US" sz="1800" dirty="0" smtClean="0">
                  <a:solidFill>
                    <a:schemeClr val="tx1">
                      <a:lumMod val="10000"/>
                    </a:schemeClr>
                  </a:solidFill>
                </a:rPr>
                <a:t>Elimination Strategy</a:t>
              </a:r>
            </a:p>
            <a:p>
              <a:pPr>
                <a:buClr>
                  <a:schemeClr val="accent3"/>
                </a:buClr>
              </a:pP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  <a:p>
              <a:pPr>
                <a:buClr>
                  <a:schemeClr val="accent3"/>
                </a:buClr>
              </a:pPr>
              <a:r>
                <a:rPr lang="en-US" sz="1800" b="0" smtClean="0">
                  <a:solidFill>
                    <a:schemeClr val="tx1">
                      <a:lumMod val="10000"/>
                    </a:schemeClr>
                  </a:solidFill>
                </a:rPr>
                <a:t> </a:t>
              </a: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pic>
          <p:nvPicPr>
            <p:cNvPr id="40" name="Grafik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2120" y="5433917"/>
              <a:ext cx="2173010" cy="1533292"/>
            </a:xfrm>
            <a:prstGeom prst="rect">
              <a:avLst/>
            </a:prstGeom>
          </p:spPr>
        </p:pic>
      </p:grp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168" y="1291861"/>
            <a:ext cx="1601087" cy="1601087"/>
          </a:xfrm>
          <a:prstGeom prst="rect">
            <a:avLst/>
          </a:prstGeom>
        </p:spPr>
      </p:pic>
      <p:sp>
        <p:nvSpPr>
          <p:cNvPr id="42" name="Titel 1"/>
          <p:cNvSpPr txBox="1">
            <a:spLocks/>
          </p:cNvSpPr>
          <p:nvPr/>
        </p:nvSpPr>
        <p:spPr>
          <a:xfrm>
            <a:off x="2905314" y="207983"/>
            <a:ext cx="347871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049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>
          <a:xfrm>
            <a:off x="442800" y="597600"/>
            <a:ext cx="1130501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 smtClean="0">
                <a:latin typeface="+mn-lt"/>
                <a:cs typeface="Arial" panose="020B0604020202020204" pitchFamily="34" charset="0"/>
              </a:rPr>
              <a:t>DEFINE </a:t>
            </a:r>
            <a:endParaRPr 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01237" y="1357662"/>
            <a:ext cx="905447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50000"/>
              </a:spcBef>
              <a:buSzPct val="90000"/>
              <a:defRPr sz="16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rgbClr val="6A6B6D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Possible required tools like: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smtClean="0">
                <a:solidFill>
                  <a:schemeClr val="tx1"/>
                </a:solidFill>
                <a:latin typeface="+mn-lt"/>
              </a:rPr>
              <a:t>Project Basics</a:t>
            </a:r>
            <a:r>
              <a:rPr lang="en-US" altLang="de-DE" sz="2000" b="0" dirty="0">
                <a:solidFill>
                  <a:schemeClr val="tx1"/>
                </a:solidFill>
              </a:rPr>
              <a:t>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--------------------------------</a:t>
            </a:r>
            <a:endParaRPr lang="en-US" altLang="de-DE" sz="2000" b="0" dirty="0" smtClean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Problem </a:t>
            </a:r>
            <a:r>
              <a:rPr lang="en-US" altLang="de-DE" sz="2000" b="0" dirty="0">
                <a:solidFill>
                  <a:schemeClr val="tx1"/>
                </a:solidFill>
                <a:latin typeface="+mn-lt"/>
              </a:rPr>
              <a:t>Definition 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Tree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</a:t>
            </a:r>
            <a:endParaRPr lang="en-US" altLang="de-DE" sz="2000" b="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>
                <a:solidFill>
                  <a:schemeClr val="tx1"/>
                </a:solidFill>
                <a:latin typeface="+mn-lt"/>
              </a:rPr>
              <a:t>Project Definition 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Tree</a:t>
            </a:r>
            <a:r>
              <a:rPr lang="en-US" altLang="de-DE" sz="2000" b="0" dirty="0">
                <a:solidFill>
                  <a:schemeClr val="tx1"/>
                </a:solidFill>
              </a:rPr>
              <a:t>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---------------------</a:t>
            </a:r>
            <a:endParaRPr lang="en-US" altLang="de-DE" sz="2000" b="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Pareto Chart</a:t>
            </a:r>
            <a:r>
              <a:rPr lang="en-US" altLang="de-DE" sz="2000" b="0" dirty="0">
                <a:solidFill>
                  <a:schemeClr val="tx1"/>
                </a:solidFill>
              </a:rPr>
              <a:t>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---------------------------------</a:t>
            </a:r>
            <a:endParaRPr lang="en-US" altLang="de-DE" sz="2000" b="0" dirty="0" smtClean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smtClean="0">
                <a:solidFill>
                  <a:schemeClr val="tx1"/>
                </a:solidFill>
                <a:latin typeface="+mn-lt"/>
              </a:rPr>
              <a:t>Time Series Plot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 -----------------------------</a:t>
            </a:r>
            <a:endParaRPr lang="de-DE" altLang="de-DE" sz="2000" b="0" dirty="0" smtClean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smtClean="0">
                <a:solidFill>
                  <a:schemeClr val="tx1"/>
                </a:solidFill>
                <a:latin typeface="+mn-lt"/>
              </a:rPr>
              <a:t>Histogram</a:t>
            </a:r>
            <a:r>
              <a:rPr lang="en-US" altLang="de-DE" sz="2000" b="0" dirty="0">
                <a:solidFill>
                  <a:schemeClr val="tx1"/>
                </a:solidFill>
              </a:rPr>
              <a:t>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------------------------------------</a:t>
            </a:r>
            <a:endParaRPr lang="en-US" altLang="de-DE" sz="20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615" y="754419"/>
            <a:ext cx="1331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smtClean="0">
                <a:latin typeface="+mj-lt"/>
                <a:cs typeface="Times New Roman" pitchFamily="18" charset="0"/>
              </a:rPr>
              <a:t>MAIC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smtClean="0">
                <a:latin typeface="+mj-lt"/>
                <a:cs typeface="Times New Roman" pitchFamily="18" charset="0"/>
              </a:rPr>
              <a:t>- 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smtClean="0">
                <a:latin typeface="+mj-lt"/>
                <a:cs typeface="Times New Roman" pitchFamily="18" charset="0"/>
              </a:rPr>
              <a:t>EFINE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pSp>
        <p:nvGrpSpPr>
          <p:cNvPr id="19" name="Gruppieren 18"/>
          <p:cNvGrpSpPr/>
          <p:nvPr/>
        </p:nvGrpSpPr>
        <p:grpSpPr>
          <a:xfrm>
            <a:off x="8711528" y="2986174"/>
            <a:ext cx="3320278" cy="3981035"/>
            <a:chOff x="8714192" y="2986174"/>
            <a:chExt cx="3320278" cy="3981035"/>
          </a:xfrm>
        </p:grpSpPr>
        <p:grpSp>
          <p:nvGrpSpPr>
            <p:cNvPr id="25" name="Gruppieren 24"/>
            <p:cNvGrpSpPr/>
            <p:nvPr/>
          </p:nvGrpSpPr>
          <p:grpSpPr>
            <a:xfrm>
              <a:off x="9403016" y="2986174"/>
              <a:ext cx="2631454" cy="2140456"/>
              <a:chOff x="304094" y="0"/>
              <a:chExt cx="4526280" cy="3681730"/>
            </a:xfrm>
          </p:grpSpPr>
          <p:pic>
            <p:nvPicPr>
              <p:cNvPr id="26" name="Grafik 2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4" y="0"/>
                <a:ext cx="4526280" cy="3681730"/>
              </a:xfrm>
              <a:prstGeom prst="rect">
                <a:avLst/>
              </a:prstGeom>
            </p:spPr>
          </p:pic>
          <p:sp>
            <p:nvSpPr>
              <p:cNvPr id="27" name="Rechteck 26"/>
              <p:cNvSpPr/>
              <p:nvPr/>
            </p:nvSpPr>
            <p:spPr>
              <a:xfrm>
                <a:off x="356520" y="147711"/>
                <a:ext cx="3170321" cy="9504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GB" sz="500" b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Mone(Y) = Mass Flow [kg/s]</a:t>
                </a:r>
                <a:endParaRPr lang="en-US" sz="50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Textfeld 20"/>
            <p:cNvSpPr txBox="1"/>
            <p:nvPr/>
          </p:nvSpPr>
          <p:spPr>
            <a:xfrm>
              <a:off x="9469795" y="5064577"/>
              <a:ext cx="47075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de-DE" sz="700" smtClean="0">
                  <a:solidFill>
                    <a:schemeClr val="bg2"/>
                  </a:solidFill>
                  <a:latin typeface="Century Gothic" panose="020B0502020202020204" pitchFamily="34" charset="0"/>
                </a:rPr>
                <a:t>BIG X</a:t>
              </a:r>
              <a:endParaRPr lang="en-US" sz="700" dirty="0" smtClean="0">
                <a:solidFill>
                  <a:schemeClr val="bg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2" name="TextBox 7"/>
            <p:cNvSpPr txBox="1"/>
            <p:nvPr/>
          </p:nvSpPr>
          <p:spPr>
            <a:xfrm>
              <a:off x="8714192" y="5313081"/>
              <a:ext cx="31190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800" b="0" dirty="0" smtClean="0">
                  <a:solidFill>
                    <a:schemeClr val="tx1">
                      <a:lumMod val="10000"/>
                    </a:schemeClr>
                  </a:solidFill>
                </a:rPr>
                <a:t>            </a:t>
              </a:r>
              <a:r>
                <a:rPr lang="en-US" sz="1800" dirty="0" smtClean="0">
                  <a:solidFill>
                    <a:schemeClr val="tx1">
                      <a:lumMod val="10000"/>
                    </a:schemeClr>
                  </a:solidFill>
                </a:rPr>
                <a:t>Elimination Strategy</a:t>
              </a:r>
            </a:p>
            <a:p>
              <a:pPr>
                <a:buClr>
                  <a:schemeClr val="accent3"/>
                </a:buClr>
              </a:pP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  <a:p>
              <a:pPr>
                <a:buClr>
                  <a:schemeClr val="accent3"/>
                </a:buClr>
              </a:pPr>
              <a:r>
                <a:rPr lang="en-US" sz="1800" b="0" smtClean="0">
                  <a:solidFill>
                    <a:schemeClr val="tx1">
                      <a:lumMod val="10000"/>
                    </a:schemeClr>
                  </a:solidFill>
                </a:rPr>
                <a:t> </a:t>
              </a: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pic>
          <p:nvPicPr>
            <p:cNvPr id="23" name="Grafik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2120" y="5433917"/>
              <a:ext cx="2173010" cy="1533292"/>
            </a:xfrm>
            <a:prstGeom prst="rect">
              <a:avLst/>
            </a:prstGeom>
          </p:spPr>
        </p:pic>
      </p:grpSp>
      <p:cxnSp>
        <p:nvCxnSpPr>
          <p:cNvPr id="28" name="Straight Connector 40"/>
          <p:cNvCxnSpPr/>
          <p:nvPr/>
        </p:nvCxnSpPr>
        <p:spPr>
          <a:xfrm>
            <a:off x="9082800" y="1214359"/>
            <a:ext cx="0" cy="509496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168" y="1305055"/>
            <a:ext cx="1601087" cy="1601087"/>
          </a:xfrm>
          <a:prstGeom prst="rect">
            <a:avLst/>
          </a:prstGeom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958232" y="1662328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949592" y="2569678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949592" y="3061484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966351" y="3527348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953354" y="3985745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itel 1"/>
          <p:cNvSpPr txBox="1">
            <a:spLocks/>
          </p:cNvSpPr>
          <p:nvPr/>
        </p:nvSpPr>
        <p:spPr>
          <a:xfrm>
            <a:off x="2905314" y="207983"/>
            <a:ext cx="3406709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3815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51" y="1236544"/>
            <a:ext cx="5495925" cy="3667125"/>
          </a:xfrm>
          <a:prstGeom prst="rect">
            <a:avLst/>
          </a:prstGeom>
        </p:spPr>
      </p:pic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343909" y="721247"/>
            <a:ext cx="5492576" cy="398463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>
                <a:latin typeface="+mj-lt"/>
              </a:rPr>
              <a:t>Project Basics:</a:t>
            </a:r>
            <a:endParaRPr lang="en-US" altLang="en-US" dirty="0">
              <a:latin typeface="+mj-lt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615" y="754419"/>
            <a:ext cx="1331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MAIC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latin typeface="+mj-lt"/>
                <a:cs typeface="Times New Roman" pitchFamily="18" charset="0"/>
              </a:rPr>
              <a:t>EFINE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22" name="TextBox 43"/>
          <p:cNvSpPr txBox="1">
            <a:spLocks noChangeArrowheads="1"/>
          </p:cNvSpPr>
          <p:nvPr/>
        </p:nvSpPr>
        <p:spPr bwMode="auto">
          <a:xfrm>
            <a:off x="343909" y="5018345"/>
            <a:ext cx="8839200" cy="10772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600" dirty="0" smtClean="0">
                <a:solidFill>
                  <a:srgbClr val="000000"/>
                </a:solidFill>
                <a:latin typeface="+mj-lt"/>
              </a:rPr>
              <a:t>Conclusion:</a:t>
            </a:r>
            <a:r>
              <a:rPr lang="en-US" altLang="en-US" sz="1600" b="0" dirty="0" smtClean="0">
                <a:solidFill>
                  <a:srgbClr val="000000"/>
                </a:solidFill>
                <a:latin typeface="+mj-lt"/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en-US" sz="1600" b="0" dirty="0" smtClean="0">
                <a:solidFill>
                  <a:srgbClr val="000000"/>
                </a:solidFill>
                <a:latin typeface="+mj-lt"/>
              </a:rPr>
              <a:t>RR1 test </a:t>
            </a:r>
            <a:r>
              <a:rPr lang="en-US" altLang="en-US" sz="1600" b="0" dirty="0" err="1" smtClean="0">
                <a:solidFill>
                  <a:srgbClr val="000000"/>
                </a:solidFill>
                <a:latin typeface="+mj-lt"/>
              </a:rPr>
              <a:t>nok</a:t>
            </a:r>
            <a:r>
              <a:rPr lang="en-US" altLang="en-US" sz="1600" b="0" dirty="0" smtClean="0">
                <a:solidFill>
                  <a:srgbClr val="000000"/>
                </a:solidFill>
                <a:latin typeface="+mj-lt"/>
              </a:rPr>
              <a:t> is the top most FTQ concern for BR10 VOP</a:t>
            </a:r>
          </a:p>
          <a:p>
            <a:pPr marL="342900" indent="-342900">
              <a:buAutoNum type="arabicPeriod"/>
            </a:pPr>
            <a:r>
              <a:rPr lang="en-US" altLang="en-US" sz="1600" b="0" dirty="0" smtClean="0">
                <a:solidFill>
                  <a:srgbClr val="000000"/>
                </a:solidFill>
                <a:latin typeface="+mj-lt"/>
              </a:rPr>
              <a:t>For Last </a:t>
            </a:r>
            <a:r>
              <a:rPr lang="en-US" altLang="en-US" sz="1600" b="0" dirty="0">
                <a:solidFill>
                  <a:srgbClr val="000000"/>
                </a:solidFill>
                <a:latin typeface="+mj-lt"/>
              </a:rPr>
              <a:t>6</a:t>
            </a:r>
            <a:r>
              <a:rPr lang="en-US" altLang="en-US" sz="1600" b="0" dirty="0" smtClean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en-US" sz="1600" b="0" dirty="0">
                <a:solidFill>
                  <a:srgbClr val="000000"/>
                </a:solidFill>
                <a:latin typeface="+mj-lt"/>
              </a:rPr>
              <a:t>months</a:t>
            </a:r>
            <a:r>
              <a:rPr lang="en-US" altLang="en-US" sz="1600" b="0" dirty="0" smtClean="0">
                <a:solidFill>
                  <a:srgbClr val="000000"/>
                </a:solidFill>
                <a:latin typeface="+mj-lt"/>
              </a:rPr>
              <a:t> average rejection percentage is 1.10% </a:t>
            </a:r>
          </a:p>
          <a:p>
            <a:pPr marL="342900" indent="-342900">
              <a:buAutoNum type="arabicPeriod"/>
            </a:pPr>
            <a:r>
              <a:rPr lang="en-US" altLang="en-US" sz="1600" b="0" dirty="0" smtClean="0">
                <a:solidFill>
                  <a:srgbClr val="000000"/>
                </a:solidFill>
                <a:latin typeface="+mj-lt"/>
              </a:rPr>
              <a:t>For Jan 2025 current rejection percentage is 1.49%  </a:t>
            </a:r>
            <a:endParaRPr lang="en-US" altLang="en-US" sz="1600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2905314" y="207983"/>
            <a:ext cx="3766749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1919536" y="4148356"/>
            <a:ext cx="134876" cy="21674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146" y="1235465"/>
            <a:ext cx="54959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4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8ED7-C9B8-4191-8D93-7CD7F153A8DC}" type="slidenum">
              <a:rPr lang="de-DE" smtClean="0"/>
              <a:t>5</a:t>
            </a:fld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406400" y="819571"/>
            <a:ext cx="9984000" cy="332399"/>
          </a:xfrm>
        </p:spPr>
        <p:txBody>
          <a:bodyPr/>
          <a:lstStyle/>
          <a:p>
            <a:r>
              <a:rPr lang="en-US" sz="2400" dirty="0" smtClean="0">
                <a:solidFill>
                  <a:schemeClr val="bg1"/>
                </a:solidFill>
                <a:cs typeface="Calibri" panose="020F0502020204030204" pitchFamily="34" charset="0"/>
              </a:rPr>
              <a:t>Define</a:t>
            </a:r>
            <a:endParaRPr lang="en-US" sz="24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0609" y="606038"/>
            <a:ext cx="2772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600" smtClean="0">
                <a:solidFill>
                  <a:schemeClr val="tx1">
                    <a:lumMod val="10000"/>
                  </a:schemeClr>
                </a:solidFill>
              </a:rPr>
              <a:t>Project  Basics </a:t>
            </a:r>
            <a:endParaRPr lang="en-IN" sz="2600" dirty="0" smtClean="0">
              <a:solidFill>
                <a:schemeClr val="tx1">
                  <a:lumMod val="10000"/>
                </a:schemeClr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32440" y="2047360"/>
            <a:ext cx="9257096" cy="3332114"/>
            <a:chOff x="532440" y="1692153"/>
            <a:chExt cx="9257096" cy="3332114"/>
          </a:xfrm>
        </p:grpSpPr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532440" y="4633684"/>
              <a:ext cx="92570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Textfeld 13"/>
            <p:cNvSpPr txBox="1"/>
            <p:nvPr/>
          </p:nvSpPr>
          <p:spPr>
            <a:xfrm>
              <a:off x="9044898" y="4716490"/>
              <a:ext cx="74463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buClr>
                  <a:schemeClr val="accent1"/>
                </a:buClr>
                <a:buSzPct val="115000"/>
              </a:pPr>
              <a:r>
                <a:rPr lang="de-DE" dirty="0" smtClean="0"/>
                <a:t>time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885053" y="1692153"/>
              <a:ext cx="5721046" cy="2912958"/>
              <a:chOff x="885053" y="1692153"/>
              <a:chExt cx="5721045" cy="2912957"/>
            </a:xfrm>
          </p:grpSpPr>
          <p:sp>
            <p:nvSpPr>
              <p:cNvPr id="9" name="AutoShape 13"/>
              <p:cNvSpPr>
                <a:spLocks noChangeArrowheads="1"/>
              </p:cNvSpPr>
              <p:nvPr/>
            </p:nvSpPr>
            <p:spPr bwMode="auto">
              <a:xfrm>
                <a:off x="930321" y="2093685"/>
                <a:ext cx="1586700" cy="2511425"/>
              </a:xfrm>
              <a:prstGeom prst="flowChartAlternateProcess">
                <a:avLst/>
              </a:prstGeom>
              <a:gradFill rotWithShape="1">
                <a:gsLst>
                  <a:gs pos="0">
                    <a:schemeClr val="accent1"/>
                  </a:gs>
                  <a:gs pos="50000">
                    <a:srgbClr val="E1D5A9">
                      <a:gamma/>
                      <a:tint val="0"/>
                      <a:invGamma/>
                    </a:srgbClr>
                  </a:gs>
                  <a:gs pos="100000">
                    <a:schemeClr val="accent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 algn="ctr"/>
                <a:endParaRPr lang="de-DE" altLang="de-DE" sz="1800" b="0" dirty="0"/>
              </a:p>
              <a:p>
                <a:pPr algn="ctr"/>
                <a:r>
                  <a:rPr lang="de-DE" altLang="de-DE" sz="1800" b="0" dirty="0" smtClean="0"/>
                  <a:t>1.10%</a:t>
                </a:r>
              </a:p>
              <a:p>
                <a:pPr algn="ctr"/>
                <a:r>
                  <a:rPr lang="de-DE" altLang="de-DE" sz="1800" b="0" dirty="0" err="1" smtClean="0"/>
                  <a:t>Avg</a:t>
                </a:r>
                <a:r>
                  <a:rPr lang="de-DE" altLang="de-DE" sz="1800" b="0" dirty="0" smtClean="0"/>
                  <a:t>.</a:t>
                </a:r>
                <a:endParaRPr lang="de-DE" altLang="de-DE" sz="1800" b="0" dirty="0"/>
              </a:p>
              <a:p>
                <a:pPr algn="ctr"/>
                <a:endParaRPr lang="de-DE" altLang="de-DE" sz="1800" b="0" dirty="0"/>
              </a:p>
              <a:p>
                <a:pPr algn="ctr"/>
                <a:endParaRPr lang="de-DE" altLang="de-DE" sz="1800" b="0" dirty="0"/>
              </a:p>
            </p:txBody>
          </p:sp>
          <p:sp>
            <p:nvSpPr>
              <p:cNvPr id="11" name="AutoShape 15"/>
              <p:cNvSpPr>
                <a:spLocks noChangeArrowheads="1"/>
              </p:cNvSpPr>
              <p:nvPr/>
            </p:nvSpPr>
            <p:spPr bwMode="auto">
              <a:xfrm>
                <a:off x="3296448" y="4297928"/>
                <a:ext cx="1663483" cy="307180"/>
              </a:xfrm>
              <a:prstGeom prst="flowChartAlternateProcess">
                <a:avLst/>
              </a:prstGeom>
              <a:gradFill rotWithShape="1">
                <a:gsLst>
                  <a:gs pos="0">
                    <a:schemeClr val="accent1"/>
                  </a:gs>
                  <a:gs pos="50000">
                    <a:srgbClr val="E1D5A9">
                      <a:gamma/>
                      <a:tint val="0"/>
                      <a:invGamma/>
                    </a:srgbClr>
                  </a:gs>
                  <a:gs pos="100000">
                    <a:schemeClr val="accent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 algn="ctr"/>
                <a:r>
                  <a:rPr lang="de-DE" altLang="de-DE" sz="1800" b="0" dirty="0" smtClean="0"/>
                  <a:t>%</a:t>
                </a:r>
                <a:endParaRPr lang="de-DE" altLang="de-DE" sz="1800" b="0" dirty="0"/>
              </a:p>
              <a:p>
                <a:pPr algn="ctr"/>
                <a:endParaRPr lang="de-DE" altLang="de-DE" sz="1800" b="0" dirty="0"/>
              </a:p>
            </p:txBody>
          </p:sp>
          <p:sp>
            <p:nvSpPr>
              <p:cNvPr id="12" name="Line 16"/>
              <p:cNvSpPr>
                <a:spLocks noChangeShapeType="1"/>
              </p:cNvSpPr>
              <p:nvPr/>
            </p:nvSpPr>
            <p:spPr bwMode="auto">
              <a:xfrm>
                <a:off x="1510213" y="2090509"/>
                <a:ext cx="34666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13" name="Line 17"/>
              <p:cNvSpPr>
                <a:spLocks noChangeShapeType="1"/>
              </p:cNvSpPr>
              <p:nvPr/>
            </p:nvSpPr>
            <p:spPr bwMode="auto">
              <a:xfrm flipH="1">
                <a:off x="4126072" y="2090507"/>
                <a:ext cx="0" cy="220742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 type="stealth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15" name="Text Box 20"/>
              <p:cNvSpPr txBox="1">
                <a:spLocks noChangeArrowheads="1"/>
              </p:cNvSpPr>
              <p:nvPr/>
            </p:nvSpPr>
            <p:spPr bwMode="auto">
              <a:xfrm>
                <a:off x="4955069" y="2068892"/>
                <a:ext cx="1651029" cy="646331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>
                <a:spAutoFit/>
              </a:bodyPr>
              <a:lstStyle/>
              <a:p>
                <a:r>
                  <a:rPr lang="de-DE" altLang="de-DE" sz="1200" b="1" dirty="0" smtClean="0"/>
                  <a:t>Show </a:t>
                </a:r>
                <a:r>
                  <a:rPr lang="de-DE" altLang="de-DE" sz="1200" b="1" dirty="0" err="1" smtClean="0"/>
                  <a:t>the</a:t>
                </a:r>
                <a:r>
                  <a:rPr lang="de-DE" altLang="de-DE" sz="1200" b="1" dirty="0" smtClean="0"/>
                  <a:t> </a:t>
                </a:r>
                <a:r>
                  <a:rPr lang="de-DE" altLang="de-DE" sz="1200" b="1" dirty="0" err="1" smtClean="0"/>
                  <a:t>gap</a:t>
                </a:r>
                <a:r>
                  <a:rPr lang="de-DE" altLang="de-DE" sz="1200" b="1" dirty="0" smtClean="0"/>
                  <a:t> </a:t>
                </a:r>
                <a:r>
                  <a:rPr lang="de-DE" altLang="de-DE" sz="1200" b="1" dirty="0" err="1" smtClean="0"/>
                  <a:t>between</a:t>
                </a:r>
                <a:endParaRPr lang="de-DE" altLang="de-DE" sz="1200" b="1" dirty="0" smtClean="0"/>
              </a:p>
              <a:p>
                <a:r>
                  <a:rPr lang="de-DE" altLang="de-DE" sz="1200" b="1" dirty="0" err="1" smtClean="0"/>
                  <a:t>current</a:t>
                </a:r>
                <a:r>
                  <a:rPr lang="de-DE" altLang="de-DE" sz="1200" b="1" dirty="0" smtClean="0"/>
                  <a:t> </a:t>
                </a:r>
                <a:r>
                  <a:rPr lang="de-DE" altLang="de-DE" sz="1200" b="1" dirty="0" err="1" smtClean="0"/>
                  <a:t>status</a:t>
                </a:r>
                <a:r>
                  <a:rPr lang="de-DE" altLang="de-DE" sz="1200" b="1" dirty="0" smtClean="0"/>
                  <a:t> and </a:t>
                </a:r>
              </a:p>
              <a:p>
                <a:r>
                  <a:rPr lang="de-DE" altLang="de-DE" sz="1200" b="1" dirty="0" smtClean="0"/>
                  <a:t>nominal </a:t>
                </a:r>
                <a:r>
                  <a:rPr lang="de-DE" altLang="de-DE" sz="1200" b="1" dirty="0" err="1" smtClean="0"/>
                  <a:t>status</a:t>
                </a:r>
                <a:endParaRPr lang="de-DE" altLang="de-DE" sz="1200" b="1" dirty="0"/>
              </a:p>
            </p:txBody>
          </p:sp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 flipV="1">
                <a:off x="885053" y="1692153"/>
                <a:ext cx="0" cy="291295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20" name="Textfeld 15"/>
              <p:cNvSpPr txBox="1"/>
              <p:nvPr/>
            </p:nvSpPr>
            <p:spPr>
              <a:xfrm>
                <a:off x="5015879" y="3270071"/>
                <a:ext cx="14318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Clr>
                    <a:schemeClr val="accent1"/>
                  </a:buClr>
                  <a:buSzPct val="115000"/>
                </a:pPr>
                <a:r>
                  <a:rPr lang="de-DE" dirty="0" smtClean="0"/>
                  <a:t>Target: 0.29%</a:t>
                </a:r>
              </a:p>
            </p:txBody>
          </p:sp>
        </p:grpSp>
      </p:grpSp>
      <p:sp>
        <p:nvSpPr>
          <p:cNvPr id="21" name="TextBox 20"/>
          <p:cNvSpPr txBox="1"/>
          <p:nvPr/>
        </p:nvSpPr>
        <p:spPr>
          <a:xfrm>
            <a:off x="8760296" y="1747842"/>
            <a:ext cx="343170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dirty="0" smtClean="0">
                <a:solidFill>
                  <a:schemeClr val="tx1">
                    <a:lumMod val="10000"/>
                  </a:schemeClr>
                </a:solidFill>
              </a:rPr>
              <a:t>Team Members:</a:t>
            </a:r>
          </a:p>
          <a:p>
            <a:pPr>
              <a:spcBef>
                <a:spcPts val="0"/>
              </a:spcBef>
            </a:pPr>
            <a:r>
              <a:rPr lang="en-US" sz="1600" b="0" kern="0" dirty="0">
                <a:solidFill>
                  <a:srgbClr val="000000"/>
                </a:solidFill>
              </a:rPr>
              <a:t>Mr. </a:t>
            </a:r>
            <a:r>
              <a:rPr lang="en-US" sz="1600" b="0" kern="0" dirty="0" err="1">
                <a:solidFill>
                  <a:srgbClr val="000000"/>
                </a:solidFill>
              </a:rPr>
              <a:t>Shahiraj</a:t>
            </a:r>
            <a:r>
              <a:rPr lang="en-US" sz="1600" b="0" kern="0" dirty="0">
                <a:solidFill>
                  <a:srgbClr val="000000"/>
                </a:solidFill>
              </a:rPr>
              <a:t> </a:t>
            </a:r>
            <a:r>
              <a:rPr lang="en-US" sz="1600" b="0" kern="0" dirty="0" err="1">
                <a:solidFill>
                  <a:srgbClr val="000000"/>
                </a:solidFill>
              </a:rPr>
              <a:t>Shelar</a:t>
            </a:r>
            <a:r>
              <a:rPr lang="en-US" sz="1600" b="0" kern="0" dirty="0">
                <a:solidFill>
                  <a:srgbClr val="000000"/>
                </a:solidFill>
              </a:rPr>
              <a:t>- </a:t>
            </a:r>
            <a:r>
              <a:rPr lang="en-US" sz="1600" b="0" kern="0" dirty="0" smtClean="0">
                <a:solidFill>
                  <a:srgbClr val="000000"/>
                </a:solidFill>
              </a:rPr>
              <a:t>Prod.</a:t>
            </a:r>
          </a:p>
          <a:p>
            <a:pPr>
              <a:spcBef>
                <a:spcPts val="0"/>
              </a:spcBef>
            </a:pPr>
            <a:r>
              <a:rPr lang="en-US" sz="1600" b="0" kern="0" dirty="0" smtClean="0">
                <a:solidFill>
                  <a:srgbClr val="000000"/>
                </a:solidFill>
              </a:rPr>
              <a:t>Mr</a:t>
            </a:r>
            <a:r>
              <a:rPr lang="en-US" sz="1600" b="0" kern="0" dirty="0">
                <a:solidFill>
                  <a:srgbClr val="000000"/>
                </a:solidFill>
              </a:rPr>
              <a:t>. Ramesh </a:t>
            </a:r>
            <a:r>
              <a:rPr lang="en-US" sz="1600" b="0" kern="0" dirty="0" err="1">
                <a:solidFill>
                  <a:srgbClr val="000000"/>
                </a:solidFill>
              </a:rPr>
              <a:t>Sawant</a:t>
            </a:r>
            <a:r>
              <a:rPr lang="en-US" sz="1600" b="0" kern="0" dirty="0">
                <a:solidFill>
                  <a:srgbClr val="000000"/>
                </a:solidFill>
              </a:rPr>
              <a:t>- Prod</a:t>
            </a:r>
            <a:r>
              <a:rPr lang="en-US" sz="1600" b="0" kern="0" dirty="0" smtClean="0">
                <a:solidFill>
                  <a:srgbClr val="000000"/>
                </a:solidFill>
              </a:rPr>
              <a:t>. </a:t>
            </a:r>
          </a:p>
          <a:p>
            <a:pPr>
              <a:spcBef>
                <a:spcPts val="0"/>
              </a:spcBef>
            </a:pPr>
            <a:r>
              <a:rPr lang="en-US" sz="1600" b="0" kern="0" dirty="0" smtClean="0">
                <a:solidFill>
                  <a:srgbClr val="000000"/>
                </a:solidFill>
              </a:rPr>
              <a:t>Mr</a:t>
            </a:r>
            <a:r>
              <a:rPr lang="en-US" sz="1600" b="0" kern="0" dirty="0">
                <a:solidFill>
                  <a:srgbClr val="000000"/>
                </a:solidFill>
              </a:rPr>
              <a:t>. </a:t>
            </a:r>
            <a:r>
              <a:rPr lang="en-US" sz="1600" b="0" kern="0" dirty="0" err="1">
                <a:solidFill>
                  <a:srgbClr val="000000"/>
                </a:solidFill>
              </a:rPr>
              <a:t>Shriram</a:t>
            </a:r>
            <a:r>
              <a:rPr lang="en-US" sz="1600" b="0" kern="0" dirty="0">
                <a:solidFill>
                  <a:srgbClr val="000000"/>
                </a:solidFill>
              </a:rPr>
              <a:t> </a:t>
            </a:r>
            <a:r>
              <a:rPr lang="en-US" sz="1600" b="0" kern="0" dirty="0" err="1">
                <a:solidFill>
                  <a:srgbClr val="000000"/>
                </a:solidFill>
              </a:rPr>
              <a:t>Sutar</a:t>
            </a:r>
            <a:r>
              <a:rPr lang="en-US" sz="1600" b="0" kern="0" dirty="0">
                <a:solidFill>
                  <a:srgbClr val="000000"/>
                </a:solidFill>
              </a:rPr>
              <a:t>- </a:t>
            </a:r>
            <a:r>
              <a:rPr lang="en-US" sz="1600" b="0" kern="0" dirty="0" smtClean="0">
                <a:solidFill>
                  <a:srgbClr val="000000"/>
                </a:solidFill>
              </a:rPr>
              <a:t>QA</a:t>
            </a:r>
          </a:p>
          <a:p>
            <a:pPr>
              <a:spcBef>
                <a:spcPts val="0"/>
              </a:spcBef>
            </a:pPr>
            <a:r>
              <a:rPr lang="en-US" sz="1600" b="0" kern="0" dirty="0" smtClean="0">
                <a:solidFill>
                  <a:srgbClr val="000000"/>
                </a:solidFill>
              </a:rPr>
              <a:t>Mr</a:t>
            </a:r>
            <a:r>
              <a:rPr lang="en-US" sz="1600" b="0" kern="0" dirty="0">
                <a:solidFill>
                  <a:srgbClr val="000000"/>
                </a:solidFill>
              </a:rPr>
              <a:t>. </a:t>
            </a:r>
            <a:r>
              <a:rPr lang="en-US" sz="1600" b="0" kern="0" dirty="0" err="1">
                <a:solidFill>
                  <a:srgbClr val="000000"/>
                </a:solidFill>
              </a:rPr>
              <a:t>Vaibhav</a:t>
            </a:r>
            <a:r>
              <a:rPr lang="en-US" sz="1600" b="0" kern="0" dirty="0">
                <a:solidFill>
                  <a:srgbClr val="000000"/>
                </a:solidFill>
              </a:rPr>
              <a:t> </a:t>
            </a:r>
            <a:r>
              <a:rPr lang="en-US" sz="1600" b="0" kern="0" dirty="0" err="1">
                <a:solidFill>
                  <a:srgbClr val="000000"/>
                </a:solidFill>
              </a:rPr>
              <a:t>Jogade</a:t>
            </a:r>
            <a:r>
              <a:rPr lang="en-US" sz="1600" b="0" kern="0" dirty="0">
                <a:solidFill>
                  <a:srgbClr val="000000"/>
                </a:solidFill>
              </a:rPr>
              <a:t>- </a:t>
            </a:r>
            <a:r>
              <a:rPr lang="en-US" sz="1600" b="0" kern="0" dirty="0" smtClean="0">
                <a:solidFill>
                  <a:srgbClr val="000000"/>
                </a:solidFill>
              </a:rPr>
              <a:t>QA</a:t>
            </a:r>
            <a:endParaRPr lang="en-US" sz="1600" b="0" kern="0" dirty="0">
              <a:solidFill>
                <a:srgbClr val="000000"/>
              </a:solidFill>
            </a:endParaRPr>
          </a:p>
          <a:p>
            <a:pPr>
              <a:buClr>
                <a:schemeClr val="accent3"/>
              </a:buClr>
            </a:pPr>
            <a:endParaRPr lang="en-US" sz="1800" b="0" dirty="0">
              <a:solidFill>
                <a:schemeClr val="tx1">
                  <a:lumMod val="10000"/>
                </a:schemeClr>
              </a:solidFill>
            </a:endParaRPr>
          </a:p>
          <a:p>
            <a:pPr>
              <a:buClr>
                <a:schemeClr val="accent3"/>
              </a:buClr>
            </a:pPr>
            <a:r>
              <a:rPr lang="en-US" sz="1800" b="0" dirty="0" smtClean="0">
                <a:solidFill>
                  <a:schemeClr val="tx1">
                    <a:lumMod val="10000"/>
                  </a:schemeClr>
                </a:solidFill>
              </a:rPr>
              <a:t>Project Start Date: 10 Feb 2025</a:t>
            </a:r>
            <a:endParaRPr lang="en-US" sz="1800" b="0" dirty="0">
              <a:solidFill>
                <a:schemeClr val="tx1">
                  <a:lumMod val="10000"/>
                </a:schemeClr>
              </a:solidFill>
            </a:endParaRPr>
          </a:p>
          <a:p>
            <a:pPr>
              <a:buClr>
                <a:schemeClr val="accent3"/>
              </a:buClr>
            </a:pPr>
            <a:r>
              <a:rPr lang="en-US" sz="1800" b="0" dirty="0" smtClean="0">
                <a:solidFill>
                  <a:schemeClr val="tx1">
                    <a:lumMod val="10000"/>
                  </a:schemeClr>
                </a:solidFill>
              </a:rPr>
              <a:t>Project End Date: 31 Dec 2025</a:t>
            </a:r>
            <a:endParaRPr lang="en-IN" sz="1800" b="0" dirty="0" smtClean="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615" y="754419"/>
            <a:ext cx="1331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smtClean="0">
                <a:latin typeface="+mj-lt"/>
                <a:cs typeface="Times New Roman" pitchFamily="18" charset="0"/>
              </a:rPr>
              <a:t>MAIC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smtClean="0">
                <a:latin typeface="+mj-lt"/>
                <a:cs typeface="Times New Roman" pitchFamily="18" charset="0"/>
              </a:rPr>
              <a:t>- 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smtClean="0">
                <a:latin typeface="+mj-lt"/>
                <a:cs typeface="Times New Roman" pitchFamily="18" charset="0"/>
              </a:rPr>
              <a:t>EFINE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6" name="Titel 1"/>
          <p:cNvSpPr txBox="1">
            <a:spLocks/>
          </p:cNvSpPr>
          <p:nvPr/>
        </p:nvSpPr>
        <p:spPr>
          <a:xfrm>
            <a:off x="2905314" y="207983"/>
            <a:ext cx="354236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61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Text Box 109"/>
          <p:cNvSpPr txBox="1">
            <a:spLocks noChangeArrowheads="1"/>
          </p:cNvSpPr>
          <p:nvPr/>
        </p:nvSpPr>
        <p:spPr bwMode="auto">
          <a:xfrm>
            <a:off x="1199457" y="5511802"/>
            <a:ext cx="10513168" cy="5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buClr>
                <a:schemeClr val="accent3"/>
              </a:buClr>
            </a:pPr>
            <a:r>
              <a:rPr lang="en-US" altLang="en-US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Project </a:t>
            </a:r>
            <a:r>
              <a:rPr lang="en-US" altLang="en-US" sz="14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Statement</a:t>
            </a:r>
            <a:r>
              <a:rPr lang="en-US" sz="1400" b="0" dirty="0">
                <a:solidFill>
                  <a:schemeClr val="tx1">
                    <a:lumMod val="10000"/>
                  </a:schemeClr>
                </a:solidFill>
              </a:rPr>
              <a:t>: Find and control the </a:t>
            </a:r>
            <a:r>
              <a:rPr lang="en-US" sz="1400" b="0" dirty="0">
                <a:solidFill>
                  <a:srgbClr val="00B0F0"/>
                </a:solidFill>
              </a:rPr>
              <a:t>B</a:t>
            </a:r>
            <a:r>
              <a:rPr lang="en-US" sz="1400" b="0" dirty="0" smtClean="0">
                <a:solidFill>
                  <a:srgbClr val="00B0F0"/>
                </a:solidFill>
              </a:rPr>
              <a:t>ig </a:t>
            </a:r>
            <a:r>
              <a:rPr lang="en-US" sz="1400" b="0" dirty="0">
                <a:solidFill>
                  <a:srgbClr val="00B0F0"/>
                </a:solidFill>
              </a:rPr>
              <a:t>X</a:t>
            </a:r>
            <a:r>
              <a:rPr lang="en-US" sz="1400" b="0" dirty="0">
                <a:solidFill>
                  <a:schemeClr val="tx1">
                    <a:lumMod val="10000"/>
                  </a:schemeClr>
                </a:solidFill>
              </a:rPr>
              <a:t> for </a:t>
            </a:r>
            <a:r>
              <a:rPr lang="en-US" sz="1400" b="0" dirty="0" smtClean="0">
                <a:solidFill>
                  <a:srgbClr val="FF0000"/>
                </a:solidFill>
              </a:rPr>
              <a:t>BR10 VOP- Ring regulation1 test NOK </a:t>
            </a:r>
            <a:r>
              <a:rPr lang="en-US" sz="1400" b="0" dirty="0" smtClean="0">
                <a:solidFill>
                  <a:schemeClr val="tx1">
                    <a:lumMod val="10000"/>
                  </a:schemeClr>
                </a:solidFill>
              </a:rPr>
              <a:t>Found at </a:t>
            </a:r>
            <a:r>
              <a:rPr lang="en-US" sz="1400" b="0" dirty="0" smtClean="0">
                <a:solidFill>
                  <a:srgbClr val="FF0000"/>
                </a:solidFill>
              </a:rPr>
              <a:t>MF1 Line1 End of </a:t>
            </a:r>
            <a:r>
              <a:rPr lang="en-US" sz="1400" b="0" dirty="0">
                <a:solidFill>
                  <a:srgbClr val="FF0000"/>
                </a:solidFill>
              </a:rPr>
              <a:t>line dry </a:t>
            </a:r>
            <a:r>
              <a:rPr lang="en-US" sz="1400" b="0" dirty="0" smtClean="0">
                <a:solidFill>
                  <a:srgbClr val="FF0000"/>
                </a:solidFill>
              </a:rPr>
              <a:t>test station85 </a:t>
            </a:r>
            <a:r>
              <a:rPr lang="en-US" sz="1400" b="0" dirty="0" smtClean="0">
                <a:solidFill>
                  <a:schemeClr val="tx1">
                    <a:lumMod val="10000"/>
                  </a:schemeClr>
                </a:solidFill>
              </a:rPr>
              <a:t>to reduce </a:t>
            </a:r>
            <a:r>
              <a:rPr lang="en-US" sz="1400" b="0" dirty="0">
                <a:solidFill>
                  <a:schemeClr val="tx1">
                    <a:lumMod val="10000"/>
                  </a:schemeClr>
                </a:solidFill>
              </a:rPr>
              <a:t>the </a:t>
            </a:r>
            <a:r>
              <a:rPr lang="en-US" sz="1400" b="0" dirty="0" smtClean="0">
                <a:solidFill>
                  <a:srgbClr val="FF0000"/>
                </a:solidFill>
              </a:rPr>
              <a:t>FTQ rejection 1.49% and save </a:t>
            </a:r>
            <a:r>
              <a:rPr lang="en-US" sz="1400" b="0" dirty="0" smtClean="0">
                <a:solidFill>
                  <a:schemeClr val="tx1"/>
                </a:solidFill>
              </a:rPr>
              <a:t>1500 </a:t>
            </a:r>
            <a:r>
              <a:rPr lang="en-US" altLang="en-US" sz="1400" b="0" dirty="0" smtClean="0">
                <a:solidFill>
                  <a:schemeClr val="tx1"/>
                </a:solidFill>
                <a:latin typeface="Calibri"/>
                <a:cs typeface="Calibri" panose="020F0502020204030204" pitchFamily="34" charset="0"/>
              </a:rPr>
              <a:t>€ </a:t>
            </a:r>
            <a:r>
              <a:rPr lang="en-US" altLang="en-US" sz="1400" b="0" dirty="0" smtClean="0">
                <a:solidFill>
                  <a:schemeClr val="tx1"/>
                </a:solidFill>
                <a:cs typeface="Arial" panose="020B0604020202020204" pitchFamily="34" charset="0"/>
              </a:rPr>
              <a:t>estimated</a:t>
            </a:r>
            <a:r>
              <a:rPr lang="en-US" altLang="en-US" sz="1400" b="0" dirty="0" smtClean="0">
                <a:solidFill>
                  <a:schemeClr val="tx1"/>
                </a:solidFill>
                <a:latin typeface="Calibri"/>
                <a:cs typeface="Calibri" panose="020F0502020204030204" pitchFamily="34" charset="0"/>
              </a:rPr>
              <a:t>.</a:t>
            </a:r>
            <a:endParaRPr lang="de-DE" sz="1400" b="0" dirty="0">
              <a:solidFill>
                <a:schemeClr val="tx1"/>
              </a:solidFill>
            </a:endParaRPr>
          </a:p>
        </p:txBody>
      </p:sp>
      <p:sp>
        <p:nvSpPr>
          <p:cNvPr id="55" name="Rectangle 12">
            <a:extLst>
              <a:ext uri="{FF2B5EF4-FFF2-40B4-BE49-F238E27FC236}">
                <a16:creationId xmlns:a16="http://schemas.microsoft.com/office/drawing/2014/main" id="{CA2EB52E-0339-426F-AAE0-CDA513B3A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1364" y="691128"/>
            <a:ext cx="3679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sz="260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Project Statement</a:t>
            </a:r>
            <a:endParaRPr lang="en-US" sz="2600" baseline="3000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6" name="Text Box 120">
            <a:extLst>
              <a:ext uri="{FF2B5EF4-FFF2-40B4-BE49-F238E27FC236}">
                <a16:creationId xmlns:a16="http://schemas.microsoft.com/office/drawing/2014/main" id="{2658C02B-F288-434C-A066-F21A3B764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712" y="1344465"/>
            <a:ext cx="2874962" cy="566737"/>
          </a:xfrm>
          <a:prstGeom prst="rect">
            <a:avLst/>
          </a:prstGeom>
          <a:solidFill>
            <a:schemeClr val="bg1"/>
          </a:solidFill>
          <a:ln w="28575">
            <a:solidFill>
              <a:srgbClr val="777777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b="0" dirty="0" smtClean="0">
                <a:solidFill>
                  <a:srgbClr val="FF0000"/>
                </a:solidFill>
              </a:rPr>
              <a:t>BR10 VOP</a:t>
            </a:r>
            <a:endParaRPr lang="de-DE" sz="1100" b="0" dirty="0">
              <a:solidFill>
                <a:srgbClr val="FF0000"/>
              </a:solidFill>
            </a:endParaRPr>
          </a:p>
        </p:txBody>
      </p:sp>
      <p:sp>
        <p:nvSpPr>
          <p:cNvPr id="57" name="Text Box 120">
            <a:extLst>
              <a:ext uri="{FF2B5EF4-FFF2-40B4-BE49-F238E27FC236}">
                <a16:creationId xmlns:a16="http://schemas.microsoft.com/office/drawing/2014/main" id="{147791DB-D5CC-4197-8869-144C31091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712" y="2396542"/>
            <a:ext cx="2874962" cy="566737"/>
          </a:xfrm>
          <a:prstGeom prst="rect">
            <a:avLst/>
          </a:prstGeom>
          <a:solidFill>
            <a:schemeClr val="bg1"/>
          </a:solidFill>
          <a:ln w="28575">
            <a:solidFill>
              <a:srgbClr val="777777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de-DE"/>
            </a:defPPr>
            <a:lvl1pPr>
              <a:defRPr sz="1400" b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dirty="0"/>
              <a:t>Ring </a:t>
            </a:r>
            <a:r>
              <a:rPr lang="en-US" dirty="0" smtClean="0"/>
              <a:t>regulation1 </a:t>
            </a:r>
            <a:r>
              <a:rPr lang="en-US" dirty="0"/>
              <a:t>test not OK</a:t>
            </a:r>
            <a:endParaRPr lang="de-DE" dirty="0"/>
          </a:p>
        </p:txBody>
      </p:sp>
      <p:sp>
        <p:nvSpPr>
          <p:cNvPr id="58" name="Text Box 120">
            <a:extLst>
              <a:ext uri="{FF2B5EF4-FFF2-40B4-BE49-F238E27FC236}">
                <a16:creationId xmlns:a16="http://schemas.microsoft.com/office/drawing/2014/main" id="{27E03DF2-D1E8-403C-B9F3-58F62E7E8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712" y="3280414"/>
            <a:ext cx="2874962" cy="566737"/>
          </a:xfrm>
          <a:prstGeom prst="rect">
            <a:avLst/>
          </a:prstGeom>
          <a:solidFill>
            <a:schemeClr val="bg1"/>
          </a:solidFill>
          <a:ln w="28575">
            <a:solidFill>
              <a:srgbClr val="777777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buClr>
                <a:schemeClr val="accent3"/>
              </a:buClr>
            </a:pPr>
            <a:r>
              <a:rPr lang="en-US" sz="1400" b="0" dirty="0" smtClean="0">
                <a:solidFill>
                  <a:srgbClr val="FF0000"/>
                </a:solidFill>
              </a:rPr>
              <a:t>MF1: Line1 End </a:t>
            </a:r>
            <a:r>
              <a:rPr lang="en-US" sz="1400" b="0" dirty="0">
                <a:solidFill>
                  <a:srgbClr val="FF0000"/>
                </a:solidFill>
              </a:rPr>
              <a:t>of line dry test </a:t>
            </a:r>
            <a:r>
              <a:rPr lang="en-US" sz="1400" b="0" dirty="0" smtClean="0">
                <a:solidFill>
                  <a:srgbClr val="FF0000"/>
                </a:solidFill>
              </a:rPr>
              <a:t>bench </a:t>
            </a:r>
            <a:r>
              <a:rPr lang="en-US" sz="1400" b="0" dirty="0">
                <a:solidFill>
                  <a:srgbClr val="FF0000"/>
                </a:solidFill>
              </a:rPr>
              <a:t>s</a:t>
            </a:r>
            <a:r>
              <a:rPr lang="en-US" sz="1400" b="0" dirty="0" smtClean="0">
                <a:solidFill>
                  <a:srgbClr val="FF0000"/>
                </a:solidFill>
              </a:rPr>
              <a:t>tation </a:t>
            </a:r>
            <a:r>
              <a:rPr lang="en-US" sz="1400" b="0" dirty="0">
                <a:solidFill>
                  <a:srgbClr val="FF0000"/>
                </a:solidFill>
              </a:rPr>
              <a:t>85</a:t>
            </a:r>
            <a:endParaRPr lang="de-DE" sz="1400" b="0" dirty="0">
              <a:solidFill>
                <a:srgbClr val="FF0000"/>
              </a:solidFill>
            </a:endParaRPr>
          </a:p>
        </p:txBody>
      </p:sp>
      <p:sp>
        <p:nvSpPr>
          <p:cNvPr id="59" name="Text Box 120">
            <a:extLst>
              <a:ext uri="{FF2B5EF4-FFF2-40B4-BE49-F238E27FC236}">
                <a16:creationId xmlns:a16="http://schemas.microsoft.com/office/drawing/2014/main" id="{CA66CF5F-5B6F-4EA1-A28F-CE275871B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712" y="4253656"/>
            <a:ext cx="2874962" cy="566738"/>
          </a:xfrm>
          <a:prstGeom prst="rect">
            <a:avLst/>
          </a:prstGeom>
          <a:solidFill>
            <a:schemeClr val="bg1"/>
          </a:solidFill>
          <a:ln w="28575">
            <a:solidFill>
              <a:srgbClr val="777777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>
              <a:buClr>
                <a:schemeClr val="accent3"/>
              </a:buClr>
            </a:pPr>
            <a:r>
              <a:rPr lang="en-US" sz="1400" b="0" dirty="0" smtClean="0">
                <a:solidFill>
                  <a:srgbClr val="FF0000"/>
                </a:solidFill>
              </a:rPr>
              <a:t>FTQ rejection 1.49%</a:t>
            </a:r>
            <a:endParaRPr lang="de-DE" sz="1400" b="0" dirty="0">
              <a:solidFill>
                <a:srgbClr val="FF0000"/>
              </a:solidFill>
            </a:endParaRPr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8D18C07A-C3DA-4561-BF0C-1208C1328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657" y="1371737"/>
            <a:ext cx="835660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90500" indent="-1905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marL="0" indent="0"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solidFill>
                  <a:srgbClr val="C00000"/>
                </a:solidFill>
                <a:latin typeface="+mj-lt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+mj-lt"/>
              </a:rPr>
              <a:t>roduct </a:t>
            </a:r>
            <a:r>
              <a:rPr lang="en-US" altLang="en-US" sz="2000" b="0" dirty="0">
                <a:solidFill>
                  <a:srgbClr val="000000"/>
                </a:solidFill>
                <a:latin typeface="+mj-lt"/>
              </a:rPr>
              <a:t>or</a:t>
            </a:r>
            <a:r>
              <a:rPr lang="en-US" altLang="en-US" sz="20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en-US" sz="2400" dirty="0">
                <a:solidFill>
                  <a:srgbClr val="C00000"/>
                </a:solidFill>
                <a:latin typeface="+mj-lt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+mj-lt"/>
              </a:rPr>
              <a:t>rocess </a:t>
            </a:r>
            <a:r>
              <a:rPr lang="en-US" altLang="en-US" sz="2000" b="0" dirty="0">
                <a:solidFill>
                  <a:srgbClr val="000000"/>
                </a:solidFill>
                <a:latin typeface="+mj-lt"/>
              </a:rPr>
              <a:t>that has the problem.</a:t>
            </a:r>
          </a:p>
          <a:p>
            <a:pPr marL="0" indent="0">
              <a:buSzPct val="100000"/>
              <a:defRPr/>
            </a:pPr>
            <a:endParaRPr lang="en-US" altLang="en-US" sz="2000" dirty="0">
              <a:solidFill>
                <a:srgbClr val="000000"/>
              </a:solidFill>
              <a:latin typeface="+mj-lt"/>
            </a:endParaRPr>
          </a:p>
          <a:p>
            <a:pPr marL="0" indent="0">
              <a:buSzPct val="100000"/>
              <a:defRPr/>
            </a:pPr>
            <a:endParaRPr lang="en-US" altLang="en-US" sz="2000" dirty="0">
              <a:solidFill>
                <a:srgbClr val="000000"/>
              </a:solidFill>
              <a:latin typeface="+mj-lt"/>
            </a:endParaRPr>
          </a:p>
          <a:p>
            <a:pPr marL="0" indent="0">
              <a:buSzPct val="100000"/>
              <a:defRPr/>
            </a:pPr>
            <a:r>
              <a:rPr lang="en-US" altLang="en-US" sz="2400" dirty="0">
                <a:solidFill>
                  <a:srgbClr val="C00000"/>
                </a:solidFill>
                <a:latin typeface="+mj-lt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+mj-lt"/>
              </a:rPr>
              <a:t>roblem </a:t>
            </a:r>
            <a:r>
              <a:rPr lang="en-US" altLang="en-US" sz="2000" b="0" dirty="0">
                <a:solidFill>
                  <a:srgbClr val="000000"/>
                </a:solidFill>
                <a:latin typeface="+mj-lt"/>
              </a:rPr>
              <a:t>description</a:t>
            </a: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solidFill>
                <a:srgbClr val="000000"/>
              </a:solidFill>
              <a:latin typeface="+mj-lt"/>
            </a:endParaRP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solidFill>
                <a:srgbClr val="000000"/>
              </a:solidFill>
              <a:latin typeface="+mj-lt"/>
            </a:endParaRPr>
          </a:p>
          <a:p>
            <a:pPr marL="0" indent="0">
              <a:buSzPct val="100000"/>
              <a:defRPr/>
            </a:pPr>
            <a:r>
              <a:rPr lang="en-US" altLang="en-US" sz="2400" dirty="0">
                <a:solidFill>
                  <a:srgbClr val="C00000"/>
                </a:solidFill>
                <a:latin typeface="+mj-lt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+mj-lt"/>
              </a:rPr>
              <a:t>lace </a:t>
            </a:r>
            <a:r>
              <a:rPr lang="en-US" altLang="en-US" sz="2000" b="0" dirty="0">
                <a:solidFill>
                  <a:srgbClr val="000000"/>
                </a:solidFill>
                <a:latin typeface="+mj-lt"/>
              </a:rPr>
              <a:t>where the problem is discovered</a:t>
            </a: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solidFill>
                <a:srgbClr val="000000"/>
              </a:solidFill>
              <a:latin typeface="+mj-lt"/>
            </a:endParaRP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solidFill>
                <a:srgbClr val="000000"/>
              </a:solidFill>
              <a:latin typeface="+mj-lt"/>
            </a:endParaRPr>
          </a:p>
          <a:p>
            <a:pPr marL="0" indent="0">
              <a:buSzPct val="100000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+mj-lt"/>
              </a:rPr>
              <a:t>How is the </a:t>
            </a:r>
            <a:r>
              <a:rPr lang="en-US" altLang="en-US" sz="2400" dirty="0">
                <a:solidFill>
                  <a:srgbClr val="C00000"/>
                </a:solidFill>
                <a:latin typeface="+mj-lt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latin typeface="+mj-lt"/>
              </a:rPr>
              <a:t>ain </a:t>
            </a:r>
            <a:r>
              <a:rPr lang="en-US" altLang="en-US" sz="2000" b="0" dirty="0">
                <a:solidFill>
                  <a:srgbClr val="000000"/>
                </a:solidFill>
                <a:latin typeface="+mj-lt"/>
              </a:rPr>
              <a:t>measured (metric)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615" y="754419"/>
            <a:ext cx="1331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MAIC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latin typeface="+mj-lt"/>
                <a:cs typeface="Times New Roman" pitchFamily="18" charset="0"/>
              </a:rPr>
              <a:t>EFINE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2905314" y="207983"/>
            <a:ext cx="3694741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03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860" y="1187517"/>
            <a:ext cx="5686425" cy="512445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312" y="1124744"/>
            <a:ext cx="4521963" cy="3024336"/>
          </a:xfrm>
          <a:prstGeom prst="rect">
            <a:avLst/>
          </a:prstGeom>
        </p:spPr>
      </p:pic>
      <p:cxnSp>
        <p:nvCxnSpPr>
          <p:cNvPr id="35" name="Elbow Connector 34"/>
          <p:cNvCxnSpPr>
            <a:stCxn id="36" idx="6"/>
          </p:cNvCxnSpPr>
          <p:nvPr/>
        </p:nvCxnSpPr>
        <p:spPr>
          <a:xfrm>
            <a:off x="479376" y="1659762"/>
            <a:ext cx="3221613" cy="600231"/>
          </a:xfrm>
          <a:prstGeom prst="bentConnector3">
            <a:avLst>
              <a:gd name="adj1" fmla="val 72005"/>
            </a:avLst>
          </a:prstGeom>
          <a:ln w="38100" cap="rnd">
            <a:solidFill>
              <a:schemeClr val="bg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63352" y="1551750"/>
            <a:ext cx="216024" cy="216024"/>
          </a:xfrm>
          <a:prstGeom prst="ellipse">
            <a:avLst/>
          </a:prstGeom>
          <a:solidFill>
            <a:srgbClr val="0082C8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3647728" y="2259993"/>
            <a:ext cx="0" cy="580162"/>
          </a:xfrm>
          <a:prstGeom prst="straightConnector1">
            <a:avLst/>
          </a:prstGeom>
          <a:ln w="38100" cap="rnd">
            <a:solidFill>
              <a:schemeClr val="bg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/>
          <p:nvPr/>
        </p:nvCxnSpPr>
        <p:spPr>
          <a:xfrm rot="16200000" flipH="1">
            <a:off x="1446417" y="1968317"/>
            <a:ext cx="1337190" cy="720080"/>
          </a:xfrm>
          <a:prstGeom prst="bentConnector3">
            <a:avLst>
              <a:gd name="adj1" fmla="val 50000"/>
            </a:avLst>
          </a:prstGeom>
          <a:ln w="38100" cap="rnd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475052" y="2916449"/>
            <a:ext cx="1061373" cy="0"/>
          </a:xfrm>
          <a:prstGeom prst="straightConnector1">
            <a:avLst/>
          </a:prstGeom>
          <a:ln w="38100" cap="rnd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700989" y="3140968"/>
            <a:ext cx="594811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2062461" y="1187517"/>
            <a:ext cx="594811" cy="2880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Line Callout 1 44"/>
          <p:cNvSpPr/>
          <p:nvPr/>
        </p:nvSpPr>
        <p:spPr>
          <a:xfrm>
            <a:off x="635622" y="2655609"/>
            <a:ext cx="1594115" cy="521680"/>
          </a:xfrm>
          <a:prstGeom prst="borderCallout1">
            <a:avLst>
              <a:gd name="adj1" fmla="val -19767"/>
              <a:gd name="adj2" fmla="val 49029"/>
              <a:gd name="adj3" fmla="val -264838"/>
              <a:gd name="adj4" fmla="val 91977"/>
            </a:avLst>
          </a:prstGeom>
          <a:ln w="38100" cap="rnd">
            <a:solidFill>
              <a:srgbClr val="0070C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RR1 Test Pressure-</a:t>
            </a:r>
            <a:r>
              <a:rPr lang="en-US" sz="1400" b="0" dirty="0" err="1" smtClean="0">
                <a:solidFill>
                  <a:srgbClr val="00B0F0"/>
                </a:solidFill>
              </a:rPr>
              <a:t>Mone</a:t>
            </a:r>
            <a:r>
              <a:rPr lang="en-US" sz="1400" b="0" dirty="0" smtClean="0">
                <a:solidFill>
                  <a:srgbClr val="00B0F0"/>
                </a:solidFill>
              </a:rPr>
              <a:t> [Y</a:t>
            </a:r>
            <a:r>
              <a:rPr lang="en-US" sz="1400" b="0" dirty="0">
                <a:solidFill>
                  <a:srgbClr val="00B0F0"/>
                </a:solidFill>
              </a:rPr>
              <a:t>]</a:t>
            </a:r>
            <a:endParaRPr lang="en-IN" sz="1400" b="0" dirty="0">
              <a:solidFill>
                <a:srgbClr val="00B0F0"/>
              </a:solidFill>
            </a:endParaRPr>
          </a:p>
        </p:txBody>
      </p:sp>
      <p:pic>
        <p:nvPicPr>
          <p:cNvPr id="34853" name="Picture 348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860" y="1187517"/>
            <a:ext cx="5686425" cy="5124450"/>
          </a:xfrm>
          <a:prstGeom prst="rect">
            <a:avLst/>
          </a:prstGeom>
        </p:spPr>
      </p:pic>
      <p:cxnSp>
        <p:nvCxnSpPr>
          <p:cNvPr id="75" name="Elbow Connector 74"/>
          <p:cNvCxnSpPr/>
          <p:nvPr/>
        </p:nvCxnSpPr>
        <p:spPr>
          <a:xfrm rot="5400000" flipH="1" flipV="1">
            <a:off x="7896200" y="4869160"/>
            <a:ext cx="936104" cy="360040"/>
          </a:xfrm>
          <a:prstGeom prst="bentConnector3">
            <a:avLst>
              <a:gd name="adj1" fmla="val 56585"/>
            </a:avLst>
          </a:prstGeom>
          <a:ln w="38100" cap="rnd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863" name="Picture 34862"/>
          <p:cNvPicPr>
            <a:picLocks noChangeAspect="1"/>
          </p:cNvPicPr>
          <p:nvPr/>
        </p:nvPicPr>
        <p:blipFill rotWithShape="1">
          <a:blip r:embed="rId6"/>
          <a:srcRect t="11831" b="750"/>
          <a:stretch/>
        </p:blipFill>
        <p:spPr>
          <a:xfrm>
            <a:off x="5306860" y="1187517"/>
            <a:ext cx="5685489" cy="5112569"/>
          </a:xfrm>
          <a:prstGeom prst="rect">
            <a:avLst/>
          </a:prstGeom>
        </p:spPr>
      </p:pic>
      <p:pic>
        <p:nvPicPr>
          <p:cNvPr id="140" name="Picture 1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19" y="4197773"/>
            <a:ext cx="3086137" cy="1995885"/>
          </a:xfrm>
          <a:prstGeom prst="rect">
            <a:avLst/>
          </a:prstGeom>
        </p:spPr>
      </p:pic>
      <p:cxnSp>
        <p:nvCxnSpPr>
          <p:cNvPr id="87" name="Elbow Connector 86"/>
          <p:cNvCxnSpPr>
            <a:stCxn id="43" idx="1"/>
            <a:endCxn id="88" idx="1"/>
          </p:cNvCxnSpPr>
          <p:nvPr/>
        </p:nvCxnSpPr>
        <p:spPr>
          <a:xfrm rot="10800000" flipV="1">
            <a:off x="767409" y="1331532"/>
            <a:ext cx="1295053" cy="4791653"/>
          </a:xfrm>
          <a:prstGeom prst="bentConnector3">
            <a:avLst>
              <a:gd name="adj1" fmla="val 153414"/>
            </a:avLst>
          </a:prstGeom>
          <a:ln w="12700" cap="rnd">
            <a:solidFill>
              <a:schemeClr val="bg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67408" y="6063060"/>
            <a:ext cx="581209" cy="120251"/>
          </a:xfrm>
          <a:prstGeom prst="rect">
            <a:avLst/>
          </a:prstGeom>
          <a:ln w="12700" cap="rnd">
            <a:solidFill>
              <a:schemeClr val="bg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Rectangle 143"/>
          <p:cNvSpPr/>
          <p:nvPr/>
        </p:nvSpPr>
        <p:spPr>
          <a:xfrm>
            <a:off x="235178" y="5075644"/>
            <a:ext cx="137774" cy="528178"/>
          </a:xfrm>
          <a:prstGeom prst="rect">
            <a:avLst/>
          </a:prstGeom>
          <a:ln w="12700" cap="rnd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5" name="Elbow Connector 144"/>
          <p:cNvCxnSpPr>
            <a:stCxn id="42" idx="1"/>
          </p:cNvCxnSpPr>
          <p:nvPr/>
        </p:nvCxnSpPr>
        <p:spPr>
          <a:xfrm rot="10800000" flipV="1">
            <a:off x="378803" y="3284983"/>
            <a:ext cx="3322186" cy="1910731"/>
          </a:xfrm>
          <a:prstGeom prst="bentConnector3">
            <a:avLst>
              <a:gd name="adj1" fmla="val 50000"/>
            </a:avLst>
          </a:prstGeom>
          <a:ln w="12700" cap="rnd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6745196" y="5274888"/>
            <a:ext cx="696491" cy="323920"/>
          </a:xfrm>
          <a:prstGeom prst="straightConnector1">
            <a:avLst/>
          </a:prstGeom>
          <a:ln w="38100" cap="rnd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1009" y="1186308"/>
            <a:ext cx="5677635" cy="5110249"/>
          </a:xfrm>
          <a:prstGeom prst="rect">
            <a:avLst/>
          </a:prstGeom>
        </p:spPr>
      </p:pic>
      <p:cxnSp>
        <p:nvCxnSpPr>
          <p:cNvPr id="71" name="Elbow Connector 70"/>
          <p:cNvCxnSpPr/>
          <p:nvPr/>
        </p:nvCxnSpPr>
        <p:spPr>
          <a:xfrm>
            <a:off x="3800128" y="2942896"/>
            <a:ext cx="2799928" cy="2214296"/>
          </a:xfrm>
          <a:prstGeom prst="bentConnector3">
            <a:avLst>
              <a:gd name="adj1" fmla="val 59541"/>
            </a:avLst>
          </a:prstGeom>
          <a:ln w="38100" cap="rnd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flipH="1">
            <a:off x="7680176" y="2850887"/>
            <a:ext cx="648072" cy="1010161"/>
          </a:xfrm>
          <a:prstGeom prst="straightConnector1">
            <a:avLst/>
          </a:prstGeom>
          <a:ln w="38100" cap="rnd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H="1">
            <a:off x="7860196" y="2865446"/>
            <a:ext cx="648072" cy="1010161"/>
          </a:xfrm>
          <a:prstGeom prst="straightConnector1">
            <a:avLst/>
          </a:prstGeom>
          <a:ln w="38100" cap="rnd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8040443" y="2904241"/>
            <a:ext cx="648072" cy="1010161"/>
          </a:xfrm>
          <a:prstGeom prst="straightConnector1">
            <a:avLst/>
          </a:prstGeom>
          <a:ln w="38100" cap="rnd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ular Callout 128"/>
          <p:cNvSpPr/>
          <p:nvPr/>
        </p:nvSpPr>
        <p:spPr>
          <a:xfrm>
            <a:off x="9289848" y="1896308"/>
            <a:ext cx="1296144" cy="432048"/>
          </a:xfrm>
          <a:prstGeom prst="wedgeRectCallout">
            <a:avLst>
              <a:gd name="adj1" fmla="val -83624"/>
              <a:gd name="adj2" fmla="val 12728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Magnet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0" name="Rectangular Callout 129"/>
          <p:cNvSpPr/>
          <p:nvPr/>
        </p:nvSpPr>
        <p:spPr>
          <a:xfrm>
            <a:off x="9180319" y="954676"/>
            <a:ext cx="1296144" cy="432048"/>
          </a:xfrm>
          <a:prstGeom prst="wedgeRectCallout">
            <a:avLst>
              <a:gd name="adj1" fmla="val -71694"/>
              <a:gd name="adj2" fmla="val 124286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Load Cell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 rot="10345145">
            <a:off x="8033233" y="1868117"/>
            <a:ext cx="889360" cy="29599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isometricOffAxis1Top">
              <a:rot lat="19775517" lon="21449529" rev="21591604"/>
            </a:camera>
            <a:lightRig rig="soft" dir="t">
              <a:rot lat="0" lon="0" rev="0"/>
            </a:lightRig>
          </a:scene3d>
          <a:sp3d z="6350" extrusionH="838200" prstMaterial="matte">
            <a:bevelT w="1016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Oval 132"/>
          <p:cNvSpPr/>
          <p:nvPr/>
        </p:nvSpPr>
        <p:spPr>
          <a:xfrm rot="10345145">
            <a:off x="8114376" y="2239824"/>
            <a:ext cx="766646" cy="295997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isometricOffAxis1Top">
              <a:rot lat="19775517" lon="21449529" rev="21591604"/>
            </a:camera>
            <a:lightRig rig="soft" dir="t">
              <a:rot lat="0" lon="0" rev="0"/>
            </a:lightRig>
          </a:scene3d>
          <a:sp3d z="6350" extrusionH="438150" prstMaterial="matte">
            <a:bevelT w="1016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4" name="Curved Connector 133"/>
          <p:cNvCxnSpPr/>
          <p:nvPr/>
        </p:nvCxnSpPr>
        <p:spPr>
          <a:xfrm rot="15745145" flipH="1" flipV="1">
            <a:off x="8288863" y="2613664"/>
            <a:ext cx="645320" cy="360041"/>
          </a:xfrm>
          <a:prstGeom prst="curvedConnector3">
            <a:avLst/>
          </a:prstGeom>
          <a:ln w="12700" cap="rnd">
            <a:solidFill>
              <a:srgbClr val="FFFF00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urved Connector 134"/>
          <p:cNvCxnSpPr>
            <a:stCxn id="133" idx="0"/>
          </p:cNvCxnSpPr>
          <p:nvPr/>
        </p:nvCxnSpPr>
        <p:spPr>
          <a:xfrm rot="15745145" flipH="1" flipV="1">
            <a:off x="8192881" y="2631762"/>
            <a:ext cx="435378" cy="273135"/>
          </a:xfrm>
          <a:prstGeom prst="curvedConnector3">
            <a:avLst/>
          </a:prstGeom>
          <a:ln w="12700" cap="rnd">
            <a:solidFill>
              <a:srgbClr val="FFFF00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urved Connector 135"/>
          <p:cNvCxnSpPr/>
          <p:nvPr/>
        </p:nvCxnSpPr>
        <p:spPr>
          <a:xfrm rot="15745145" flipH="1" flipV="1">
            <a:off x="8047092" y="2573427"/>
            <a:ext cx="349016" cy="245390"/>
          </a:xfrm>
          <a:prstGeom prst="curvedConnector3">
            <a:avLst/>
          </a:prstGeom>
          <a:ln w="12700" cap="rnd">
            <a:solidFill>
              <a:srgbClr val="FFFF00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/>
          <p:cNvCxnSpPr>
            <a:stCxn id="133" idx="2"/>
          </p:cNvCxnSpPr>
          <p:nvPr/>
        </p:nvCxnSpPr>
        <p:spPr>
          <a:xfrm rot="21145145" flipH="1">
            <a:off x="8692931" y="2349491"/>
            <a:ext cx="239553" cy="815062"/>
          </a:xfrm>
          <a:prstGeom prst="curvedConnector4">
            <a:avLst>
              <a:gd name="adj1" fmla="val -13939"/>
              <a:gd name="adj2" fmla="val 55193"/>
            </a:avLst>
          </a:prstGeom>
          <a:ln w="12700" cap="rnd">
            <a:solidFill>
              <a:srgbClr val="FFFF00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/>
          <p:cNvCxnSpPr>
            <a:stCxn id="132" idx="4"/>
          </p:cNvCxnSpPr>
          <p:nvPr/>
        </p:nvCxnSpPr>
        <p:spPr>
          <a:xfrm rot="16200000" flipH="1" flipV="1">
            <a:off x="5655711" y="509499"/>
            <a:ext cx="1442765" cy="4162588"/>
          </a:xfrm>
          <a:prstGeom prst="curvedConnector4">
            <a:avLst>
              <a:gd name="adj1" fmla="val -15845"/>
              <a:gd name="adj2" fmla="val 5510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Freeform 77"/>
          <p:cNvSpPr/>
          <p:nvPr/>
        </p:nvSpPr>
        <p:spPr>
          <a:xfrm>
            <a:off x="6109207" y="2348881"/>
            <a:ext cx="2567694" cy="2808312"/>
          </a:xfrm>
          <a:custGeom>
            <a:avLst/>
            <a:gdLst>
              <a:gd name="connsiteX0" fmla="*/ 0 w 2383605"/>
              <a:gd name="connsiteY0" fmla="*/ 2804845 h 2804845"/>
              <a:gd name="connsiteX1" fmla="*/ 195209 w 2383605"/>
              <a:gd name="connsiteY1" fmla="*/ 2321959 h 2804845"/>
              <a:gd name="connsiteX2" fmla="*/ 123290 w 2383605"/>
              <a:gd name="connsiteY2" fmla="*/ 1910993 h 2804845"/>
              <a:gd name="connsiteX3" fmla="*/ 61645 w 2383605"/>
              <a:gd name="connsiteY3" fmla="*/ 1428108 h 2804845"/>
              <a:gd name="connsiteX4" fmla="*/ 205483 w 2383605"/>
              <a:gd name="connsiteY4" fmla="*/ 1037690 h 2804845"/>
              <a:gd name="connsiteX5" fmla="*/ 534256 w 2383605"/>
              <a:gd name="connsiteY5" fmla="*/ 719191 h 2804845"/>
              <a:gd name="connsiteX6" fmla="*/ 1037690 w 2383605"/>
              <a:gd name="connsiteY6" fmla="*/ 431514 h 2804845"/>
              <a:gd name="connsiteX7" fmla="*/ 1510301 w 2383605"/>
              <a:gd name="connsiteY7" fmla="*/ 267128 h 2804845"/>
              <a:gd name="connsiteX8" fmla="*/ 1952090 w 2383605"/>
              <a:gd name="connsiteY8" fmla="*/ 246579 h 2804845"/>
              <a:gd name="connsiteX9" fmla="*/ 2065106 w 2383605"/>
              <a:gd name="connsiteY9" fmla="*/ 51370 h 2804845"/>
              <a:gd name="connsiteX10" fmla="*/ 2260315 w 2383605"/>
              <a:gd name="connsiteY10" fmla="*/ 0 h 2804845"/>
              <a:gd name="connsiteX11" fmla="*/ 2383605 w 2383605"/>
              <a:gd name="connsiteY11" fmla="*/ 92467 h 280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83605" h="2804845">
                <a:moveTo>
                  <a:pt x="0" y="2804845"/>
                </a:moveTo>
                <a:lnTo>
                  <a:pt x="195209" y="2321959"/>
                </a:lnTo>
                <a:lnTo>
                  <a:pt x="123290" y="1910993"/>
                </a:lnTo>
                <a:lnTo>
                  <a:pt x="61645" y="1428108"/>
                </a:lnTo>
                <a:lnTo>
                  <a:pt x="205483" y="1037690"/>
                </a:lnTo>
                <a:lnTo>
                  <a:pt x="534256" y="719191"/>
                </a:lnTo>
                <a:lnTo>
                  <a:pt x="1037690" y="431514"/>
                </a:lnTo>
                <a:lnTo>
                  <a:pt x="1510301" y="267128"/>
                </a:lnTo>
                <a:lnTo>
                  <a:pt x="1952090" y="246579"/>
                </a:lnTo>
                <a:lnTo>
                  <a:pt x="2065106" y="51370"/>
                </a:lnTo>
                <a:lnTo>
                  <a:pt x="2260315" y="0"/>
                </a:lnTo>
                <a:lnTo>
                  <a:pt x="2383605" y="92467"/>
                </a:lnTo>
              </a:path>
            </a:pathLst>
          </a:custGeom>
          <a:ln w="38100" cap="rnd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itel 1"/>
          <p:cNvSpPr txBox="1">
            <a:spLocks/>
          </p:cNvSpPr>
          <p:nvPr/>
        </p:nvSpPr>
        <p:spPr>
          <a:xfrm>
            <a:off x="2905314" y="207983"/>
            <a:ext cx="3694741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4479" y="4040802"/>
            <a:ext cx="1709568" cy="2126094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85C6DF88-4AA6-4ED0-8270-559D229E288D}"/>
              </a:ext>
            </a:extLst>
          </p:cNvPr>
          <p:cNvSpPr txBox="1">
            <a:spLocks/>
          </p:cNvSpPr>
          <p:nvPr/>
        </p:nvSpPr>
        <p:spPr>
          <a:xfrm>
            <a:off x="119336" y="743905"/>
            <a:ext cx="9609138" cy="5248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fontAlgn="auto">
              <a:lnSpc>
                <a:spcPts val="2000"/>
              </a:lnSpc>
              <a:spcAft>
                <a:spcPts val="0"/>
              </a:spcAft>
            </a:pPr>
            <a:r>
              <a:rPr lang="en-US" altLang="en-US" smtClean="0">
                <a:latin typeface="+mn-lt"/>
              </a:rPr>
              <a:t>System Description-Cartooning</a:t>
            </a:r>
            <a:endParaRPr lang="en-US" altLang="en-US" dirty="0">
              <a:latin typeface="+mn-lt"/>
            </a:endParaRPr>
          </a:p>
        </p:txBody>
      </p:sp>
      <p:cxnSp>
        <p:nvCxnSpPr>
          <p:cNvPr id="50" name="Elbow Connector 49"/>
          <p:cNvCxnSpPr/>
          <p:nvPr/>
        </p:nvCxnSpPr>
        <p:spPr>
          <a:xfrm>
            <a:off x="3690220" y="2779946"/>
            <a:ext cx="3701088" cy="2559783"/>
          </a:xfrm>
          <a:prstGeom prst="bentConnector3">
            <a:avLst>
              <a:gd name="adj1" fmla="val 83188"/>
            </a:avLst>
          </a:prstGeom>
          <a:ln w="38100" cap="rnd">
            <a:solidFill>
              <a:schemeClr val="bg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/>
          <p:nvPr/>
        </p:nvCxnSpPr>
        <p:spPr>
          <a:xfrm>
            <a:off x="3647728" y="2790496"/>
            <a:ext cx="3672408" cy="2006656"/>
          </a:xfrm>
          <a:prstGeom prst="bentConnector3">
            <a:avLst>
              <a:gd name="adj1" fmla="val 84411"/>
            </a:avLst>
          </a:prstGeom>
          <a:ln w="38100" cap="rnd">
            <a:solidFill>
              <a:schemeClr val="bg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615" y="754419"/>
            <a:ext cx="1331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MAIC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latin typeface="+mj-lt"/>
                <a:cs typeface="Times New Roman" pitchFamily="18" charset="0"/>
              </a:rPr>
              <a:t>EFINE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74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repeatCount="indefinite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repeatCount="indefinite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repeatCount="indefinite" fill="remove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22" presetClass="entr" presetSubtype="8" repeatCount="indefinite" fill="remove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repeatCount="indefinite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repeatCount="indefinite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repeatCount="indefinite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repeatCount="indefinite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29" grpId="0" animBg="1"/>
      <p:bldP spid="130" grpId="0" animBg="1"/>
      <p:bldP spid="132" grpId="0" animBg="1"/>
      <p:bldP spid="133" grpId="0" animBg="1"/>
      <p:bldP spid="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43">
            <a:extLst>
              <a:ext uri="{FF2B5EF4-FFF2-40B4-BE49-F238E27FC236}">
                <a16:creationId xmlns:a16="http://schemas.microsoft.com/office/drawing/2014/main" id="{8F843AA9-EF0E-4CFD-9EBD-DB82026AF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4" y="1162051"/>
            <a:ext cx="1238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sng"/>
              <a:t>  </a:t>
            </a:r>
          </a:p>
        </p:txBody>
      </p:sp>
      <p:sp>
        <p:nvSpPr>
          <p:cNvPr id="26674" name="Rectangle 3">
            <a:extLst>
              <a:ext uri="{FF2B5EF4-FFF2-40B4-BE49-F238E27FC236}">
                <a16:creationId xmlns:a16="http://schemas.microsoft.com/office/drawing/2014/main" id="{874D912C-3667-43DC-9289-BE7914C62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88" y="1933965"/>
            <a:ext cx="3998812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90500" indent="-1905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en-US" sz="1300" b="0" dirty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Strategy decision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 eaLnBrk="1" hangingPunct="1">
              <a:buSzPct val="100000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 eaLnBrk="1" hangingPunct="1">
              <a:buSzPct val="100000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en-US" sz="1300" b="0" dirty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Functional testing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 eaLnBrk="1" hangingPunct="1">
              <a:buSzPct val="100000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en-US" sz="1300" dirty="0" err="1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Mone</a:t>
            </a:r>
            <a:r>
              <a:rPr lang="en-US" altLang="en-US" sz="1300" dirty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[Y]:</a:t>
            </a:r>
            <a:r>
              <a:rPr lang="en-US" altLang="en-US" sz="1300" b="0" dirty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sz="1300" b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</a:t>
            </a:r>
            <a:r>
              <a:rPr lang="en-US" altLang="en-US" sz="1300" b="0" dirty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ound in station85 EOL Dry test bench</a:t>
            </a:r>
          </a:p>
          <a:p>
            <a:pPr marL="0" indent="0" eaLnBrk="1" hangingPunct="1">
              <a:buSzPct val="100000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 eaLnBrk="1" hangingPunct="1">
              <a:buSzPct val="100000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 eaLnBrk="1" hangingPunct="1">
              <a:buSzPct val="100000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 eaLnBrk="1" hangingPunct="1">
              <a:buSzPct val="100000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en-US" sz="1300" dirty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Pareto</a:t>
            </a:r>
            <a:r>
              <a:rPr lang="en-US" altLang="en-US" sz="13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en-US" altLang="en-US" sz="1300" b="0" dirty="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sz="1300" b="0" dirty="0" smtClean="0">
                <a:solidFill>
                  <a:srgbClr val="000000"/>
                </a:solidFill>
                <a:latin typeface="+mn-lt"/>
              </a:rPr>
              <a:t>RR1 test </a:t>
            </a:r>
            <a:r>
              <a:rPr lang="en-US" altLang="en-US" sz="1300" b="0" dirty="0" err="1" smtClean="0">
                <a:solidFill>
                  <a:srgbClr val="000000"/>
                </a:solidFill>
                <a:latin typeface="+mn-lt"/>
              </a:rPr>
              <a:t>nok</a:t>
            </a:r>
            <a:r>
              <a:rPr lang="en-US" altLang="en-US" sz="1300" b="0" dirty="0" smtClean="0">
                <a:solidFill>
                  <a:srgbClr val="000000"/>
                </a:solidFill>
                <a:latin typeface="+mn-lt"/>
              </a:rPr>
              <a:t> is the top most FTQ concern for BR10 VOP </a:t>
            </a: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1300" b="0" dirty="0">
              <a:solidFill>
                <a:srgbClr val="000000"/>
              </a:solidFill>
              <a:latin typeface="+mn-lt"/>
            </a:endParaRPr>
          </a:p>
          <a:p>
            <a:pPr marL="0" indent="0">
              <a:buSzPct val="100000"/>
              <a:defRPr/>
            </a:pPr>
            <a:endParaRPr lang="en-US" altLang="en-US" sz="1300" b="0" dirty="0" smtClean="0">
              <a:solidFill>
                <a:srgbClr val="000000"/>
              </a:solidFill>
              <a:latin typeface="+mn-lt"/>
            </a:endParaRPr>
          </a:p>
          <a:p>
            <a:pPr marL="0" indent="0">
              <a:buSzPct val="100000"/>
              <a:defRPr/>
            </a:pPr>
            <a:r>
              <a:rPr lang="en-US" altLang="en-US" sz="1300" b="0" dirty="0" smtClean="0">
                <a:solidFill>
                  <a:srgbClr val="000000"/>
                </a:solidFill>
                <a:latin typeface="+mn-lt"/>
              </a:rPr>
              <a:t>           </a:t>
            </a: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1300" b="0" dirty="0">
              <a:solidFill>
                <a:srgbClr val="000000"/>
              </a:solidFill>
              <a:latin typeface="+mn-lt"/>
            </a:endParaRP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1300" b="0" dirty="0" smtClean="0">
              <a:solidFill>
                <a:srgbClr val="000000"/>
              </a:solidFill>
              <a:latin typeface="+mn-lt"/>
            </a:endParaRPr>
          </a:p>
          <a:p>
            <a:pP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1300" b="0" dirty="0" smtClean="0">
              <a:solidFill>
                <a:srgbClr val="000000"/>
              </a:solidFill>
              <a:latin typeface="+mn-lt"/>
            </a:endParaRPr>
          </a:p>
          <a:p>
            <a:pPr marL="0" indent="0">
              <a:buSzPct val="100000"/>
              <a:defRPr/>
            </a:pPr>
            <a:r>
              <a:rPr lang="en-US" altLang="en-US" sz="1300" b="0" dirty="0" smtClean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                 </a:t>
            </a: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1300" b="0" dirty="0" smtClean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buSzPct val="100000"/>
              <a:defRPr/>
            </a:pPr>
            <a:endParaRPr lang="en-US" altLang="en-US" b="0" dirty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" name="Rectangle 8">
            <a:extLst>
              <a:ext uri="{FF2B5EF4-FFF2-40B4-BE49-F238E27FC236}">
                <a16:creationId xmlns:a16="http://schemas.microsoft.com/office/drawing/2014/main" id="{09812E03-9DB5-45D8-9057-2984DC30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599" y="5037473"/>
            <a:ext cx="4243735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90500" indent="-1905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en-US" sz="1300" dirty="0" err="1" smtClean="0">
                <a:solidFill>
                  <a:schemeClr val="tx1"/>
                </a:solidFill>
                <a:latin typeface="+mn-lt"/>
              </a:rPr>
              <a:t>Mone</a:t>
            </a:r>
            <a:r>
              <a:rPr lang="en-US" altLang="en-US" sz="1300" dirty="0" smtClean="0">
                <a:solidFill>
                  <a:schemeClr val="tx1"/>
                </a:solidFill>
                <a:latin typeface="+mn-lt"/>
              </a:rPr>
              <a:t> [Y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]</a:t>
            </a:r>
            <a:r>
              <a:rPr lang="en-US" altLang="en-US" sz="1300" dirty="0" smtClean="0">
                <a:solidFill>
                  <a:schemeClr val="tx1"/>
                </a:solidFill>
                <a:latin typeface="+mn-lt"/>
              </a:rPr>
              <a:t> Description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: 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RR1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test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nok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for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higher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pressure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against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the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specification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of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4.76 </a:t>
            </a:r>
            <a:r>
              <a:rPr lang="de-DE" sz="1300" b="0" dirty="0" err="1" smtClean="0">
                <a:solidFill>
                  <a:schemeClr val="tx1"/>
                </a:solidFill>
                <a:latin typeface="+mn-lt"/>
              </a:rPr>
              <a:t>to</a:t>
            </a:r>
            <a:r>
              <a:rPr lang="de-DE" sz="1300" b="0" dirty="0" smtClean="0">
                <a:solidFill>
                  <a:schemeClr val="tx1"/>
                </a:solidFill>
                <a:latin typeface="+mn-lt"/>
              </a:rPr>
              <a:t> 5.43 bar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de-DE" sz="1300" b="0" dirty="0" smtClean="0">
              <a:solidFill>
                <a:schemeClr val="tx1"/>
              </a:solidFill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300" b="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en-US" sz="1300" dirty="0" err="1" smtClean="0">
                <a:solidFill>
                  <a:schemeClr val="tx1"/>
                </a:solidFill>
                <a:latin typeface="+mn-lt"/>
              </a:rPr>
              <a:t>Mone</a:t>
            </a:r>
            <a:r>
              <a:rPr lang="en-US" altLang="en-US" sz="13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1300" dirty="0">
                <a:solidFill>
                  <a:schemeClr val="tx1"/>
                </a:solidFill>
                <a:latin typeface="+mn-lt"/>
              </a:rPr>
              <a:t>[</a:t>
            </a:r>
            <a:r>
              <a:rPr lang="en-US" altLang="en-US" sz="1300" dirty="0" smtClean="0">
                <a:solidFill>
                  <a:schemeClr val="tx1"/>
                </a:solidFill>
                <a:latin typeface="+mn-lt"/>
              </a:rPr>
              <a:t>Y]</a:t>
            </a:r>
            <a:r>
              <a:rPr lang="en-US" altLang="en-US" sz="1300" baseline="30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1300" dirty="0" smtClean="0">
                <a:solidFill>
                  <a:schemeClr val="tx1"/>
                </a:solidFill>
                <a:latin typeface="+mn-lt"/>
              </a:rPr>
              <a:t>unit: </a:t>
            </a:r>
            <a:r>
              <a:rPr lang="en-US" altLang="en-US" sz="1300" b="0" dirty="0" smtClean="0">
                <a:solidFill>
                  <a:schemeClr val="tx1"/>
                </a:solidFill>
                <a:latin typeface="+mn-lt"/>
              </a:rPr>
              <a:t> Pressure in bar</a:t>
            </a:r>
            <a:endParaRPr lang="en-US" altLang="en-US" sz="13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676" name="Title 1">
            <a:extLst>
              <a:ext uri="{FF2B5EF4-FFF2-40B4-BE49-F238E27FC236}">
                <a16:creationId xmlns:a16="http://schemas.microsoft.com/office/drawing/2014/main" id="{8A08C322-F39A-406A-95E6-263038FAB9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8746" y="627254"/>
            <a:ext cx="4851400" cy="398463"/>
          </a:xfrm>
          <a:prstGeom prst="rect">
            <a:avLst/>
          </a:prstGeom>
        </p:spPr>
        <p:txBody>
          <a:bodyPr/>
          <a:lstStyle/>
          <a:p>
            <a:r>
              <a:rPr lang="en-US" altLang="en-US" sz="2600">
                <a:latin typeface="+mj-lt"/>
              </a:rPr>
              <a:t>Project Definition </a:t>
            </a:r>
            <a:r>
              <a:rPr lang="en-US" altLang="en-US" sz="2600" smtClean="0">
                <a:latin typeface="+mj-lt"/>
              </a:rPr>
              <a:t>Tree</a:t>
            </a:r>
            <a:endParaRPr lang="en-US" altLang="en-US" sz="2600">
              <a:latin typeface="+mj-lt"/>
            </a:endParaRPr>
          </a:p>
        </p:txBody>
      </p:sp>
      <p:sp>
        <p:nvSpPr>
          <p:cNvPr id="72" name="Text Box 109">
            <a:extLst>
              <a:ext uri="{FF2B5EF4-FFF2-40B4-BE49-F238E27FC236}">
                <a16:creationId xmlns:a16="http://schemas.microsoft.com/office/drawing/2014/main" id="{E39BEBB1-D2B5-46F3-90BE-057EC64EF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111766"/>
            <a:ext cx="7632848" cy="464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buClr>
                <a:schemeClr val="accent3"/>
              </a:buClr>
            </a:pPr>
            <a:r>
              <a:rPr lang="en-US" altLang="en-US" dirty="0">
                <a:solidFill>
                  <a:srgbClr val="000000"/>
                </a:solidFill>
                <a:cs typeface="Arial" panose="020B0604020202020204" pitchFamily="34" charset="0"/>
              </a:rPr>
              <a:t>Project Statement</a:t>
            </a:r>
            <a:r>
              <a:rPr lang="en-US" b="0" dirty="0">
                <a:solidFill>
                  <a:schemeClr val="tx1">
                    <a:lumMod val="10000"/>
                  </a:schemeClr>
                </a:solidFill>
              </a:rPr>
              <a:t>: Find and control the </a:t>
            </a:r>
            <a:r>
              <a:rPr lang="en-US" b="0" dirty="0">
                <a:solidFill>
                  <a:srgbClr val="00B0F0"/>
                </a:solidFill>
              </a:rPr>
              <a:t>B</a:t>
            </a:r>
            <a:r>
              <a:rPr lang="en-US" b="0" dirty="0" smtClean="0">
                <a:solidFill>
                  <a:srgbClr val="00B0F0"/>
                </a:solidFill>
              </a:rPr>
              <a:t>ig </a:t>
            </a:r>
            <a:r>
              <a:rPr lang="en-US" b="0" dirty="0">
                <a:solidFill>
                  <a:srgbClr val="00B0F0"/>
                </a:solidFill>
              </a:rPr>
              <a:t>X</a:t>
            </a:r>
            <a:r>
              <a:rPr lang="en-US" b="0" dirty="0">
                <a:solidFill>
                  <a:schemeClr val="tx1">
                    <a:lumMod val="10000"/>
                  </a:schemeClr>
                </a:solidFill>
              </a:rPr>
              <a:t> for </a:t>
            </a:r>
            <a:r>
              <a:rPr lang="en-US" b="0" dirty="0" smtClean="0">
                <a:solidFill>
                  <a:srgbClr val="FF0000"/>
                </a:solidFill>
              </a:rPr>
              <a:t>BR10 VOP- Ring regulation1 </a:t>
            </a:r>
            <a:r>
              <a:rPr lang="en-US" b="0" dirty="0">
                <a:solidFill>
                  <a:srgbClr val="FF0000"/>
                </a:solidFill>
              </a:rPr>
              <a:t>test NOK </a:t>
            </a:r>
            <a:r>
              <a:rPr lang="en-US" b="0" dirty="0">
                <a:solidFill>
                  <a:schemeClr val="tx1">
                    <a:lumMod val="10000"/>
                  </a:schemeClr>
                </a:solidFill>
              </a:rPr>
              <a:t>Found at </a:t>
            </a:r>
            <a:endParaRPr lang="en-US" b="0" dirty="0" smtClean="0">
              <a:solidFill>
                <a:schemeClr val="tx1">
                  <a:lumMod val="10000"/>
                </a:schemeClr>
              </a:solidFill>
            </a:endParaRPr>
          </a:p>
          <a:p>
            <a:pPr>
              <a:buClr>
                <a:schemeClr val="accent3"/>
              </a:buClr>
            </a:pPr>
            <a:r>
              <a:rPr lang="en-US" b="0" dirty="0" smtClean="0">
                <a:solidFill>
                  <a:srgbClr val="FF0000"/>
                </a:solidFill>
              </a:rPr>
              <a:t>MF1 Line1 End </a:t>
            </a:r>
            <a:r>
              <a:rPr lang="en-US" b="0" dirty="0">
                <a:solidFill>
                  <a:srgbClr val="FF0000"/>
                </a:solidFill>
              </a:rPr>
              <a:t>of line dry </a:t>
            </a:r>
            <a:r>
              <a:rPr lang="en-US" b="0" dirty="0" smtClean="0">
                <a:solidFill>
                  <a:srgbClr val="FF0000"/>
                </a:solidFill>
              </a:rPr>
              <a:t>test station85 </a:t>
            </a:r>
            <a:r>
              <a:rPr lang="en-US" b="0" dirty="0">
                <a:solidFill>
                  <a:schemeClr val="tx1">
                    <a:lumMod val="10000"/>
                  </a:schemeClr>
                </a:solidFill>
              </a:rPr>
              <a:t>to reduce the </a:t>
            </a:r>
            <a:r>
              <a:rPr lang="en-US" b="0" dirty="0">
                <a:solidFill>
                  <a:srgbClr val="FF0000"/>
                </a:solidFill>
              </a:rPr>
              <a:t>FTQ rejection </a:t>
            </a:r>
            <a:r>
              <a:rPr lang="en-US" b="0" dirty="0" smtClean="0">
                <a:solidFill>
                  <a:srgbClr val="FF0000"/>
                </a:solidFill>
              </a:rPr>
              <a:t>1.49% &amp; </a:t>
            </a:r>
            <a:r>
              <a:rPr lang="en-US" b="0" dirty="0">
                <a:solidFill>
                  <a:schemeClr val="tx1"/>
                </a:solidFill>
              </a:rPr>
              <a:t>1500 </a:t>
            </a:r>
            <a:r>
              <a:rPr lang="en-US" altLang="en-US" b="0" dirty="0" smtClean="0">
                <a:solidFill>
                  <a:schemeClr val="tx1"/>
                </a:solidFill>
                <a:latin typeface="Calibri"/>
                <a:cs typeface="Calibri" panose="020F0502020204030204" pitchFamily="34" charset="0"/>
              </a:rPr>
              <a:t>€ </a:t>
            </a:r>
            <a:r>
              <a:rPr lang="en-US" altLang="en-US" b="0" dirty="0">
                <a:solidFill>
                  <a:schemeClr val="tx1"/>
                </a:solidFill>
                <a:cs typeface="Arial" panose="020B0604020202020204" pitchFamily="34" charset="0"/>
              </a:rPr>
              <a:t>estimated</a:t>
            </a:r>
            <a:r>
              <a:rPr lang="en-US" altLang="en-US" b="0" dirty="0" smtClean="0">
                <a:solidFill>
                  <a:schemeClr val="tx1"/>
                </a:solidFill>
                <a:latin typeface="Calibri"/>
                <a:cs typeface="Calibri" panose="020F0502020204030204" pitchFamily="34" charset="0"/>
              </a:rPr>
              <a:t>.</a:t>
            </a:r>
            <a:endParaRPr lang="de-DE" b="0" dirty="0">
              <a:solidFill>
                <a:schemeClr val="tx1"/>
              </a:solidFill>
            </a:endParaRPr>
          </a:p>
        </p:txBody>
      </p:sp>
      <p:sp>
        <p:nvSpPr>
          <p:cNvPr id="74" name="Text Box 5">
            <a:extLst>
              <a:ext uri="{FF2B5EF4-FFF2-40B4-BE49-F238E27FC236}">
                <a16:creationId xmlns:a16="http://schemas.microsoft.com/office/drawing/2014/main" id="{9303BF33-C9A6-453D-8CC8-F12EDD310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616" y="1334636"/>
            <a:ext cx="9364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Rationale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</a:t>
            </a:r>
          </a:p>
        </p:txBody>
      </p:sp>
      <p:sp>
        <p:nvSpPr>
          <p:cNvPr id="87" name="Text Box 125">
            <a:extLst>
              <a:ext uri="{FF2B5EF4-FFF2-40B4-BE49-F238E27FC236}">
                <a16:creationId xmlns:a16="http://schemas.microsoft.com/office/drawing/2014/main" id="{EE0D6F4E-09EC-4622-960A-B1D6E5514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84" y="1842221"/>
            <a:ext cx="946150" cy="290635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  <a:extLst/>
        </p:spPr>
        <p:txBody>
          <a:bodyPr anchor="ctr"/>
          <a:lstStyle>
            <a:defPPr>
              <a:defRPr lang="de-DE"/>
            </a:defPPr>
            <a:lvl1pPr algn="ctr" eaLnBrk="1" hangingPunct="1">
              <a:defRPr sz="1100" b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/>
              <a:t>Feature</a:t>
            </a:r>
          </a:p>
        </p:txBody>
      </p:sp>
      <p:sp>
        <p:nvSpPr>
          <p:cNvPr id="88" name="Text Box 126">
            <a:extLst>
              <a:ext uri="{FF2B5EF4-FFF2-40B4-BE49-F238E27FC236}">
                <a16:creationId xmlns:a16="http://schemas.microsoft.com/office/drawing/2014/main" id="{E14DFBAA-C7A2-4A3D-A055-B7F4FC50A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638" y="1835169"/>
            <a:ext cx="946150" cy="297688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Property</a:t>
            </a:r>
          </a:p>
        </p:txBody>
      </p:sp>
      <p:sp>
        <p:nvSpPr>
          <p:cNvPr id="89" name="Text Box 123">
            <a:extLst>
              <a:ext uri="{FF2B5EF4-FFF2-40B4-BE49-F238E27FC236}">
                <a16:creationId xmlns:a16="http://schemas.microsoft.com/office/drawing/2014/main" id="{333986BE-A91B-4BE9-8FF4-42FA995A6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800" y="1835167"/>
            <a:ext cx="946150" cy="297689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Defect</a:t>
            </a:r>
          </a:p>
        </p:txBody>
      </p:sp>
      <p:sp>
        <p:nvSpPr>
          <p:cNvPr id="90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8" y="1835166"/>
            <a:ext cx="946150" cy="29769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Event</a:t>
            </a:r>
          </a:p>
        </p:txBody>
      </p:sp>
      <p:sp>
        <p:nvSpPr>
          <p:cNvPr id="91" name="Line 117">
            <a:extLst>
              <a:ext uri="{FF2B5EF4-FFF2-40B4-BE49-F238E27FC236}">
                <a16:creationId xmlns:a16="http://schemas.microsoft.com/office/drawing/2014/main" id="{E769333C-640B-41D4-85E6-61E3EAD6B1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5618" y="1838811"/>
            <a:ext cx="962149" cy="301097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92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5520" y="1860915"/>
            <a:ext cx="952429" cy="261827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cxnSp>
        <p:nvCxnSpPr>
          <p:cNvPr id="140" name="AutoShape 130">
            <a:extLst>
              <a:ext uri="{FF2B5EF4-FFF2-40B4-BE49-F238E27FC236}">
                <a16:creationId xmlns:a16="http://schemas.microsoft.com/office/drawing/2014/main" id="{9CABEE94-28B4-4D89-A32A-867832F05257}"/>
              </a:ext>
            </a:extLst>
          </p:cNvPr>
          <p:cNvCxnSpPr>
            <a:cxnSpLocks noChangeShapeType="1"/>
            <a:stCxn id="72" idx="2"/>
            <a:endCxn id="87" idx="0"/>
          </p:cNvCxnSpPr>
          <p:nvPr/>
        </p:nvCxnSpPr>
        <p:spPr bwMode="auto">
          <a:xfrm rot="5400000">
            <a:off x="3079937" y="842382"/>
            <a:ext cx="266262" cy="1733417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" name="AutoShape 130">
            <a:extLst>
              <a:ext uri="{FF2B5EF4-FFF2-40B4-BE49-F238E27FC236}">
                <a16:creationId xmlns:a16="http://schemas.microsoft.com/office/drawing/2014/main" id="{3C1BC924-B8FB-4953-9568-9632B12354E6}"/>
              </a:ext>
            </a:extLst>
          </p:cNvPr>
          <p:cNvCxnSpPr>
            <a:cxnSpLocks noChangeShapeType="1"/>
            <a:stCxn id="72" idx="2"/>
            <a:endCxn id="88" idx="0"/>
          </p:cNvCxnSpPr>
          <p:nvPr/>
        </p:nvCxnSpPr>
        <p:spPr bwMode="auto">
          <a:xfrm rot="5400000">
            <a:off x="3659140" y="1414533"/>
            <a:ext cx="259210" cy="582063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" name="AutoShape 130">
            <a:extLst>
              <a:ext uri="{FF2B5EF4-FFF2-40B4-BE49-F238E27FC236}">
                <a16:creationId xmlns:a16="http://schemas.microsoft.com/office/drawing/2014/main" id="{9DD3EA5C-6159-4CE3-8C3A-1B764D60052F}"/>
              </a:ext>
            </a:extLst>
          </p:cNvPr>
          <p:cNvCxnSpPr>
            <a:cxnSpLocks noChangeShapeType="1"/>
            <a:stCxn id="72" idx="2"/>
            <a:endCxn id="89" idx="0"/>
          </p:cNvCxnSpPr>
          <p:nvPr/>
        </p:nvCxnSpPr>
        <p:spPr bwMode="auto">
          <a:xfrm rot="16200000" flipH="1">
            <a:off x="4267721" y="1388013"/>
            <a:ext cx="259208" cy="635099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9" name="AutoShape 130">
            <a:extLst>
              <a:ext uri="{FF2B5EF4-FFF2-40B4-BE49-F238E27FC236}">
                <a16:creationId xmlns:a16="http://schemas.microsoft.com/office/drawing/2014/main" id="{C567C0F1-7B25-4B46-9E5B-174A58F2E7CA}"/>
              </a:ext>
            </a:extLst>
          </p:cNvPr>
          <p:cNvCxnSpPr>
            <a:cxnSpLocks noChangeShapeType="1"/>
            <a:stCxn id="72" idx="2"/>
            <a:endCxn id="90" idx="0"/>
          </p:cNvCxnSpPr>
          <p:nvPr/>
        </p:nvCxnSpPr>
        <p:spPr bwMode="auto">
          <a:xfrm rot="16200000" flipH="1">
            <a:off x="4928916" y="726818"/>
            <a:ext cx="259207" cy="1957487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Line 50">
            <a:extLst>
              <a:ext uri="{FF2B5EF4-FFF2-40B4-BE49-F238E27FC236}">
                <a16:creationId xmlns:a16="http://schemas.microsoft.com/office/drawing/2014/main" id="{E70373FC-B51A-4933-9447-0A76BB4C5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3873" y="1354417"/>
            <a:ext cx="0" cy="482889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71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0296" y="733617"/>
            <a:ext cx="31035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smtClean="0">
                <a:latin typeface="+mj-lt"/>
                <a:cs typeface="Times New Roman" pitchFamily="18" charset="0"/>
              </a:rPr>
              <a:t>MAIC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smtClean="0">
                <a:latin typeface="+mj-lt"/>
                <a:cs typeface="Times New Roman" pitchFamily="18" charset="0"/>
              </a:rPr>
              <a:t>- 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1200" smtClean="0">
                <a:latin typeface="+mj-lt"/>
                <a:cs typeface="Times New Roman" pitchFamily="18" charset="0"/>
              </a:rPr>
              <a:t>EFINE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69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617" y="2519748"/>
            <a:ext cx="946150" cy="29718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Malfunction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sp>
        <p:nvSpPr>
          <p:cNvPr id="73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694" y="2539449"/>
            <a:ext cx="946150" cy="277482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Destructive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>
            <a:off x="5001550" y="2348880"/>
            <a:ext cx="180020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5015880" y="2348880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801750" y="2348880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015880" y="2816931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467" y="3168992"/>
            <a:ext cx="946150" cy="28294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Station85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sp>
        <p:nvSpPr>
          <p:cNvPr id="81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8575" y="3183108"/>
            <a:ext cx="946150" cy="282947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Other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>
            <a:off x="4120297" y="2996951"/>
            <a:ext cx="180020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120297" y="2988972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5901650" y="2988972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7694" y="2564905"/>
            <a:ext cx="946150" cy="262576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86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57791" y="3189810"/>
            <a:ext cx="913061" cy="26212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cxnSp>
        <p:nvCxnSpPr>
          <p:cNvPr id="94" name="Straight Connector 93"/>
          <p:cNvCxnSpPr/>
          <p:nvPr/>
        </p:nvCxnSpPr>
        <p:spPr>
          <a:xfrm>
            <a:off x="4125303" y="3451938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592" y="3822993"/>
            <a:ext cx="946150" cy="39828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de-DE"/>
            </a:defPPr>
            <a:lvl1pPr algn="ctr" eaLnBrk="1" hangingPunct="1">
              <a:defRPr sz="1100" b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/>
              <a:t>BR10 VOP</a:t>
            </a:r>
            <a:endParaRPr lang="en-US" altLang="en-US" dirty="0"/>
          </a:p>
        </p:txBody>
      </p:sp>
      <p:cxnSp>
        <p:nvCxnSpPr>
          <p:cNvPr id="97" name="Straight Connector 96"/>
          <p:cNvCxnSpPr/>
          <p:nvPr/>
        </p:nvCxnSpPr>
        <p:spPr>
          <a:xfrm>
            <a:off x="2891947" y="3643587"/>
            <a:ext cx="262195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2891154" y="3643587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6037264" y="2132856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Foliennummernplatzhalter 1"/>
          <p:cNvSpPr txBox="1">
            <a:spLocks/>
          </p:cNvSpPr>
          <p:nvPr/>
        </p:nvSpPr>
        <p:spPr bwMode="auto">
          <a:xfrm>
            <a:off x="11271160" y="6574431"/>
            <a:ext cx="471204" cy="11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97E19623-64A1-469F-A243-E7929B1FBBE0}" type="slidenum">
              <a:rPr lang="de-DE" altLang="de-DE" sz="1200" b="0" smtClean="0">
                <a:solidFill>
                  <a:srgbClr val="3E3D40"/>
                </a:solidFill>
                <a:latin typeface="+mj-lt"/>
                <a:cs typeface="TisaOT-Bold"/>
              </a:rPr>
              <a:pPr/>
              <a:t>8</a:t>
            </a:fld>
            <a:endParaRPr lang="de-DE" altLang="de-DE" sz="1200" b="0" dirty="0">
              <a:solidFill>
                <a:srgbClr val="3E3D40"/>
              </a:solidFill>
              <a:latin typeface="+mj-lt"/>
              <a:cs typeface="TisaOT-Bold"/>
            </a:endParaRPr>
          </a:p>
        </p:txBody>
      </p:sp>
      <p:sp>
        <p:nvSpPr>
          <p:cNvPr id="55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4265" y="1854724"/>
            <a:ext cx="946150" cy="285184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48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936" y="3817062"/>
            <a:ext cx="1058964" cy="398281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3D15 VOP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sp>
        <p:nvSpPr>
          <p:cNvPr id="50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5458" y="3812482"/>
            <a:ext cx="1066441" cy="38777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cxnSp>
        <p:nvCxnSpPr>
          <p:cNvPr id="52" name="Straight Connector 51"/>
          <p:cNvCxnSpPr/>
          <p:nvPr/>
        </p:nvCxnSpPr>
        <p:spPr>
          <a:xfrm>
            <a:off x="5513900" y="3654099"/>
            <a:ext cx="0" cy="18002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3043" y="5045603"/>
            <a:ext cx="2273316" cy="1385231"/>
            <a:chOff x="2387622" y="4261452"/>
            <a:chExt cx="3314071" cy="208267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7622" y="4261452"/>
              <a:ext cx="3121312" cy="2082678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 rot="18922409">
              <a:off x="2746079" y="4856298"/>
              <a:ext cx="2955614" cy="587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IN" sz="1000" b="0" dirty="0" smtClean="0">
                  <a:solidFill>
                    <a:schemeClr val="tx1">
                      <a:lumMod val="10000"/>
                    </a:schemeClr>
                  </a:solidFill>
                </a:rPr>
                <a:t>Distribution of Mone (y)</a:t>
              </a:r>
            </a:p>
            <a:p>
              <a:pPr algn="ctr">
                <a:buClr>
                  <a:schemeClr val="accent3"/>
                </a:buClr>
              </a:pPr>
              <a:r>
                <a:rPr lang="de-DE" sz="1000" b="0" dirty="0" smtClean="0">
                  <a:solidFill>
                    <a:schemeClr val="tx1"/>
                  </a:solidFill>
                </a:rPr>
                <a:t>RR1 NOK</a:t>
              </a:r>
              <a:endParaRPr lang="en-IN" sz="1050" b="0" dirty="0" smtClean="0">
                <a:solidFill>
                  <a:schemeClr val="tx1">
                    <a:lumMod val="10000"/>
                  </a:schemeClr>
                </a:solidFill>
              </a:endParaRPr>
            </a:p>
          </p:txBody>
        </p:sp>
      </p:grpSp>
      <p:sp>
        <p:nvSpPr>
          <p:cNvPr id="56" name="Titel 1"/>
          <p:cNvSpPr txBox="1">
            <a:spLocks/>
          </p:cNvSpPr>
          <p:nvPr/>
        </p:nvSpPr>
        <p:spPr>
          <a:xfrm>
            <a:off x="2905314" y="207983"/>
            <a:ext cx="3605023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8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771" y="3828620"/>
            <a:ext cx="1058964" cy="398281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FAMB VOP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sp>
        <p:nvSpPr>
          <p:cNvPr id="59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3942" y="3861048"/>
            <a:ext cx="1040142" cy="33921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60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4587343"/>
            <a:ext cx="946150" cy="39828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de-DE"/>
            </a:defPPr>
            <a:lvl1pPr algn="ctr" eaLnBrk="1" hangingPunct="1">
              <a:defRPr sz="1100" b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/>
              <a:t>RR1 Test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1118812" y="4407937"/>
            <a:ext cx="3609036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127448" y="4407937"/>
            <a:ext cx="0" cy="18002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736" y="4581412"/>
            <a:ext cx="1058964" cy="398281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Performance Test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sp>
        <p:nvSpPr>
          <p:cNvPr id="66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716" y="4575160"/>
            <a:ext cx="1077072" cy="398281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Free Rotation Test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sp>
        <p:nvSpPr>
          <p:cNvPr id="67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65258" y="4576832"/>
            <a:ext cx="1066441" cy="38777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68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928" y="4616909"/>
            <a:ext cx="1082376" cy="337197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cxnSp>
        <p:nvCxnSpPr>
          <p:cNvPr id="80" name="Straight Connector 79"/>
          <p:cNvCxnSpPr/>
          <p:nvPr/>
        </p:nvCxnSpPr>
        <p:spPr>
          <a:xfrm>
            <a:off x="3713700" y="4418449"/>
            <a:ext cx="0" cy="18002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2279576" y="4396812"/>
            <a:ext cx="0" cy="18002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 Box 123">
            <a:extLst>
              <a:ext uri="{FF2B5EF4-FFF2-40B4-BE49-F238E27FC236}">
                <a16:creationId xmlns:a16="http://schemas.microsoft.com/office/drawing/2014/main" id="{A08CF7D3-E895-40DA-A4F1-834F0AA73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571" y="4592970"/>
            <a:ext cx="1058964" cy="398281"/>
          </a:xfrm>
          <a:prstGeom prst="rect">
            <a:avLst/>
          </a:prstGeom>
          <a:solidFill>
            <a:srgbClr val="B0BBD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100" b="0" dirty="0" smtClean="0">
                <a:solidFill>
                  <a:schemeClr val="tx1"/>
                </a:solidFill>
                <a:latin typeface="Bosch Office Sans"/>
                <a:cs typeface="Arial" panose="020B0604020202020204" pitchFamily="34" charset="0"/>
              </a:rPr>
              <a:t>Emergency Test</a:t>
            </a:r>
            <a:endParaRPr lang="en-US" altLang="en-US" sz="1100" b="0" dirty="0">
              <a:solidFill>
                <a:schemeClr val="tx1"/>
              </a:solidFill>
              <a:latin typeface="Bosch Office Sans"/>
              <a:cs typeface="Arial" panose="020B0604020202020204" pitchFamily="34" charset="0"/>
            </a:endParaRPr>
          </a:p>
        </p:txBody>
      </p:sp>
      <p:sp>
        <p:nvSpPr>
          <p:cNvPr id="99" name="Line 117">
            <a:extLst>
              <a:ext uri="{FF2B5EF4-FFF2-40B4-BE49-F238E27FC236}">
                <a16:creationId xmlns:a16="http://schemas.microsoft.com/office/drawing/2014/main" id="{A53E5403-D859-45FC-9F1B-17530EEC7A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7444" y="4625398"/>
            <a:ext cx="1066441" cy="38777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cxnSp>
        <p:nvCxnSpPr>
          <p:cNvPr id="101" name="Straight Connector 100"/>
          <p:cNvCxnSpPr/>
          <p:nvPr/>
        </p:nvCxnSpPr>
        <p:spPr>
          <a:xfrm>
            <a:off x="2855640" y="4221088"/>
            <a:ext cx="0" cy="18002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4727848" y="4401107"/>
            <a:ext cx="0" cy="18002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39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>
          <a:xfrm>
            <a:off x="442800" y="597600"/>
            <a:ext cx="1130501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 smtClean="0">
                <a:latin typeface="+mj-lt"/>
                <a:cs typeface="Arial" panose="020B0604020202020204" pitchFamily="34" charset="0"/>
              </a:rPr>
              <a:t>MEASURE</a:t>
            </a:r>
            <a:endParaRPr lang="en-US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471" y="733618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smtClean="0">
                <a:latin typeface="+mj-lt"/>
                <a:cs typeface="Times New Roman" pitchFamily="18" charset="0"/>
              </a:rPr>
              <a:t>D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M</a:t>
            </a:r>
            <a:r>
              <a:rPr lang="en-US" sz="1200" smtClean="0">
                <a:latin typeface="+mj-lt"/>
                <a:cs typeface="Times New Roman" pitchFamily="18" charset="0"/>
              </a:rPr>
              <a:t>AIC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smtClean="0">
                <a:latin typeface="+mj-lt"/>
                <a:cs typeface="Times New Roman" pitchFamily="18" charset="0"/>
              </a:rPr>
              <a:t>- </a:t>
            </a:r>
            <a:r>
              <a:rPr lang="en-US" sz="120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M</a:t>
            </a:r>
            <a:r>
              <a:rPr lang="en-US" sz="1200" smtClean="0">
                <a:latin typeface="+mj-lt"/>
                <a:cs typeface="Times New Roman" pitchFamily="18" charset="0"/>
              </a:rPr>
              <a:t>EASURE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01237" y="1357662"/>
            <a:ext cx="9054479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50000"/>
              </a:spcBef>
              <a:buSzPct val="90000"/>
              <a:defRPr sz="16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rgbClr val="6A6B6D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Possible required tools like: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Process Flow Diagram </a:t>
            </a: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----------------------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Strategy Diagram</a:t>
            </a:r>
            <a:r>
              <a:rPr lang="en-US" altLang="de-DE" sz="2000" b="0" dirty="0">
                <a:solidFill>
                  <a:schemeClr val="tx1"/>
                </a:solidFill>
              </a:rPr>
              <a:t>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--------------------------</a:t>
            </a:r>
            <a:endParaRPr lang="en-US" altLang="de-DE" sz="2000" b="0" dirty="0" smtClean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err="1" smtClean="0">
                <a:solidFill>
                  <a:schemeClr val="tx1"/>
                </a:solidFill>
                <a:latin typeface="+mn-lt"/>
              </a:rPr>
              <a:t>Isograph</a:t>
            </a:r>
            <a:r>
              <a:rPr lang="de-DE" altLang="de-DE" sz="20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-------------------------------------</a:t>
            </a:r>
            <a:endParaRPr lang="de-DE" altLang="de-DE" sz="2000" b="0" dirty="0" smtClean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smtClean="0">
                <a:solidFill>
                  <a:schemeClr val="tx1"/>
                </a:solidFill>
                <a:latin typeface="+mn-lt"/>
              </a:rPr>
              <a:t>Stage 0</a:t>
            </a:r>
            <a:r>
              <a:rPr lang="de-DE" altLang="de-DE" sz="2000" b="0" dirty="0">
                <a:solidFill>
                  <a:schemeClr val="tx1"/>
                </a:solidFill>
              </a:rPr>
              <a:t>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--------------------------------------</a:t>
            </a:r>
            <a:endParaRPr lang="en-US" altLang="de-DE" sz="2000" b="0" dirty="0" smtClean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8711528" y="2986174"/>
            <a:ext cx="3320278" cy="3981035"/>
            <a:chOff x="8714192" y="2986174"/>
            <a:chExt cx="3320278" cy="3981035"/>
          </a:xfrm>
        </p:grpSpPr>
        <p:grpSp>
          <p:nvGrpSpPr>
            <p:cNvPr id="36" name="Gruppieren 35"/>
            <p:cNvGrpSpPr/>
            <p:nvPr/>
          </p:nvGrpSpPr>
          <p:grpSpPr>
            <a:xfrm>
              <a:off x="9403016" y="2986174"/>
              <a:ext cx="2631454" cy="2140456"/>
              <a:chOff x="304094" y="0"/>
              <a:chExt cx="4526280" cy="3681730"/>
            </a:xfrm>
          </p:grpSpPr>
          <p:pic>
            <p:nvPicPr>
              <p:cNvPr id="37" name="Grafik 3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4" y="0"/>
                <a:ext cx="4526280" cy="3681730"/>
              </a:xfrm>
              <a:prstGeom prst="rect">
                <a:avLst/>
              </a:prstGeom>
            </p:spPr>
          </p:pic>
          <p:sp>
            <p:nvSpPr>
              <p:cNvPr id="38" name="Rechteck 37"/>
              <p:cNvSpPr/>
              <p:nvPr/>
            </p:nvSpPr>
            <p:spPr>
              <a:xfrm>
                <a:off x="356520" y="147711"/>
                <a:ext cx="3170321" cy="9504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GB" sz="500" b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Mone(Y) = Mass Flow [kg/s]</a:t>
                </a:r>
                <a:endParaRPr lang="en-US" sz="50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" name="Textfeld 31"/>
            <p:cNvSpPr txBox="1"/>
            <p:nvPr/>
          </p:nvSpPr>
          <p:spPr>
            <a:xfrm>
              <a:off x="9469795" y="5064577"/>
              <a:ext cx="47075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de-DE" sz="700" smtClean="0">
                  <a:solidFill>
                    <a:schemeClr val="bg2"/>
                  </a:solidFill>
                  <a:latin typeface="Century Gothic" panose="020B0502020202020204" pitchFamily="34" charset="0"/>
                </a:rPr>
                <a:t>BIG X</a:t>
              </a:r>
              <a:endParaRPr lang="en-US" sz="700" dirty="0" smtClean="0">
                <a:solidFill>
                  <a:schemeClr val="bg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3" name="TextBox 7"/>
            <p:cNvSpPr txBox="1"/>
            <p:nvPr/>
          </p:nvSpPr>
          <p:spPr>
            <a:xfrm>
              <a:off x="8714192" y="5313081"/>
              <a:ext cx="31190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800" b="0" dirty="0" smtClean="0">
                  <a:solidFill>
                    <a:schemeClr val="tx1">
                      <a:lumMod val="10000"/>
                    </a:schemeClr>
                  </a:solidFill>
                </a:rPr>
                <a:t>            </a:t>
              </a:r>
              <a:r>
                <a:rPr lang="en-US" sz="1800" dirty="0" smtClean="0">
                  <a:solidFill>
                    <a:schemeClr val="tx1">
                      <a:lumMod val="10000"/>
                    </a:schemeClr>
                  </a:solidFill>
                </a:rPr>
                <a:t>Elimination Strategy</a:t>
              </a:r>
            </a:p>
            <a:p>
              <a:pPr>
                <a:buClr>
                  <a:schemeClr val="accent3"/>
                </a:buClr>
              </a:pP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  <a:p>
              <a:pPr>
                <a:buClr>
                  <a:schemeClr val="accent3"/>
                </a:buClr>
              </a:pPr>
              <a:r>
                <a:rPr lang="en-US" sz="1800" b="0" smtClean="0">
                  <a:solidFill>
                    <a:schemeClr val="tx1">
                      <a:lumMod val="10000"/>
                    </a:schemeClr>
                  </a:solidFill>
                </a:rPr>
                <a:t> </a:t>
              </a: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pic>
          <p:nvPicPr>
            <p:cNvPr id="34" name="Grafik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2120" y="5433917"/>
              <a:ext cx="2173010" cy="1533292"/>
            </a:xfrm>
            <a:prstGeom prst="rect">
              <a:avLst/>
            </a:prstGeom>
          </p:spPr>
        </p:pic>
      </p:grpSp>
      <p:cxnSp>
        <p:nvCxnSpPr>
          <p:cNvPr id="39" name="Straight Connector 40"/>
          <p:cNvCxnSpPr/>
          <p:nvPr/>
        </p:nvCxnSpPr>
        <p:spPr>
          <a:xfrm>
            <a:off x="9082800" y="1214359"/>
            <a:ext cx="0" cy="509496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168" y="1305055"/>
            <a:ext cx="1601087" cy="1601087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871864" y="1556792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itel 1"/>
          <p:cNvSpPr txBox="1">
            <a:spLocks/>
          </p:cNvSpPr>
          <p:nvPr/>
        </p:nvSpPr>
        <p:spPr>
          <a:xfrm>
            <a:off x="2905314" y="207983"/>
            <a:ext cx="3334701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881073" y="2060848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4871864" y="3074787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5850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2" name="Text Box 10">
            <a:extLst>
              <a:ext uri="{FF2B5EF4-FFF2-40B4-BE49-F238E27FC236}">
                <a16:creationId xmlns:a16="http://schemas.microsoft.com/office/drawing/2014/main" id="{16FD0B2D-F26A-4E5B-9C36-3FA7E4180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560263"/>
            <a:ext cx="352839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Process Flow Diagram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674" y="1040775"/>
            <a:ext cx="1440160" cy="369332"/>
          </a:xfrm>
          <a:prstGeom prst="rect">
            <a:avLst/>
          </a:prstGeom>
          <a:solidFill>
            <a:srgbClr val="00406E"/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accent3"/>
              </a:buClr>
            </a:pPr>
            <a:r>
              <a:rPr lang="en-US" sz="1800" b="0" smtClean="0">
                <a:solidFill>
                  <a:schemeClr val="bg1"/>
                </a:solidFill>
              </a:rPr>
              <a:t>Input</a:t>
            </a:r>
            <a:endParaRPr lang="de-DE" sz="1800" b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64704" y="1043444"/>
            <a:ext cx="1224136" cy="369332"/>
          </a:xfrm>
          <a:prstGeom prst="rect">
            <a:avLst/>
          </a:prstGeom>
          <a:solidFill>
            <a:srgbClr val="00406E"/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accent3"/>
              </a:buClr>
            </a:pPr>
            <a:r>
              <a:rPr lang="en-US" sz="1800" b="0" smtClean="0">
                <a:solidFill>
                  <a:schemeClr val="bg1"/>
                </a:solidFill>
              </a:rPr>
              <a:t>Operation</a:t>
            </a:r>
            <a:endParaRPr lang="de-DE" sz="1800" b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64973" y="1037337"/>
            <a:ext cx="1042584" cy="369332"/>
          </a:xfrm>
          <a:prstGeom prst="rect">
            <a:avLst/>
          </a:prstGeom>
          <a:solidFill>
            <a:srgbClr val="00406E"/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accent3"/>
              </a:buClr>
            </a:pPr>
            <a:r>
              <a:rPr lang="en-US" sz="1800" b="0" smtClean="0">
                <a:solidFill>
                  <a:schemeClr val="bg1"/>
                </a:solidFill>
              </a:rPr>
              <a:t>Function</a:t>
            </a:r>
            <a:endParaRPr lang="de-DE" sz="1800" b="0">
              <a:solidFill>
                <a:schemeClr val="bg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007197" y="1714370"/>
            <a:ext cx="1136224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>
                <a:solidFill>
                  <a:schemeClr val="tx1"/>
                </a:solidFill>
              </a:rPr>
              <a:t>Station </a:t>
            </a:r>
            <a:r>
              <a:rPr lang="en-IN" sz="1400" b="0" dirty="0" smtClean="0">
                <a:solidFill>
                  <a:schemeClr val="tx1"/>
                </a:solidFill>
              </a:rPr>
              <a:t>05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81035" y="1534350"/>
            <a:ext cx="2040423" cy="72008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Housing, Filter, setting ring spring, seal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983270" y="1714370"/>
            <a:ext cx="1890976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Assembly of child parts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007197" y="2451300"/>
            <a:ext cx="1136224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>
                <a:solidFill>
                  <a:schemeClr val="tx1"/>
                </a:solidFill>
              </a:rPr>
              <a:t>Station </a:t>
            </a:r>
            <a:r>
              <a:rPr lang="en-IN" sz="1400" b="0" dirty="0" smtClean="0">
                <a:solidFill>
                  <a:schemeClr val="tx1"/>
                </a:solidFill>
              </a:rPr>
              <a:t>10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983270" y="2451300"/>
            <a:ext cx="1890976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Assembly of child parts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81034" y="2378672"/>
            <a:ext cx="2040423" cy="642549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Regulation valve, Emergency Valve, spring and Plug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013535" y="3284984"/>
            <a:ext cx="1136224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>
                <a:solidFill>
                  <a:schemeClr val="tx1"/>
                </a:solidFill>
              </a:rPr>
              <a:t>Station 2</a:t>
            </a:r>
            <a:r>
              <a:rPr lang="en-IN" sz="1400" b="0" dirty="0" smtClean="0">
                <a:solidFill>
                  <a:schemeClr val="tx1"/>
                </a:solidFill>
              </a:rPr>
              <a:t>0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989608" y="3284984"/>
            <a:ext cx="1890976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Assembly of child parts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87372" y="3079366"/>
            <a:ext cx="2040423" cy="771276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Thermostat valve, Lamination valve, Limiter and Plug assembly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013535" y="4268637"/>
            <a:ext cx="1136224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>
                <a:solidFill>
                  <a:schemeClr val="tx1"/>
                </a:solidFill>
              </a:rPr>
              <a:t>Station </a:t>
            </a:r>
            <a:r>
              <a:rPr lang="en-IN" sz="1400" b="0" dirty="0" smtClean="0">
                <a:solidFill>
                  <a:schemeClr val="tx1"/>
                </a:solidFill>
              </a:rPr>
              <a:t>50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989608" y="4149080"/>
            <a:ext cx="1890976" cy="622364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Assembly of child parts and Camera verification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87372" y="4209195"/>
            <a:ext cx="2040423" cy="502134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Rings, Vanes, cover and screws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013535" y="4903741"/>
            <a:ext cx="1136224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>
                <a:solidFill>
                  <a:schemeClr val="tx1"/>
                </a:solidFill>
              </a:rPr>
              <a:t>Station </a:t>
            </a:r>
            <a:r>
              <a:rPr lang="en-IN" sz="1400" b="0" dirty="0" smtClean="0">
                <a:solidFill>
                  <a:schemeClr val="tx1"/>
                </a:solidFill>
              </a:rPr>
              <a:t>80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981465" y="4904846"/>
            <a:ext cx="1890976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Assembly of child parts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79229" y="4904846"/>
            <a:ext cx="2040423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Cover screwing, Screws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013535" y="5445198"/>
            <a:ext cx="1136224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>
                <a:solidFill>
                  <a:schemeClr val="tx1"/>
                </a:solidFill>
              </a:rPr>
              <a:t>Station </a:t>
            </a:r>
            <a:r>
              <a:rPr lang="en-IN" sz="1400" b="0" dirty="0" smtClean="0">
                <a:solidFill>
                  <a:schemeClr val="tx1"/>
                </a:solidFill>
              </a:rPr>
              <a:t>85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965588" y="5461756"/>
            <a:ext cx="1890976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Pump dry test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63352" y="5461756"/>
            <a:ext cx="2040423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FG Pump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012668" y="5996223"/>
            <a:ext cx="1136224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>
                <a:solidFill>
                  <a:schemeClr val="tx1"/>
                </a:solidFill>
              </a:rPr>
              <a:t>Station </a:t>
            </a:r>
            <a:r>
              <a:rPr lang="en-IN" sz="1400" b="0" dirty="0" smtClean="0">
                <a:solidFill>
                  <a:schemeClr val="tx1"/>
                </a:solidFill>
              </a:rPr>
              <a:t>95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965588" y="5996223"/>
            <a:ext cx="1890976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Laser Marking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63352" y="5996223"/>
            <a:ext cx="2040423" cy="360040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FG Pump</a:t>
            </a:r>
            <a:endParaRPr lang="en-IN" sz="1400" b="0">
              <a:solidFill>
                <a:schemeClr val="tx1"/>
              </a:solidFill>
            </a:endParaRPr>
          </a:p>
        </p:txBody>
      </p:sp>
      <p:cxnSp>
        <p:nvCxnSpPr>
          <p:cNvPr id="67" name="Straight Connector 66"/>
          <p:cNvCxnSpPr>
            <a:stCxn id="41" idx="2"/>
            <a:endCxn id="44" idx="0"/>
          </p:cNvCxnSpPr>
          <p:nvPr/>
        </p:nvCxnSpPr>
        <p:spPr>
          <a:xfrm>
            <a:off x="3575309" y="2074410"/>
            <a:ext cx="0" cy="376890"/>
          </a:xfrm>
          <a:prstGeom prst="line">
            <a:avLst/>
          </a:prstGeom>
          <a:ln w="12700" cap="rnd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44" idx="2"/>
            <a:endCxn id="47" idx="0"/>
          </p:cNvCxnSpPr>
          <p:nvPr/>
        </p:nvCxnSpPr>
        <p:spPr>
          <a:xfrm>
            <a:off x="3575309" y="2811340"/>
            <a:ext cx="6338" cy="473644"/>
          </a:xfrm>
          <a:prstGeom prst="line">
            <a:avLst/>
          </a:prstGeom>
          <a:ln w="12700" cap="rnd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47" idx="2"/>
            <a:endCxn id="53" idx="0"/>
          </p:cNvCxnSpPr>
          <p:nvPr/>
        </p:nvCxnSpPr>
        <p:spPr>
          <a:xfrm>
            <a:off x="3581647" y="3645024"/>
            <a:ext cx="0" cy="623613"/>
          </a:xfrm>
          <a:prstGeom prst="line">
            <a:avLst/>
          </a:prstGeom>
          <a:ln w="12700" cap="rnd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53" idx="2"/>
            <a:endCxn id="56" idx="0"/>
          </p:cNvCxnSpPr>
          <p:nvPr/>
        </p:nvCxnSpPr>
        <p:spPr>
          <a:xfrm>
            <a:off x="3581647" y="4628677"/>
            <a:ext cx="0" cy="275064"/>
          </a:xfrm>
          <a:prstGeom prst="line">
            <a:avLst/>
          </a:prstGeom>
          <a:ln w="12700" cap="rnd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56" idx="2"/>
            <a:endCxn id="60" idx="0"/>
          </p:cNvCxnSpPr>
          <p:nvPr/>
        </p:nvCxnSpPr>
        <p:spPr>
          <a:xfrm>
            <a:off x="3581647" y="5263781"/>
            <a:ext cx="0" cy="181417"/>
          </a:xfrm>
          <a:prstGeom prst="line">
            <a:avLst/>
          </a:prstGeom>
          <a:ln w="12700" cap="rnd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60" idx="2"/>
            <a:endCxn id="64" idx="0"/>
          </p:cNvCxnSpPr>
          <p:nvPr/>
        </p:nvCxnSpPr>
        <p:spPr>
          <a:xfrm flipH="1">
            <a:off x="3580780" y="5805238"/>
            <a:ext cx="867" cy="190985"/>
          </a:xfrm>
          <a:prstGeom prst="line">
            <a:avLst/>
          </a:prstGeom>
          <a:ln w="12700" cap="rnd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Lightning Bolt 74"/>
          <p:cNvSpPr/>
          <p:nvPr/>
        </p:nvSpPr>
        <p:spPr>
          <a:xfrm rot="4145775">
            <a:off x="4123188" y="5406117"/>
            <a:ext cx="339556" cy="302716"/>
          </a:xfrm>
          <a:prstGeom prst="lightningBol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24989"/>
              </p:ext>
            </p:extLst>
          </p:nvPr>
        </p:nvGraphicFramePr>
        <p:xfrm>
          <a:off x="8867659" y="1556658"/>
          <a:ext cx="1587904" cy="479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904">
                  <a:extLst>
                    <a:ext uri="{9D8B030D-6E8A-4147-A177-3AD203B41FA5}">
                      <a16:colId xmlns:a16="http://schemas.microsoft.com/office/drawing/2014/main" val="1309631820"/>
                    </a:ext>
                  </a:extLst>
                </a:gridCol>
              </a:tblGrid>
              <a:tr h="61194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Load pump on station 85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467463"/>
                  </a:ext>
                </a:extLst>
              </a:tr>
              <a:tr h="611949">
                <a:tc>
                  <a:txBody>
                    <a:bodyPr/>
                    <a:lstStyle/>
                    <a:p>
                      <a:r>
                        <a:rPr lang="en-IN" sz="1400" smtClean="0"/>
                        <a:t>Press cycle start button</a:t>
                      </a:r>
                      <a:endParaRPr lang="en-IN" sz="14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81505"/>
                  </a:ext>
                </a:extLst>
              </a:tr>
              <a:tr h="43796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EV</a:t>
                      </a:r>
                      <a:r>
                        <a:rPr lang="en-IN" sz="1400" baseline="0" dirty="0" smtClean="0"/>
                        <a:t> Test cycle.</a:t>
                      </a:r>
                      <a:endParaRPr lang="en-IN" sz="14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838126"/>
                  </a:ext>
                </a:extLst>
              </a:tr>
              <a:tr h="43796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RR1 Test cycle</a:t>
                      </a:r>
                      <a:endParaRPr lang="en-IN" sz="14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597310"/>
                  </a:ext>
                </a:extLst>
              </a:tr>
              <a:tr h="611949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Performance test</a:t>
                      </a:r>
                      <a:r>
                        <a:rPr lang="en-IN" sz="1400" baseline="0" dirty="0" smtClean="0"/>
                        <a:t> cycle.</a:t>
                      </a:r>
                      <a:endParaRPr lang="en-IN" sz="14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623512"/>
                  </a:ext>
                </a:extLst>
              </a:tr>
              <a:tr h="611949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Free rotation test cycle.</a:t>
                      </a:r>
                      <a:endParaRPr lang="en-IN" sz="14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400393"/>
                  </a:ext>
                </a:extLst>
              </a:tr>
              <a:tr h="611949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Part</a:t>
                      </a:r>
                      <a:r>
                        <a:rPr lang="en-IN" sz="1400" baseline="0" dirty="0" smtClean="0"/>
                        <a:t> releases and door opens</a:t>
                      </a:r>
                      <a:endParaRPr lang="en-IN" sz="1400" dirty="0" smtClean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784660"/>
                  </a:ext>
                </a:extLst>
              </a:tr>
              <a:tr h="863929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Pick pump and</a:t>
                      </a:r>
                      <a:r>
                        <a:rPr lang="en-IN" sz="1400" baseline="0" dirty="0" smtClean="0"/>
                        <a:t> transfer for next station</a:t>
                      </a:r>
                      <a:endParaRPr lang="en-IN" sz="1400" dirty="0" smtClean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83850"/>
                  </a:ext>
                </a:extLst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9049543" y="1036435"/>
            <a:ext cx="1224136" cy="369332"/>
          </a:xfrm>
          <a:prstGeom prst="rect">
            <a:avLst/>
          </a:prstGeom>
          <a:solidFill>
            <a:srgbClr val="00406E"/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accent3"/>
              </a:buClr>
            </a:pPr>
            <a:r>
              <a:rPr lang="en-US" sz="1800" b="0" smtClean="0">
                <a:solidFill>
                  <a:schemeClr val="bg1"/>
                </a:solidFill>
              </a:rPr>
              <a:t>Operation</a:t>
            </a:r>
            <a:endParaRPr lang="de-DE" sz="1800" b="0">
              <a:solidFill>
                <a:schemeClr val="bg1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0527194" y="1600047"/>
            <a:ext cx="1400130" cy="608239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smtClean="0">
                <a:solidFill>
                  <a:schemeClr val="tx1"/>
                </a:solidFill>
              </a:rPr>
              <a:t>Pump functional test</a:t>
            </a:r>
            <a:endParaRPr lang="en-IN" sz="1400" b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7482918" y="3068960"/>
            <a:ext cx="1313109" cy="608239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Pneumatic air supply </a:t>
            </a:r>
          </a:p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(10 to 13 bar)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536160" y="1033831"/>
            <a:ext cx="1085255" cy="369332"/>
          </a:xfrm>
          <a:prstGeom prst="rect">
            <a:avLst/>
          </a:prstGeom>
          <a:solidFill>
            <a:srgbClr val="00406E"/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accent3"/>
              </a:buClr>
            </a:pPr>
            <a:r>
              <a:rPr lang="en-US" sz="1800" b="0" smtClean="0">
                <a:solidFill>
                  <a:schemeClr val="bg1"/>
                </a:solidFill>
              </a:rPr>
              <a:t>Input</a:t>
            </a:r>
            <a:endParaRPr lang="de-DE" sz="1800" b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728532" y="1036435"/>
            <a:ext cx="1085255" cy="369332"/>
          </a:xfrm>
          <a:prstGeom prst="rect">
            <a:avLst/>
          </a:prstGeom>
          <a:solidFill>
            <a:srgbClr val="00406E"/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accent3"/>
              </a:buClr>
            </a:pPr>
            <a:r>
              <a:rPr lang="en-US" sz="1800" b="0">
                <a:solidFill>
                  <a:schemeClr val="bg1"/>
                </a:solidFill>
              </a:rPr>
              <a:t>Function</a:t>
            </a:r>
            <a:endParaRPr lang="de-DE" sz="1800" b="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320137" y="931808"/>
            <a:ext cx="4691512" cy="5521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5" name="Straight Arrow Connector 84"/>
          <p:cNvCxnSpPr>
            <a:stCxn id="84" idx="1"/>
          </p:cNvCxnSpPr>
          <p:nvPr/>
        </p:nvCxnSpPr>
        <p:spPr>
          <a:xfrm flipH="1">
            <a:off x="4575879" y="3692572"/>
            <a:ext cx="2744258" cy="1735240"/>
          </a:xfrm>
          <a:prstGeom prst="straightConnector1">
            <a:avLst/>
          </a:prstGeom>
          <a:ln w="12700" cap="rnd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527193" y="2407897"/>
            <a:ext cx="1400131" cy="608239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EV- 6.62 to 8.78 pressure in bar 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0527194" y="3082109"/>
            <a:ext cx="1400130" cy="608239"/>
          </a:xfrm>
          <a:prstGeom prst="rect">
            <a:avLst/>
          </a:prstGeom>
          <a:solidFill>
            <a:srgbClr val="FFFF0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RR1 pressure</a:t>
            </a:r>
          </a:p>
          <a:p>
            <a:pPr algn="ctr"/>
            <a:r>
              <a:rPr lang="en-IN" sz="1400" b="0" dirty="0" smtClean="0">
                <a:solidFill>
                  <a:schemeClr val="tx1"/>
                </a:solidFill>
              </a:rPr>
              <a:t>4.76 to 5.43 bar 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0527192" y="3766816"/>
            <a:ext cx="1400132" cy="954943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chemeClr val="tx1"/>
                </a:solidFill>
              </a:rPr>
              <a:t>Performance test Min </a:t>
            </a:r>
            <a:r>
              <a:rPr lang="en-US" sz="1400" b="0" dirty="0" smtClean="0">
                <a:solidFill>
                  <a:schemeClr val="tx1"/>
                </a:solidFill>
              </a:rPr>
              <a:t>vacuum  </a:t>
            </a:r>
            <a:endParaRPr lang="en-US" sz="1400" b="0" dirty="0">
              <a:solidFill>
                <a:schemeClr val="tx1"/>
              </a:solidFill>
            </a:endParaRPr>
          </a:p>
          <a:p>
            <a:pPr algn="ctr"/>
            <a:r>
              <a:rPr lang="en-US" sz="1400" b="0" dirty="0" smtClean="0">
                <a:solidFill>
                  <a:schemeClr val="tx1"/>
                </a:solidFill>
              </a:rPr>
              <a:t> </a:t>
            </a:r>
            <a:r>
              <a:rPr lang="en-US" sz="1400" b="0" dirty="0">
                <a:solidFill>
                  <a:schemeClr val="tx1"/>
                </a:solidFill>
              </a:rPr>
              <a:t>≤ - </a:t>
            </a:r>
            <a:r>
              <a:rPr lang="en-US" sz="1400" b="0" dirty="0" smtClean="0">
                <a:solidFill>
                  <a:schemeClr val="tx1"/>
                </a:solidFill>
              </a:rPr>
              <a:t>7.5 </a:t>
            </a:r>
            <a:r>
              <a:rPr lang="en-US" sz="1400" b="0" dirty="0">
                <a:solidFill>
                  <a:schemeClr val="tx1"/>
                </a:solidFill>
              </a:rPr>
              <a:t>mbar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0527194" y="4778313"/>
            <a:ext cx="1400130" cy="954943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chemeClr val="tx1"/>
                </a:solidFill>
              </a:rPr>
              <a:t>Free </a:t>
            </a:r>
            <a:r>
              <a:rPr lang="en-US" sz="1400" b="0" dirty="0" smtClean="0">
                <a:solidFill>
                  <a:schemeClr val="tx1"/>
                </a:solidFill>
              </a:rPr>
              <a:t>Rotation </a:t>
            </a:r>
            <a:r>
              <a:rPr lang="en-US" sz="1400" b="0" dirty="0">
                <a:solidFill>
                  <a:schemeClr val="tx1"/>
                </a:solidFill>
              </a:rPr>
              <a:t>Test Limit Max Torque </a:t>
            </a:r>
            <a:r>
              <a:rPr lang="en-US" sz="1400" b="0" dirty="0" smtClean="0">
                <a:solidFill>
                  <a:schemeClr val="tx1"/>
                </a:solidFill>
              </a:rPr>
              <a:t> 0.25 </a:t>
            </a:r>
            <a:r>
              <a:rPr lang="en-US" sz="1400" b="0" dirty="0">
                <a:solidFill>
                  <a:schemeClr val="tx1"/>
                </a:solidFill>
              </a:rPr>
              <a:t>Nm</a:t>
            </a:r>
            <a:endParaRPr lang="en-IN" sz="1400" b="0" dirty="0">
              <a:solidFill>
                <a:schemeClr val="tx1"/>
              </a:solidFill>
            </a:endParaRPr>
          </a:p>
        </p:txBody>
      </p:sp>
      <p:sp>
        <p:nvSpPr>
          <p:cNvPr id="5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0390" y="604905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M</a:t>
            </a:r>
            <a:r>
              <a:rPr lang="en-US" sz="1200" dirty="0" smtClean="0">
                <a:latin typeface="+mj-lt"/>
                <a:cs typeface="Times New Roman" pitchFamily="18" charset="0"/>
              </a:rPr>
              <a:t>AIC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M</a:t>
            </a:r>
            <a:r>
              <a:rPr lang="en-US" sz="1200" dirty="0" smtClean="0">
                <a:latin typeface="+mj-lt"/>
                <a:cs typeface="Times New Roman" pitchFamily="18" charset="0"/>
              </a:rPr>
              <a:t>EASURE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50" name="Lightning Bolt 49"/>
          <p:cNvSpPr/>
          <p:nvPr/>
        </p:nvSpPr>
        <p:spPr>
          <a:xfrm rot="9776318" flipV="1">
            <a:off x="10023813" y="3123230"/>
            <a:ext cx="422536" cy="350629"/>
          </a:xfrm>
          <a:prstGeom prst="lightningBol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itel 1"/>
          <p:cNvSpPr txBox="1">
            <a:spLocks/>
          </p:cNvSpPr>
          <p:nvPr/>
        </p:nvSpPr>
        <p:spPr>
          <a:xfrm>
            <a:off x="2905315" y="207983"/>
            <a:ext cx="3502242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1">
            <a:extLst>
              <a:ext uri="{FF2B5EF4-FFF2-40B4-BE49-F238E27FC236}">
                <a16:creationId xmlns:a16="http://schemas.microsoft.com/office/drawing/2014/main" id="{52CBFD63-C7A6-4B70-91FF-28448F1A4984}"/>
              </a:ext>
            </a:extLst>
          </p:cNvPr>
          <p:cNvGrpSpPr>
            <a:grpSpLocks/>
          </p:cNvGrpSpPr>
          <p:nvPr/>
        </p:nvGrpSpPr>
        <p:grpSpPr bwMode="auto">
          <a:xfrm>
            <a:off x="1885231" y="1569717"/>
            <a:ext cx="777954" cy="966511"/>
            <a:chOff x="1693863" y="1257577"/>
            <a:chExt cx="777954" cy="966511"/>
          </a:xfrm>
        </p:grpSpPr>
        <p:sp>
          <p:nvSpPr>
            <p:cNvPr id="28731" name="Text Box 64">
              <a:extLst>
                <a:ext uri="{FF2B5EF4-FFF2-40B4-BE49-F238E27FC236}">
                  <a16:creationId xmlns:a16="http://schemas.microsoft.com/office/drawing/2014/main" id="{8E684B9E-7067-4577-BF84-A2EED647F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723508" y="1581865"/>
              <a:ext cx="89479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r>
                <a:rPr lang="en-US" altLang="en-US" sz="1000">
                  <a:solidFill>
                    <a:srgbClr val="000000"/>
                  </a:solidFill>
                  <a:latin typeface="+mj-lt"/>
                </a:rPr>
                <a:t>Do Not Know</a:t>
              </a:r>
            </a:p>
          </p:txBody>
        </p:sp>
        <p:sp>
          <p:nvSpPr>
            <p:cNvPr id="28732" name="Text Box 65">
              <a:extLst>
                <a:ext uri="{FF2B5EF4-FFF2-40B4-BE49-F238E27FC236}">
                  <a16:creationId xmlns:a16="http://schemas.microsoft.com/office/drawing/2014/main" id="{2F22199D-160A-4347-AC47-B244AE825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567656" y="1731170"/>
              <a:ext cx="49847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r>
                <a:rPr lang="en-US" altLang="en-US" sz="1000" dirty="0">
                  <a:solidFill>
                    <a:srgbClr val="000000"/>
                  </a:solidFill>
                  <a:latin typeface="+mj-lt"/>
                </a:rPr>
                <a:t>Large </a:t>
              </a:r>
            </a:p>
          </p:txBody>
        </p:sp>
        <p:sp>
          <p:nvSpPr>
            <p:cNvPr id="28733" name="Text Box 66">
              <a:extLst>
                <a:ext uri="{FF2B5EF4-FFF2-40B4-BE49-F238E27FC236}">
                  <a16:creationId xmlns:a16="http://schemas.microsoft.com/office/drawing/2014/main" id="{F888597D-F6A9-4C63-B543-9F20F756C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627407" y="1635046"/>
              <a:ext cx="74251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r>
                <a:rPr lang="en-US" altLang="en-US" sz="1000">
                  <a:solidFill>
                    <a:srgbClr val="000000"/>
                  </a:solidFill>
                  <a:latin typeface="+mj-lt"/>
                </a:rPr>
                <a:t>Small / No</a:t>
              </a:r>
            </a:p>
          </p:txBody>
        </p:sp>
        <p:sp>
          <p:nvSpPr>
            <p:cNvPr id="28734" name="Text Box 67">
              <a:extLst>
                <a:ext uri="{FF2B5EF4-FFF2-40B4-BE49-F238E27FC236}">
                  <a16:creationId xmlns:a16="http://schemas.microsoft.com/office/drawing/2014/main" id="{634288AE-D85D-4783-BE3B-0BD45B7AA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148171" y="1796177"/>
              <a:ext cx="40107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r>
                <a:rPr lang="en-US" altLang="en-US" sz="1000" dirty="0">
                  <a:solidFill>
                    <a:srgbClr val="000000"/>
                  </a:solidFill>
                  <a:latin typeface="+mj-lt"/>
                </a:rPr>
                <a:t>N/A</a:t>
              </a:r>
            </a:p>
          </p:txBody>
        </p:sp>
        <p:sp>
          <p:nvSpPr>
            <p:cNvPr id="28735" name="Rectangle 68">
              <a:extLst>
                <a:ext uri="{FF2B5EF4-FFF2-40B4-BE49-F238E27FC236}">
                  <a16:creationId xmlns:a16="http://schemas.microsoft.com/office/drawing/2014/main" id="{DEFEB359-2FB0-4231-AF74-900BF408E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7200" y="204628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8736" name="Rectangle 70">
              <a:extLst>
                <a:ext uri="{FF2B5EF4-FFF2-40B4-BE49-F238E27FC236}">
                  <a16:creationId xmlns:a16="http://schemas.microsoft.com/office/drawing/2014/main" id="{7F458587-42EB-4086-9B69-5034BF4A6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204628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8737" name="Rectangle 71">
              <a:extLst>
                <a:ext uri="{FF2B5EF4-FFF2-40B4-BE49-F238E27FC236}">
                  <a16:creationId xmlns:a16="http://schemas.microsoft.com/office/drawing/2014/main" id="{D3A7A42B-80FB-44AA-8ABC-6379B8C50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204628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8738" name="Rectangle 71">
              <a:extLst>
                <a:ext uri="{FF2B5EF4-FFF2-40B4-BE49-F238E27FC236}">
                  <a16:creationId xmlns:a16="http://schemas.microsoft.com/office/drawing/2014/main" id="{E0B909EA-3936-4D23-94AC-26A50B466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494" y="204628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28675" name="Text Box 62">
            <a:extLst>
              <a:ext uri="{FF2B5EF4-FFF2-40B4-BE49-F238E27FC236}">
                <a16:creationId xmlns:a16="http://schemas.microsoft.com/office/drawing/2014/main" id="{90CFA7A6-1118-4EFC-8FE4-364B1F24E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186" y="622936"/>
            <a:ext cx="75650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Malfunction Event Strategy Diagram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3EB76D54-144A-42BB-B5A1-04145E799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7520" y="1947994"/>
            <a:ext cx="42728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Can not be established 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8678" name="Text Box 60">
            <a:extLst>
              <a:ext uri="{FF2B5EF4-FFF2-40B4-BE49-F238E27FC236}">
                <a16:creationId xmlns:a16="http://schemas.microsoft.com/office/drawing/2014/main" id="{18C8E7E0-9347-42F5-906B-E68D57627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51" y="2468795"/>
            <a:ext cx="13668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000" dirty="0" smtClean="0">
                <a:solidFill>
                  <a:srgbClr val="000000"/>
                </a:solidFill>
                <a:latin typeface="+mj-lt"/>
              </a:rPr>
              <a:t>Same event</a:t>
            </a:r>
            <a:endParaRPr lang="en-US" altLang="en-US" sz="1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8679" name="Text Box 61">
            <a:extLst>
              <a:ext uri="{FF2B5EF4-FFF2-40B4-BE49-F238E27FC236}">
                <a16:creationId xmlns:a16="http://schemas.microsoft.com/office/drawing/2014/main" id="{A6B9AA9D-EF54-45E4-8F2F-69A4DE138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51" y="2025053"/>
            <a:ext cx="1371600" cy="457200"/>
          </a:xfrm>
          <a:prstGeom prst="rect">
            <a:avLst/>
          </a:prstGeom>
          <a:noFill/>
          <a:ln w="28575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Point to Point 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8680" name="Text Box 74">
            <a:extLst>
              <a:ext uri="{FF2B5EF4-FFF2-40B4-BE49-F238E27FC236}">
                <a16:creationId xmlns:a16="http://schemas.microsoft.com/office/drawing/2014/main" id="{926EB7C2-0AEE-4A44-AA4F-21330BC2F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70" y="3336122"/>
            <a:ext cx="13541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000" dirty="0" smtClean="0">
                <a:solidFill>
                  <a:srgbClr val="000000"/>
                </a:solidFill>
                <a:latin typeface="+mj-lt"/>
              </a:rPr>
              <a:t>Same Part</a:t>
            </a:r>
            <a:endParaRPr lang="en-US" altLang="en-US" sz="1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8681" name="Text Box 75">
            <a:extLst>
              <a:ext uri="{FF2B5EF4-FFF2-40B4-BE49-F238E27FC236}">
                <a16:creationId xmlns:a16="http://schemas.microsoft.com/office/drawing/2014/main" id="{FE6F9208-A6C7-4E05-A917-DBFA68689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70" y="2889016"/>
            <a:ext cx="1371600" cy="457200"/>
          </a:xfrm>
          <a:prstGeom prst="rect">
            <a:avLst/>
          </a:prstGeom>
          <a:noFill/>
          <a:ln w="28575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Event to Event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28682" name="Group 3">
            <a:extLst>
              <a:ext uri="{FF2B5EF4-FFF2-40B4-BE49-F238E27FC236}">
                <a16:creationId xmlns:a16="http://schemas.microsoft.com/office/drawing/2014/main" id="{45382E01-EAF7-41E7-BE6B-B99A4FDCDCFA}"/>
              </a:ext>
            </a:extLst>
          </p:cNvPr>
          <p:cNvGrpSpPr>
            <a:grpSpLocks/>
          </p:cNvGrpSpPr>
          <p:nvPr/>
        </p:nvGrpSpPr>
        <p:grpSpPr bwMode="auto">
          <a:xfrm>
            <a:off x="1907112" y="3073166"/>
            <a:ext cx="708025" cy="177800"/>
            <a:chOff x="1730375" y="2687638"/>
            <a:chExt cx="708025" cy="177800"/>
          </a:xfrm>
        </p:grpSpPr>
        <p:sp>
          <p:nvSpPr>
            <p:cNvPr id="28727" name="Rectangle 82">
              <a:extLst>
                <a:ext uri="{FF2B5EF4-FFF2-40B4-BE49-F238E27FC236}">
                  <a16:creationId xmlns:a16="http://schemas.microsoft.com/office/drawing/2014/main" id="{73109364-4BF8-48DB-8215-7432B2C78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8728" name="Rectangle 83">
              <a:extLst>
                <a:ext uri="{FF2B5EF4-FFF2-40B4-BE49-F238E27FC236}">
                  <a16:creationId xmlns:a16="http://schemas.microsoft.com/office/drawing/2014/main" id="{DD181E8C-F69F-4FC5-9979-FB861B044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8729" name="Rectangle 85">
              <a:extLst>
                <a:ext uri="{FF2B5EF4-FFF2-40B4-BE49-F238E27FC236}">
                  <a16:creationId xmlns:a16="http://schemas.microsoft.com/office/drawing/2014/main" id="{651DEC52-7F1E-4B4E-A2A0-C08845546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28730" name="Rectangle 83">
              <a:extLst>
                <a:ext uri="{FF2B5EF4-FFF2-40B4-BE49-F238E27FC236}">
                  <a16:creationId xmlns:a16="http://schemas.microsoft.com/office/drawing/2014/main" id="{11C6F913-9C33-4757-9BF2-A050BD27C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9763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28683" name="Text Box 5">
            <a:extLst>
              <a:ext uri="{FF2B5EF4-FFF2-40B4-BE49-F238E27FC236}">
                <a16:creationId xmlns:a16="http://schemas.microsoft.com/office/drawing/2014/main" id="{C7449321-F458-4ACA-98AD-F8527371D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037" y="2910905"/>
            <a:ext cx="39736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Test bench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measurement </a:t>
            </a:r>
            <a:r>
              <a:rPr lang="en-US" altLang="en-US" b="0" dirty="0">
                <a:solidFill>
                  <a:srgbClr val="000000"/>
                </a:solidFill>
                <a:latin typeface="+mj-lt"/>
              </a:rPr>
              <a:t>system is OK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(Stage 0 pass)</a:t>
            </a:r>
          </a:p>
        </p:txBody>
      </p:sp>
      <p:sp>
        <p:nvSpPr>
          <p:cNvPr id="28696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47" y="1120227"/>
            <a:ext cx="6661996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400" dirty="0" err="1">
                <a:solidFill>
                  <a:srgbClr val="000000"/>
                </a:solidFill>
                <a:latin typeface="+mj-lt"/>
              </a:rPr>
              <a:t>Mone</a:t>
            </a:r>
            <a:r>
              <a:rPr lang="en-US" altLang="en-US" sz="1400" dirty="0">
                <a:solidFill>
                  <a:srgbClr val="000000"/>
                </a:solidFill>
                <a:latin typeface="+mj-lt"/>
              </a:rPr>
              <a:t>(Y</a:t>
            </a:r>
            <a:r>
              <a:rPr lang="en-US" altLang="en-US" sz="1400" dirty="0" smtClean="0">
                <a:solidFill>
                  <a:srgbClr val="000000"/>
                </a:solidFill>
                <a:latin typeface="+mj-lt"/>
              </a:rPr>
              <a:t>) = RR1 Regulation pressure in bar</a:t>
            </a:r>
            <a:endParaRPr lang="en-US" altLang="en-US" sz="14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8697" name="Text Box 121">
            <a:extLst>
              <a:ext uri="{FF2B5EF4-FFF2-40B4-BE49-F238E27FC236}">
                <a16:creationId xmlns:a16="http://schemas.microsoft.com/office/drawing/2014/main" id="{7C44816F-0FC7-4F55-A8D4-25C358300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037" y="1430810"/>
            <a:ext cx="28321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i="1" u="sng" dirty="0">
                <a:solidFill>
                  <a:srgbClr val="000000"/>
                </a:solidFill>
                <a:latin typeface="+mj-lt"/>
              </a:rPr>
              <a:t>What Is Meant by Each Contrast</a:t>
            </a:r>
          </a:p>
        </p:txBody>
      </p:sp>
      <p:sp>
        <p:nvSpPr>
          <p:cNvPr id="28698" name="Text Box 122">
            <a:extLst>
              <a:ext uri="{FF2B5EF4-FFF2-40B4-BE49-F238E27FC236}">
                <a16:creationId xmlns:a16="http://schemas.microsoft.com/office/drawing/2014/main" id="{5E19400D-30EB-4E6C-A25B-E249D1B63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030" y="1418334"/>
            <a:ext cx="16700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i="1" u="sng">
                <a:solidFill>
                  <a:srgbClr val="000000"/>
                </a:solidFill>
                <a:latin typeface="+mj-lt"/>
              </a:rPr>
              <a:t>Family of Variation</a:t>
            </a:r>
          </a:p>
        </p:txBody>
      </p:sp>
      <p:sp>
        <p:nvSpPr>
          <p:cNvPr id="28700" name="Text Box 122">
            <a:extLst>
              <a:ext uri="{FF2B5EF4-FFF2-40B4-BE49-F238E27FC236}">
                <a16:creationId xmlns:a16="http://schemas.microsoft.com/office/drawing/2014/main" id="{0E187B30-BB34-44FF-9E4F-A0D3D0527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817" y="1418334"/>
            <a:ext cx="10302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i="1" u="sng">
                <a:solidFill>
                  <a:srgbClr val="000000"/>
                </a:solidFill>
                <a:latin typeface="+mj-lt"/>
              </a:rPr>
              <a:t>Contrast</a:t>
            </a:r>
          </a:p>
        </p:txBody>
      </p:sp>
      <p:sp>
        <p:nvSpPr>
          <p:cNvPr id="28705" name="Rectangle 93_____">
            <a:extLst>
              <a:ext uri="{FF2B5EF4-FFF2-40B4-BE49-F238E27FC236}">
                <a16:creationId xmlns:a16="http://schemas.microsoft.com/office/drawing/2014/main" id="{605BFD98-3BCC-46A6-AB6D-A702D4FE0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468" y="1947510"/>
            <a:ext cx="9826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  </a:t>
            </a:r>
          </a:p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</a:t>
            </a:r>
            <a:r>
              <a:rPr lang="en-US" altLang="en-US" sz="28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 </a:t>
            </a:r>
            <a:endParaRPr lang="en-US" altLang="en-US" sz="1000" b="0" dirty="0">
              <a:solidFill>
                <a:srgbClr val="00B050"/>
              </a:solidFill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28706" name="Rectangle 93_____">
            <a:extLst>
              <a:ext uri="{FF2B5EF4-FFF2-40B4-BE49-F238E27FC236}">
                <a16:creationId xmlns:a16="http://schemas.microsoft.com/office/drawing/2014/main" id="{F410424D-A018-4BDE-B3BE-94F8F73EE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280" y="2662509"/>
            <a:ext cx="98266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  </a:t>
            </a:r>
          </a:p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</a:t>
            </a:r>
            <a:r>
              <a:rPr lang="en-US" altLang="en-US" sz="28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 </a:t>
            </a:r>
            <a:endParaRPr lang="en-US" altLang="en-US" sz="1000" b="0" dirty="0">
              <a:solidFill>
                <a:srgbClr val="00B050"/>
              </a:solidFill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68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471" y="733618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M</a:t>
            </a:r>
            <a:r>
              <a:rPr lang="en-US" sz="1200" dirty="0" smtClean="0">
                <a:latin typeface="+mj-lt"/>
                <a:cs typeface="Times New Roman" pitchFamily="18" charset="0"/>
              </a:rPr>
              <a:t>AIC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M</a:t>
            </a:r>
            <a:r>
              <a:rPr lang="en-US" sz="1200" dirty="0" smtClean="0">
                <a:latin typeface="+mj-lt"/>
                <a:cs typeface="Times New Roman" pitchFamily="18" charset="0"/>
              </a:rPr>
              <a:t>EASURE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41" name="Text Box 90">
            <a:extLst>
              <a:ext uri="{FF2B5EF4-FFF2-40B4-BE49-F238E27FC236}">
                <a16:creationId xmlns:a16="http://schemas.microsoft.com/office/drawing/2014/main" id="{6D897C5A-A1A5-437B-9B0E-41A4C3230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90" y="4763650"/>
            <a:ext cx="1371600" cy="503276"/>
          </a:xfrm>
          <a:prstGeom prst="rect">
            <a:avLst/>
          </a:prstGeom>
          <a:noFill/>
          <a:ln w="28575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Pump to Pump 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7" name="Text Box 5">
            <a:extLst>
              <a:ext uri="{FF2B5EF4-FFF2-40B4-BE49-F238E27FC236}">
                <a16:creationId xmlns:a16="http://schemas.microsoft.com/office/drawing/2014/main" id="{D88BF97A-012C-4888-B3DC-257D55B04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171" y="4813001"/>
            <a:ext cx="42728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 WOW Pump pressure observed 5.63 bar and BOB pump pressure observed 5. 06 bar against specification of 4.76 to 5.43 bar and stage2 is failed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8" name="Text Box 74">
            <a:extLst>
              <a:ext uri="{FF2B5EF4-FFF2-40B4-BE49-F238E27FC236}">
                <a16:creationId xmlns:a16="http://schemas.microsoft.com/office/drawing/2014/main" id="{926EB7C2-0AEE-4A44-AA4F-21330BC2F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73" y="5250133"/>
            <a:ext cx="13541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000" dirty="0" smtClean="0">
                <a:solidFill>
                  <a:srgbClr val="000000"/>
                </a:solidFill>
                <a:latin typeface="+mj-lt"/>
              </a:rPr>
              <a:t>Same Time</a:t>
            </a:r>
            <a:endParaRPr lang="en-US" altLang="en-US" sz="1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9" name="Text Box 90">
            <a:extLst>
              <a:ext uri="{FF2B5EF4-FFF2-40B4-BE49-F238E27FC236}">
                <a16:creationId xmlns:a16="http://schemas.microsoft.com/office/drawing/2014/main" id="{6D897C5A-A1A5-437B-9B0E-41A4C3230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99" y="5681387"/>
            <a:ext cx="1371600" cy="503276"/>
          </a:xfrm>
          <a:prstGeom prst="rect">
            <a:avLst/>
          </a:prstGeom>
          <a:noFill/>
          <a:ln w="28575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Time to Time 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5" name="Rectangle 93_____">
            <a:extLst>
              <a:ext uri="{FF2B5EF4-FFF2-40B4-BE49-F238E27FC236}">
                <a16:creationId xmlns:a16="http://schemas.microsoft.com/office/drawing/2014/main" id="{F410424D-A018-4BDE-B3BE-94F8F73EE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504" y="4498576"/>
            <a:ext cx="98266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  </a:t>
            </a:r>
          </a:p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</a:t>
            </a:r>
            <a:r>
              <a:rPr lang="en-US" altLang="en-US" sz="28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 </a:t>
            </a:r>
            <a:endParaRPr lang="en-US" altLang="en-US" sz="1000" b="0" dirty="0">
              <a:solidFill>
                <a:srgbClr val="00B050"/>
              </a:solidFill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56" name="Text Box 5">
            <a:extLst>
              <a:ext uri="{FF2B5EF4-FFF2-40B4-BE49-F238E27FC236}">
                <a16:creationId xmlns:a16="http://schemas.microsoft.com/office/drawing/2014/main" id="{D88BF97A-012C-4888-B3DC-257D55B04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7518" y="5809325"/>
            <a:ext cx="42728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Time series shows variation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month to month.</a:t>
            </a:r>
            <a:endParaRPr lang="en-US" altLang="en-US" b="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45382E01-EAF7-41E7-BE6B-B99A4FDCDCFA}"/>
              </a:ext>
            </a:extLst>
          </p:cNvPr>
          <p:cNvGrpSpPr>
            <a:grpSpLocks/>
          </p:cNvGrpSpPr>
          <p:nvPr/>
        </p:nvGrpSpPr>
        <p:grpSpPr bwMode="auto">
          <a:xfrm>
            <a:off x="1884241" y="4909461"/>
            <a:ext cx="708025" cy="177800"/>
            <a:chOff x="1730375" y="2687638"/>
            <a:chExt cx="708025" cy="177800"/>
          </a:xfrm>
        </p:grpSpPr>
        <p:sp>
          <p:nvSpPr>
            <p:cNvPr id="60" name="Rectangle 82">
              <a:extLst>
                <a:ext uri="{FF2B5EF4-FFF2-40B4-BE49-F238E27FC236}">
                  <a16:creationId xmlns:a16="http://schemas.microsoft.com/office/drawing/2014/main" id="{73109364-4BF8-48DB-8215-7432B2C78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1" name="Rectangle 83">
              <a:extLst>
                <a:ext uri="{FF2B5EF4-FFF2-40B4-BE49-F238E27FC236}">
                  <a16:creationId xmlns:a16="http://schemas.microsoft.com/office/drawing/2014/main" id="{DD181E8C-F69F-4FC5-9979-FB861B044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2" name="Rectangle 85">
              <a:extLst>
                <a:ext uri="{FF2B5EF4-FFF2-40B4-BE49-F238E27FC236}">
                  <a16:creationId xmlns:a16="http://schemas.microsoft.com/office/drawing/2014/main" id="{651DEC52-7F1E-4B4E-A2A0-C08845546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3" name="Rectangle 83">
              <a:extLst>
                <a:ext uri="{FF2B5EF4-FFF2-40B4-BE49-F238E27FC236}">
                  <a16:creationId xmlns:a16="http://schemas.microsoft.com/office/drawing/2014/main" id="{11C6F913-9C33-4757-9BF2-A050BD27C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9763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64" name="Group 3">
            <a:extLst>
              <a:ext uri="{FF2B5EF4-FFF2-40B4-BE49-F238E27FC236}">
                <a16:creationId xmlns:a16="http://schemas.microsoft.com/office/drawing/2014/main" id="{45382E01-EAF7-41E7-BE6B-B99A4FDCDCFA}"/>
              </a:ext>
            </a:extLst>
          </p:cNvPr>
          <p:cNvGrpSpPr>
            <a:grpSpLocks/>
          </p:cNvGrpSpPr>
          <p:nvPr/>
        </p:nvGrpSpPr>
        <p:grpSpPr bwMode="auto">
          <a:xfrm>
            <a:off x="1878192" y="5825403"/>
            <a:ext cx="708025" cy="177800"/>
            <a:chOff x="1730375" y="2687638"/>
            <a:chExt cx="708025" cy="177800"/>
          </a:xfrm>
        </p:grpSpPr>
        <p:sp>
          <p:nvSpPr>
            <p:cNvPr id="65" name="Rectangle 82">
              <a:extLst>
                <a:ext uri="{FF2B5EF4-FFF2-40B4-BE49-F238E27FC236}">
                  <a16:creationId xmlns:a16="http://schemas.microsoft.com/office/drawing/2014/main" id="{73109364-4BF8-48DB-8215-7432B2C78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6" name="Rectangle 83">
              <a:extLst>
                <a:ext uri="{FF2B5EF4-FFF2-40B4-BE49-F238E27FC236}">
                  <a16:creationId xmlns:a16="http://schemas.microsoft.com/office/drawing/2014/main" id="{DD181E8C-F69F-4FC5-9979-FB861B044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7" name="Rectangle 85">
              <a:extLst>
                <a:ext uri="{FF2B5EF4-FFF2-40B4-BE49-F238E27FC236}">
                  <a16:creationId xmlns:a16="http://schemas.microsoft.com/office/drawing/2014/main" id="{651DEC52-7F1E-4B4E-A2A0-C08845546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9" name="Rectangle 83">
              <a:extLst>
                <a:ext uri="{FF2B5EF4-FFF2-40B4-BE49-F238E27FC236}">
                  <a16:creationId xmlns:a16="http://schemas.microsoft.com/office/drawing/2014/main" id="{11C6F913-9C33-4757-9BF2-A050BD27C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9763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70" name="Rectangle 93_____">
            <a:extLst>
              <a:ext uri="{FF2B5EF4-FFF2-40B4-BE49-F238E27FC236}">
                <a16:creationId xmlns:a16="http://schemas.microsoft.com/office/drawing/2014/main" id="{F410424D-A018-4BDE-B3BE-94F8F73EE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474" y="5396954"/>
            <a:ext cx="98266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  </a:t>
            </a:r>
          </a:p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</a:t>
            </a:r>
            <a:r>
              <a:rPr lang="en-US" altLang="en-US" sz="28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 </a:t>
            </a:r>
            <a:endParaRPr lang="en-US" altLang="en-US" sz="1000" b="0" dirty="0">
              <a:solidFill>
                <a:srgbClr val="00B050"/>
              </a:solidFill>
              <a:latin typeface="+mj-lt"/>
              <a:sym typeface="Wingdings" panose="05000000000000000000" pitchFamily="2" charset="2"/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8281" y="4581128"/>
            <a:ext cx="1057599" cy="827339"/>
          </a:xfrm>
          <a:prstGeom prst="rect">
            <a:avLst/>
          </a:prstGeom>
        </p:spPr>
      </p:pic>
      <p:sp>
        <p:nvSpPr>
          <p:cNvPr id="81" name="Text Box 90">
            <a:extLst>
              <a:ext uri="{FF2B5EF4-FFF2-40B4-BE49-F238E27FC236}">
                <a16:creationId xmlns:a16="http://schemas.microsoft.com/office/drawing/2014/main" id="{6D897C5A-A1A5-437B-9B0E-41A4C3230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95" y="3789820"/>
            <a:ext cx="1371600" cy="503276"/>
          </a:xfrm>
          <a:prstGeom prst="rect">
            <a:avLst/>
          </a:prstGeom>
          <a:noFill/>
          <a:ln w="28575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Part to Part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2" name="Text Box 5">
            <a:extLst>
              <a:ext uri="{FF2B5EF4-FFF2-40B4-BE49-F238E27FC236}">
                <a16:creationId xmlns:a16="http://schemas.microsoft.com/office/drawing/2014/main" id="{D88BF97A-012C-4888-B3DC-257D55B04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193" y="3772213"/>
            <a:ext cx="4087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 Affected parts are Single in Pump </a:t>
            </a:r>
          </a:p>
          <a:p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(Housing, Setting Ring, Cover, Valve &amp; Spring)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88" name="Group 3">
            <a:extLst>
              <a:ext uri="{FF2B5EF4-FFF2-40B4-BE49-F238E27FC236}">
                <a16:creationId xmlns:a16="http://schemas.microsoft.com/office/drawing/2014/main" id="{45382E01-EAF7-41E7-BE6B-B99A4FDCDCFA}"/>
              </a:ext>
            </a:extLst>
          </p:cNvPr>
          <p:cNvGrpSpPr>
            <a:grpSpLocks/>
          </p:cNvGrpSpPr>
          <p:nvPr/>
        </p:nvGrpSpPr>
        <p:grpSpPr bwMode="auto">
          <a:xfrm>
            <a:off x="1919536" y="3971280"/>
            <a:ext cx="708025" cy="177800"/>
            <a:chOff x="1730375" y="2687638"/>
            <a:chExt cx="708025" cy="177800"/>
          </a:xfrm>
        </p:grpSpPr>
        <p:sp>
          <p:nvSpPr>
            <p:cNvPr id="89" name="Rectangle 82">
              <a:extLst>
                <a:ext uri="{FF2B5EF4-FFF2-40B4-BE49-F238E27FC236}">
                  <a16:creationId xmlns:a16="http://schemas.microsoft.com/office/drawing/2014/main" id="{73109364-4BF8-48DB-8215-7432B2C78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90" name="Rectangle 83">
              <a:extLst>
                <a:ext uri="{FF2B5EF4-FFF2-40B4-BE49-F238E27FC236}">
                  <a16:creationId xmlns:a16="http://schemas.microsoft.com/office/drawing/2014/main" id="{DD181E8C-F69F-4FC5-9979-FB861B044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975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91" name="Rectangle 85">
              <a:extLst>
                <a:ext uri="{FF2B5EF4-FFF2-40B4-BE49-F238E27FC236}">
                  <a16:creationId xmlns:a16="http://schemas.microsoft.com/office/drawing/2014/main" id="{651DEC52-7F1E-4B4E-A2A0-C08845546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600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92" name="Rectangle 83">
              <a:extLst>
                <a:ext uri="{FF2B5EF4-FFF2-40B4-BE49-F238E27FC236}">
                  <a16:creationId xmlns:a16="http://schemas.microsoft.com/office/drawing/2014/main" id="{11C6F913-9C33-4757-9BF2-A050BD27C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9763" y="2687638"/>
              <a:ext cx="177800" cy="17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FF3300"/>
                  </a:solidFill>
                  <a:latin typeface="Arial" panose="020B0604020202020204" pitchFamily="34" charset="0"/>
                  <a:cs typeface="Times New Roman" panose="02020603050405020304" pitchFamily="18" charset="0"/>
                </a:defRPr>
              </a:lvl9pPr>
            </a:lstStyle>
            <a:p>
              <a:endParaRPr lang="en-US" altLang="en-US" sz="1600" b="0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98" name="Rectangle 93_____">
            <a:extLst>
              <a:ext uri="{FF2B5EF4-FFF2-40B4-BE49-F238E27FC236}">
                <a16:creationId xmlns:a16="http://schemas.microsoft.com/office/drawing/2014/main" id="{F410424D-A018-4BDE-B3BE-94F8F73EE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280" y="3561299"/>
            <a:ext cx="98266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95363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  </a:t>
            </a:r>
          </a:p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    </a:t>
            </a:r>
            <a:r>
              <a:rPr lang="en-US" altLang="en-US" sz="2800" b="0" dirty="0">
                <a:solidFill>
                  <a:srgbClr val="00B050"/>
                </a:solidFill>
                <a:latin typeface="+mj-lt"/>
                <a:sym typeface="Wingdings" panose="05000000000000000000" pitchFamily="2" charset="2"/>
              </a:rPr>
              <a:t> </a:t>
            </a:r>
            <a:endParaRPr lang="en-US" altLang="en-US" sz="1000" b="0" dirty="0">
              <a:solidFill>
                <a:srgbClr val="00B050"/>
              </a:solidFill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99" name="Text Box 74">
            <a:extLst>
              <a:ext uri="{FF2B5EF4-FFF2-40B4-BE49-F238E27FC236}">
                <a16:creationId xmlns:a16="http://schemas.microsoft.com/office/drawing/2014/main" id="{926EB7C2-0AEE-4A44-AA4F-21330BC2F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4263058"/>
            <a:ext cx="13541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000" dirty="0" smtClean="0">
                <a:solidFill>
                  <a:srgbClr val="000000"/>
                </a:solidFill>
                <a:latin typeface="+mj-lt"/>
              </a:rPr>
              <a:t>Same Pump</a:t>
            </a:r>
            <a:endParaRPr lang="en-US" altLang="en-US" sz="1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2" name="Titel 1"/>
          <p:cNvSpPr txBox="1">
            <a:spLocks/>
          </p:cNvSpPr>
          <p:nvPr/>
        </p:nvSpPr>
        <p:spPr>
          <a:xfrm>
            <a:off x="2917105" y="221827"/>
            <a:ext cx="4184328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</a:t>
            </a:r>
            <a:r>
              <a:rPr lang="en-US" sz="1000" b="0" dirty="0"/>
              <a:t>PU2025-18- PU2025-18- FTQ improvement for BR10 VOP-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859" y="3844684"/>
            <a:ext cx="1510221" cy="467060"/>
          </a:xfrm>
          <a:prstGeom prst="rect">
            <a:avLst/>
          </a:prstGeom>
        </p:spPr>
      </p:pic>
      <p:sp>
        <p:nvSpPr>
          <p:cNvPr id="73" name="Text Box 123">
            <a:extLst>
              <a:ext uri="{FF2B5EF4-FFF2-40B4-BE49-F238E27FC236}">
                <a16:creationId xmlns:a16="http://schemas.microsoft.com/office/drawing/2014/main" id="{BE02DBF0-88A0-499E-B4E5-89763DD16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959" y="1428004"/>
            <a:ext cx="2301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i="1" u="sng" dirty="0">
                <a:solidFill>
                  <a:srgbClr val="000000"/>
                </a:solidFill>
                <a:latin typeface="+mj-lt"/>
              </a:rPr>
              <a:t>Diagram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9466" y="3533609"/>
            <a:ext cx="650007" cy="1206830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738" y="1700808"/>
            <a:ext cx="835238" cy="866823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179" y="4581128"/>
            <a:ext cx="835238" cy="8093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8068" y="2658320"/>
            <a:ext cx="1978478" cy="105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0970" y="4509120"/>
            <a:ext cx="1765067" cy="910499"/>
          </a:xfrm>
          <a:prstGeom prst="rect">
            <a:avLst/>
          </a:prstGeom>
        </p:spPr>
      </p:pic>
      <p:sp>
        <p:nvSpPr>
          <p:cNvPr id="78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510" y="1988840"/>
            <a:ext cx="654729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WOW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0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1704" y="1988840"/>
            <a:ext cx="654729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BOB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9149" y="1700809"/>
            <a:ext cx="917176" cy="8668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222" y="5560442"/>
            <a:ext cx="1292506" cy="83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8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139" y="486852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4" name="Titel 1"/>
          <p:cNvSpPr txBox="1">
            <a:spLocks/>
          </p:cNvSpPr>
          <p:nvPr/>
        </p:nvSpPr>
        <p:spPr bwMode="auto">
          <a:xfrm>
            <a:off x="3497948" y="500301"/>
            <a:ext cx="3485452" cy="33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 dirty="0" smtClean="0">
                <a:latin typeface="+mj-lt"/>
                <a:cs typeface="Arial" panose="020B0604020202020204" pitchFamily="34" charset="0"/>
              </a:rPr>
              <a:t>Component Search- Stage 0</a:t>
            </a:r>
            <a:endParaRPr lang="en-US" sz="2000" dirty="0"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199456" y="1002018"/>
            <a:ext cx="9760636" cy="5019270"/>
            <a:chOff x="135947" y="1002018"/>
            <a:chExt cx="9760636" cy="501927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268" y="1004823"/>
              <a:ext cx="1843309" cy="138338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947" y="2725201"/>
              <a:ext cx="1844630" cy="3296087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8303" y="1004823"/>
              <a:ext cx="1837019" cy="1368152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08219" y="2722642"/>
              <a:ext cx="1827103" cy="3296087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3048" y="1002018"/>
              <a:ext cx="1849637" cy="1370958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31034" y="2725201"/>
              <a:ext cx="1871651" cy="3296087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20411" y="1002018"/>
              <a:ext cx="1868431" cy="1368152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20411" y="2725201"/>
              <a:ext cx="1868431" cy="3296087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06568" y="1002018"/>
              <a:ext cx="1890014" cy="1368152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16049" y="2711024"/>
              <a:ext cx="1880534" cy="3296087"/>
            </a:xfrm>
            <a:prstGeom prst="rect">
              <a:avLst/>
            </a:prstGeom>
          </p:spPr>
        </p:pic>
      </p:grpSp>
      <p:sp>
        <p:nvSpPr>
          <p:cNvPr id="20" name="Titel 1"/>
          <p:cNvSpPr txBox="1">
            <a:spLocks/>
          </p:cNvSpPr>
          <p:nvPr/>
        </p:nvSpPr>
        <p:spPr bwMode="auto">
          <a:xfrm>
            <a:off x="1176474" y="6007111"/>
            <a:ext cx="8815112" cy="33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 dirty="0" smtClean="0">
                <a:latin typeface="+mj-lt"/>
                <a:cs typeface="Arial" panose="020B0604020202020204" pitchFamily="34" charset="0"/>
              </a:rPr>
              <a:t>Conclusion: </a:t>
            </a:r>
            <a:r>
              <a:rPr lang="en-US" sz="1600" b="0" dirty="0" smtClean="0">
                <a:latin typeface="+mj-lt"/>
                <a:cs typeface="Arial" panose="020B0604020202020204" pitchFamily="34" charset="0"/>
              </a:rPr>
              <a:t>Pair 1, 2, 3, 4, 5, and 6 &gt; stage 0 pass as BOB and WOW remains same (Measurement is OK)</a:t>
            </a:r>
            <a:endParaRPr lang="en-US" sz="1600" b="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04499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>
          <a:xfrm>
            <a:off x="442800" y="597600"/>
            <a:ext cx="1130501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 smtClean="0">
                <a:latin typeface="+mj-lt"/>
                <a:cs typeface="Arial" panose="020B0604020202020204" pitchFamily="34" charset="0"/>
              </a:rPr>
              <a:t>ANALYZE</a:t>
            </a:r>
            <a:endParaRPr lang="en-US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471" y="733618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01237" y="1357662"/>
            <a:ext cx="905447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50000"/>
              </a:spcBef>
              <a:buSzPct val="90000"/>
              <a:defRPr sz="16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rgbClr val="6A6B6D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Possible required tools like: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Component Search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Concentration diagram</a:t>
            </a: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-------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Paired Comparison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 </a:t>
            </a:r>
            <a:endParaRPr lang="en-US" altLang="de-DE" sz="2000" b="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Solution Tree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------------------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en-US" sz="2000" b="0" dirty="0" smtClean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Risk </a:t>
            </a:r>
            <a:r>
              <a:rPr lang="en-US" altLang="en-US" sz="20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Assessment </a:t>
            </a:r>
            <a:r>
              <a:rPr lang="en-US" altLang="en-US" sz="2000" b="0" dirty="0" smtClean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Matrix </a:t>
            </a:r>
            <a:r>
              <a:rPr lang="en-US" altLang="de-DE" sz="2000" b="0" dirty="0" smtClean="0">
                <a:solidFill>
                  <a:schemeClr val="tx1"/>
                </a:solidFill>
              </a:rPr>
              <a:t>-----</a:t>
            </a:r>
            <a:r>
              <a:rPr lang="en-US" altLang="en-US" sz="2000" b="0" dirty="0" smtClean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en-US" sz="2000" b="0" dirty="0" smtClean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Confirmation Testing </a:t>
            </a: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---------</a:t>
            </a:r>
            <a:endParaRPr lang="en-US" altLang="en-US" sz="200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8711528" y="2986174"/>
            <a:ext cx="3320278" cy="3981035"/>
            <a:chOff x="8714192" y="2986174"/>
            <a:chExt cx="3320278" cy="3981035"/>
          </a:xfrm>
        </p:grpSpPr>
        <p:grpSp>
          <p:nvGrpSpPr>
            <p:cNvPr id="36" name="Gruppieren 35"/>
            <p:cNvGrpSpPr/>
            <p:nvPr/>
          </p:nvGrpSpPr>
          <p:grpSpPr>
            <a:xfrm>
              <a:off x="9403016" y="2986174"/>
              <a:ext cx="2631454" cy="2140456"/>
              <a:chOff x="304094" y="0"/>
              <a:chExt cx="4526280" cy="3681730"/>
            </a:xfrm>
          </p:grpSpPr>
          <p:pic>
            <p:nvPicPr>
              <p:cNvPr id="37" name="Grafik 3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4" y="0"/>
                <a:ext cx="4526280" cy="3681730"/>
              </a:xfrm>
              <a:prstGeom prst="rect">
                <a:avLst/>
              </a:prstGeom>
            </p:spPr>
          </p:pic>
          <p:sp>
            <p:nvSpPr>
              <p:cNvPr id="38" name="Rechteck 37"/>
              <p:cNvSpPr/>
              <p:nvPr/>
            </p:nvSpPr>
            <p:spPr>
              <a:xfrm>
                <a:off x="356520" y="147711"/>
                <a:ext cx="3170321" cy="9504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GB" sz="500" b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Mone(Y) = Mass Flow [kg/s]</a:t>
                </a:r>
                <a:endParaRPr lang="en-US" sz="50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" name="Textfeld 31"/>
            <p:cNvSpPr txBox="1"/>
            <p:nvPr/>
          </p:nvSpPr>
          <p:spPr>
            <a:xfrm>
              <a:off x="9469795" y="5064577"/>
              <a:ext cx="47075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de-DE" sz="700" smtClean="0">
                  <a:solidFill>
                    <a:schemeClr val="bg2"/>
                  </a:solidFill>
                  <a:latin typeface="Century Gothic" panose="020B0502020202020204" pitchFamily="34" charset="0"/>
                </a:rPr>
                <a:t>BIG X</a:t>
              </a:r>
              <a:endParaRPr lang="en-US" sz="700" dirty="0" smtClean="0">
                <a:solidFill>
                  <a:schemeClr val="bg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3" name="TextBox 7"/>
            <p:cNvSpPr txBox="1"/>
            <p:nvPr/>
          </p:nvSpPr>
          <p:spPr>
            <a:xfrm>
              <a:off x="8714192" y="5313081"/>
              <a:ext cx="31190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800" b="0" dirty="0" smtClean="0">
                  <a:solidFill>
                    <a:schemeClr val="tx1">
                      <a:lumMod val="10000"/>
                    </a:schemeClr>
                  </a:solidFill>
                </a:rPr>
                <a:t>            </a:t>
              </a:r>
              <a:r>
                <a:rPr lang="en-US" sz="1800" dirty="0" smtClean="0">
                  <a:solidFill>
                    <a:schemeClr val="tx1">
                      <a:lumMod val="10000"/>
                    </a:schemeClr>
                  </a:solidFill>
                </a:rPr>
                <a:t>Elimination Strategy</a:t>
              </a:r>
            </a:p>
            <a:p>
              <a:pPr>
                <a:buClr>
                  <a:schemeClr val="accent3"/>
                </a:buClr>
              </a:pP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  <a:p>
              <a:pPr>
                <a:buClr>
                  <a:schemeClr val="accent3"/>
                </a:buClr>
              </a:pPr>
              <a:r>
                <a:rPr lang="en-US" sz="1800" b="0" smtClean="0">
                  <a:solidFill>
                    <a:schemeClr val="tx1">
                      <a:lumMod val="10000"/>
                    </a:schemeClr>
                  </a:solidFill>
                </a:rPr>
                <a:t> </a:t>
              </a: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pic>
          <p:nvPicPr>
            <p:cNvPr id="34" name="Grafik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2120" y="5433917"/>
              <a:ext cx="2173010" cy="1533292"/>
            </a:xfrm>
            <a:prstGeom prst="rect">
              <a:avLst/>
            </a:prstGeom>
          </p:spPr>
        </p:pic>
      </p:grpSp>
      <p:cxnSp>
        <p:nvCxnSpPr>
          <p:cNvPr id="39" name="Straight Connector 40"/>
          <p:cNvCxnSpPr/>
          <p:nvPr/>
        </p:nvCxnSpPr>
        <p:spPr>
          <a:xfrm>
            <a:off x="9082800" y="1214359"/>
            <a:ext cx="0" cy="509496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163" y="1165401"/>
            <a:ext cx="1601087" cy="1601087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791744" y="1634627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791744" y="2138683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791744" y="2642739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791744" y="3146795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791744" y="3650851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791744" y="4154907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03743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139" y="486852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4" name="Titel 1"/>
          <p:cNvSpPr txBox="1">
            <a:spLocks/>
          </p:cNvSpPr>
          <p:nvPr/>
        </p:nvSpPr>
        <p:spPr bwMode="auto">
          <a:xfrm>
            <a:off x="3515668" y="435551"/>
            <a:ext cx="3228403" cy="40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 dirty="0" smtClean="0">
                <a:latin typeface="+mj-lt"/>
                <a:cs typeface="Arial" panose="020B0604020202020204" pitchFamily="34" charset="0"/>
              </a:rPr>
              <a:t>Component Search- Stage 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29907" y="940178"/>
            <a:ext cx="9862637" cy="4896452"/>
            <a:chOff x="191344" y="940178"/>
            <a:chExt cx="9862637" cy="489645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046" y="940179"/>
              <a:ext cx="1909127" cy="152264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344" y="2596270"/>
              <a:ext cx="1908029" cy="324036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5428" y="940179"/>
              <a:ext cx="1912705" cy="152264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5429" y="2596270"/>
              <a:ext cx="1924478" cy="324036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75730" y="940179"/>
              <a:ext cx="1900971" cy="152264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7310" y="2596270"/>
              <a:ext cx="1903279" cy="324036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4298" y="940178"/>
              <a:ext cx="1911505" cy="152264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54299" y="2596270"/>
              <a:ext cx="1911504" cy="324036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49512" y="940180"/>
              <a:ext cx="1904469" cy="1522644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49513" y="2596270"/>
              <a:ext cx="1904468" cy="3240360"/>
            </a:xfrm>
            <a:prstGeom prst="rect">
              <a:avLst/>
            </a:prstGeom>
          </p:spPr>
        </p:pic>
      </p:grpSp>
      <p:sp>
        <p:nvSpPr>
          <p:cNvPr id="27" name="Titel 1"/>
          <p:cNvSpPr txBox="1">
            <a:spLocks/>
          </p:cNvSpPr>
          <p:nvPr/>
        </p:nvSpPr>
        <p:spPr bwMode="auto">
          <a:xfrm>
            <a:off x="1193797" y="5878242"/>
            <a:ext cx="8815112" cy="33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400" dirty="0" smtClean="0">
                <a:latin typeface="+mj-lt"/>
                <a:cs typeface="Arial" panose="020B0604020202020204" pitchFamily="34" charset="0"/>
              </a:rPr>
              <a:t>Conclusion: </a:t>
            </a:r>
            <a:r>
              <a:rPr lang="en-US" sz="1400" b="0" dirty="0" smtClean="0">
                <a:latin typeface="+mj-lt"/>
                <a:cs typeface="Arial" panose="020B0604020202020204" pitchFamily="34" charset="0"/>
              </a:rPr>
              <a:t>Pair 1, 2, 3, and 4 found stage 1 passed as BOB and WOW remains same (Process is OK)</a:t>
            </a:r>
            <a:endParaRPr lang="en-US" sz="1400" b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8" name="Titel 1"/>
          <p:cNvSpPr txBox="1">
            <a:spLocks/>
          </p:cNvSpPr>
          <p:nvPr/>
        </p:nvSpPr>
        <p:spPr bwMode="auto">
          <a:xfrm>
            <a:off x="9140525" y="5774432"/>
            <a:ext cx="2565632" cy="54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400" b="0" dirty="0" smtClean="0">
                <a:latin typeface="+mj-lt"/>
                <a:cs typeface="Arial" panose="020B0604020202020204" pitchFamily="34" charset="0"/>
              </a:rPr>
              <a:t>Burr- Contamination </a:t>
            </a:r>
          </a:p>
          <a:p>
            <a:r>
              <a:rPr lang="en-US" sz="1400" b="0" dirty="0" smtClean="0">
                <a:latin typeface="+mj-lt"/>
                <a:cs typeface="Arial" panose="020B0604020202020204" pitchFamily="34" charset="0"/>
              </a:rPr>
              <a:t>found at rotor &amp; setting ring area</a:t>
            </a:r>
            <a:endParaRPr lang="en-US" sz="1400" b="0" dirty="0"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1050810" y="5041497"/>
            <a:ext cx="1006247" cy="961541"/>
            <a:chOff x="1033106" y="2024159"/>
            <a:chExt cx="3744416" cy="3841463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33106" y="2024159"/>
              <a:ext cx="3744416" cy="3841463"/>
            </a:xfrm>
            <a:prstGeom prst="rect">
              <a:avLst/>
            </a:prstGeom>
          </p:spPr>
        </p:pic>
        <p:sp>
          <p:nvSpPr>
            <p:cNvPr id="23" name="Oval 22"/>
            <p:cNvSpPr/>
            <p:nvPr/>
          </p:nvSpPr>
          <p:spPr>
            <a:xfrm>
              <a:off x="2423592" y="3118227"/>
              <a:ext cx="533025" cy="45478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46649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139" y="486852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4" name="Titel 1"/>
          <p:cNvSpPr txBox="1">
            <a:spLocks/>
          </p:cNvSpPr>
          <p:nvPr/>
        </p:nvSpPr>
        <p:spPr bwMode="auto">
          <a:xfrm>
            <a:off x="3802500" y="384858"/>
            <a:ext cx="3228403" cy="40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 dirty="0" smtClean="0">
                <a:latin typeface="+mj-lt"/>
                <a:cs typeface="Arial" panose="020B0604020202020204" pitchFamily="34" charset="0"/>
              </a:rPr>
              <a:t>Component Search- Stage 2</a:t>
            </a:r>
            <a:endParaRPr lang="en-US" sz="20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257" y="854880"/>
            <a:ext cx="3672408" cy="272968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737" y="839033"/>
            <a:ext cx="3672408" cy="275045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257" y="3664622"/>
            <a:ext cx="3667007" cy="2738506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2716401" y="2747152"/>
            <a:ext cx="144015" cy="3960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716401" y="5591468"/>
            <a:ext cx="144015" cy="3960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036882" y="2747152"/>
            <a:ext cx="144015" cy="3960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el 1"/>
          <p:cNvSpPr txBox="1">
            <a:spLocks/>
          </p:cNvSpPr>
          <p:nvPr/>
        </p:nvSpPr>
        <p:spPr bwMode="auto">
          <a:xfrm>
            <a:off x="5730894" y="4005064"/>
            <a:ext cx="6258799" cy="778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 dirty="0" smtClean="0">
                <a:latin typeface="+mj-lt"/>
                <a:cs typeface="Arial" panose="020B0604020202020204" pitchFamily="34" charset="0"/>
              </a:rPr>
              <a:t>Conclusion: </a:t>
            </a:r>
            <a:r>
              <a:rPr lang="en-US" sz="1600" b="0" dirty="0" smtClean="0">
                <a:latin typeface="+mj-lt"/>
                <a:cs typeface="Arial" panose="020B0604020202020204" pitchFamily="34" charset="0"/>
              </a:rPr>
              <a:t>Pair 1, 2, and 3 found housing as suspected BIG-X</a:t>
            </a:r>
          </a:p>
          <a:p>
            <a:r>
              <a:rPr lang="en-US" sz="1600" b="0" dirty="0" smtClean="0">
                <a:latin typeface="+mj-lt"/>
                <a:cs typeface="Arial" panose="020B0604020202020204" pitchFamily="34" charset="0"/>
              </a:rPr>
              <a:t>as BOB and WOW results changed, sent for dimensional inspection</a:t>
            </a:r>
            <a:endParaRPr lang="en-US" sz="1600" b="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34917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139" y="486852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4" name="Titel 1"/>
          <p:cNvSpPr txBox="1">
            <a:spLocks/>
          </p:cNvSpPr>
          <p:nvPr/>
        </p:nvSpPr>
        <p:spPr bwMode="auto">
          <a:xfrm>
            <a:off x="3515668" y="516192"/>
            <a:ext cx="3228403" cy="40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 dirty="0" smtClean="0">
                <a:latin typeface="+mj-lt"/>
                <a:cs typeface="Arial" panose="020B0604020202020204" pitchFamily="34" charset="0"/>
              </a:rPr>
              <a:t>Component Search- Stage 2</a:t>
            </a:r>
            <a:endParaRPr lang="en-US" sz="2000" dirty="0"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071664" y="1047704"/>
            <a:ext cx="3869671" cy="2923656"/>
            <a:chOff x="4511824" y="3666215"/>
            <a:chExt cx="3672408" cy="2738506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11824" y="3666215"/>
              <a:ext cx="3672408" cy="2738506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5626684" y="5575621"/>
              <a:ext cx="144015" cy="3960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itel 1"/>
          <p:cNvSpPr txBox="1">
            <a:spLocks/>
          </p:cNvSpPr>
          <p:nvPr/>
        </p:nvSpPr>
        <p:spPr bwMode="auto">
          <a:xfrm>
            <a:off x="3103777" y="3779809"/>
            <a:ext cx="5777323" cy="778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600" dirty="0" smtClean="0">
                <a:latin typeface="+mj-lt"/>
                <a:cs typeface="Arial" panose="020B0604020202020204" pitchFamily="34" charset="0"/>
              </a:rPr>
              <a:t>Conclusion: </a:t>
            </a:r>
            <a:r>
              <a:rPr lang="en-US" sz="1600" b="0" dirty="0" smtClean="0">
                <a:latin typeface="+mj-lt"/>
                <a:cs typeface="Arial" panose="020B0604020202020204" pitchFamily="34" charset="0"/>
              </a:rPr>
              <a:t>Pair 4 found cover suspected, as BOB and WOW results changed</a:t>
            </a:r>
            <a:r>
              <a:rPr lang="en-US" sz="1600" b="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1600" b="0" dirty="0" smtClean="0">
                <a:latin typeface="+mj-lt"/>
                <a:cs typeface="Arial" panose="020B0604020202020204" pitchFamily="34" charset="0"/>
              </a:rPr>
              <a:t>and cover sent for </a:t>
            </a:r>
            <a:r>
              <a:rPr lang="en-US" sz="1600" b="0" dirty="0" err="1" smtClean="0">
                <a:cs typeface="Arial" panose="020B0604020202020204" pitchFamily="34" charset="0"/>
              </a:rPr>
              <a:t>for</a:t>
            </a:r>
            <a:r>
              <a:rPr lang="en-US" sz="1600" b="0" dirty="0">
                <a:cs typeface="Arial" panose="020B0604020202020204" pitchFamily="34" charset="0"/>
              </a:rPr>
              <a:t> </a:t>
            </a:r>
            <a:r>
              <a:rPr lang="en-US" sz="1600" b="0" dirty="0" smtClean="0">
                <a:cs typeface="Arial" panose="020B0604020202020204" pitchFamily="34" charset="0"/>
              </a:rPr>
              <a:t>dimensional inspection</a:t>
            </a:r>
            <a:r>
              <a:rPr lang="en-US" sz="1600" b="0" dirty="0" smtClean="0">
                <a:latin typeface="+mj-lt"/>
                <a:cs typeface="Arial" panose="020B0604020202020204" pitchFamily="34" charset="0"/>
              </a:rPr>
              <a:t> </a:t>
            </a:r>
            <a:endParaRPr lang="en-US" sz="1600" b="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951" y="4558278"/>
            <a:ext cx="6190325" cy="12961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79192" y="5929177"/>
            <a:ext cx="58902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SzPct val="100000"/>
            </a:pPr>
            <a:r>
              <a:rPr lang="en-US" altLang="en-US" dirty="0" smtClean="0">
                <a:solidFill>
                  <a:schemeClr val="tx1"/>
                </a:solidFill>
              </a:rPr>
              <a:t>Conclusion: </a:t>
            </a:r>
            <a:r>
              <a:rPr lang="en-US" altLang="en-US" b="0" dirty="0" smtClean="0">
                <a:solidFill>
                  <a:schemeClr val="tx1"/>
                </a:solidFill>
              </a:rPr>
              <a:t>Cover flatness 0.050mm is the BIG-X 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93987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139" y="486852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Titel 1"/>
          <p:cNvSpPr txBox="1">
            <a:spLocks/>
          </p:cNvSpPr>
          <p:nvPr/>
        </p:nvSpPr>
        <p:spPr bwMode="auto">
          <a:xfrm>
            <a:off x="3791744" y="518875"/>
            <a:ext cx="4681362" cy="455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400" dirty="0">
                <a:latin typeface="+mj-lt"/>
                <a:cs typeface="Arial" panose="020B0604020202020204" pitchFamily="34" charset="0"/>
              </a:rPr>
              <a:t>Paired Comparisons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52" y="4027808"/>
            <a:ext cx="5381843" cy="1485721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335361" y="3983548"/>
            <a:ext cx="5040559" cy="2464273"/>
            <a:chOff x="335361" y="3983548"/>
            <a:chExt cx="5040559" cy="246427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361" y="3983548"/>
              <a:ext cx="5040559" cy="2464273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2783632" y="6021288"/>
              <a:ext cx="864096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44" y="938773"/>
            <a:ext cx="11612596" cy="2867425"/>
          </a:xfrm>
          <a:prstGeom prst="rect">
            <a:avLst/>
          </a:prstGeom>
        </p:spPr>
      </p:pic>
      <p:sp>
        <p:nvSpPr>
          <p:cNvPr id="14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 rot="20468057">
            <a:off x="8945524" y="3109729"/>
            <a:ext cx="2938184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Taken additional two pairs for analysis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55840" y="5929245"/>
            <a:ext cx="58902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SzPct val="100000"/>
            </a:pPr>
            <a:r>
              <a:rPr lang="en-US" altLang="en-US" dirty="0" smtClean="0">
                <a:solidFill>
                  <a:schemeClr val="tx1"/>
                </a:solidFill>
              </a:rPr>
              <a:t>Conclusion: </a:t>
            </a:r>
            <a:r>
              <a:rPr lang="en-US" altLang="en-US" b="0" dirty="0" smtClean="0">
                <a:solidFill>
                  <a:schemeClr val="tx1"/>
                </a:solidFill>
              </a:rPr>
              <a:t>Housing </a:t>
            </a:r>
            <a:r>
              <a:rPr lang="en-US" altLang="en-US" b="0" dirty="0">
                <a:solidFill>
                  <a:schemeClr val="tx1"/>
                </a:solidFill>
              </a:rPr>
              <a:t>distance </a:t>
            </a:r>
            <a:r>
              <a:rPr lang="en-US" altLang="en-US" b="0" dirty="0" smtClean="0">
                <a:solidFill>
                  <a:schemeClr val="tx1"/>
                </a:solidFill>
              </a:rPr>
              <a:t>43.70mm is </a:t>
            </a:r>
            <a:r>
              <a:rPr lang="en-US" altLang="en-US" b="0" dirty="0">
                <a:solidFill>
                  <a:schemeClr val="tx1"/>
                </a:solidFill>
              </a:rPr>
              <a:t>the Big </a:t>
            </a:r>
            <a:r>
              <a:rPr lang="en-US" altLang="en-US" b="0" dirty="0" smtClean="0">
                <a:solidFill>
                  <a:schemeClr val="tx1"/>
                </a:solidFill>
              </a:rPr>
              <a:t>X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7802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8">
            <a:extLst>
              <a:ext uri="{FF2B5EF4-FFF2-40B4-BE49-F238E27FC236}">
                <a16:creationId xmlns:a16="http://schemas.microsoft.com/office/drawing/2014/main" id="{90360CFC-9A20-4EBB-97A9-AB8C9C823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402" y="2368157"/>
            <a:ext cx="4261698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90500" indent="-1905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chemeClr val="tx1"/>
                </a:solidFill>
                <a:latin typeface="+mj-lt"/>
              </a:rPr>
              <a:t>Component search stage 0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Passed</a:t>
            </a:r>
          </a:p>
          <a:p>
            <a:pPr marL="0" indent="0" eaLnBrk="1" hangingPunct="1">
              <a:buSzPct val="100000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endParaRPr lang="en-US" altLang="en-US" b="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Component search stage 1 Passed</a:t>
            </a:r>
            <a:endParaRPr lang="en-US" altLang="en-US" b="0" dirty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endParaRPr lang="en-US" altLang="en-US" b="0" dirty="0">
              <a:solidFill>
                <a:schemeClr val="tx1"/>
              </a:solidFill>
              <a:latin typeface="+mj-lt"/>
            </a:endParaRPr>
          </a:p>
          <a:p>
            <a:pPr marL="0" indent="0" eaLnBrk="1" hangingPunct="1">
              <a:buSzPct val="100000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marL="0" indent="0" eaLnBrk="1" hangingPunct="1">
              <a:buSzPct val="100000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marL="0" indent="0" eaLnBrk="1" hangingPunct="1">
              <a:buSzPct val="100000"/>
            </a:pPr>
            <a:endParaRPr lang="en-US" altLang="en-US" b="0" dirty="0">
              <a:solidFill>
                <a:schemeClr val="tx1"/>
              </a:solidFill>
              <a:latin typeface="+mj-lt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Component search stage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2 For Pair1, 2 and 3 </a:t>
            </a:r>
          </a:p>
          <a:p>
            <a:pPr marL="0" indent="0">
              <a:buSzPct val="100000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      swap analysis completed-BOB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become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WOW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and </a:t>
            </a:r>
            <a:endParaRPr lang="en-US" altLang="en-US" b="0" dirty="0" smtClean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 marL="0" indent="0">
              <a:buSzPct val="100000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      WOW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become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BOB, when housing is replaced.</a:t>
            </a:r>
          </a:p>
          <a:p>
            <a:pPr marL="0" indent="0">
              <a:buSzPct val="100000"/>
            </a:pPr>
            <a:endParaRPr lang="en-US" altLang="en-US" b="0" dirty="0" smtClean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endParaRPr lang="en-US" altLang="en-US" b="0" dirty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Paired Comparison: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mong </a:t>
            </a:r>
            <a:r>
              <a:rPr lang="en-US" altLang="en-US" b="0" dirty="0">
                <a:solidFill>
                  <a:schemeClr val="tx1"/>
                </a:solidFill>
                <a:latin typeface="+mj-lt"/>
              </a:rPr>
              <a:t>the contributing parameters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of</a:t>
            </a:r>
          </a:p>
          <a:p>
            <a:pPr marL="0" indent="0">
              <a:buSzPct val="100000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      housing </a:t>
            </a:r>
            <a:r>
              <a:rPr lang="en-US" altLang="en-US" b="0" dirty="0">
                <a:solidFill>
                  <a:schemeClr val="tx1"/>
                </a:solidFill>
                <a:latin typeface="+mj-lt"/>
              </a:rPr>
              <a:t>for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RR1 high </a:t>
            </a:r>
            <a:r>
              <a:rPr lang="en-US" altLang="en-US" b="0" dirty="0">
                <a:solidFill>
                  <a:schemeClr val="tx1"/>
                </a:solidFill>
                <a:latin typeface="+mj-lt"/>
              </a:rPr>
              <a:t>pressure,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Housing distance 43.70mm </a:t>
            </a:r>
          </a:p>
          <a:p>
            <a:pPr marL="0" indent="0">
              <a:buSzPct val="100000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      is the Big X </a:t>
            </a:r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(Machining at supplier end)</a:t>
            </a:r>
          </a:p>
          <a:p>
            <a:pPr marL="0" indent="0">
              <a:buSzPct val="100000"/>
            </a:pPr>
            <a:endParaRPr lang="en-US" altLang="en-US" dirty="0" smtClean="0">
              <a:solidFill>
                <a:schemeClr val="tx1"/>
              </a:solidFill>
              <a:latin typeface="+mj-lt"/>
            </a:endParaRPr>
          </a:p>
          <a:p>
            <a:pPr marL="0" indent="0" eaLnBrk="1" hangingPunct="1">
              <a:buSzPct val="100000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marL="0" indent="0" eaLnBrk="1" hangingPunct="1">
              <a:buSzPct val="100000"/>
            </a:pPr>
            <a:endParaRPr lang="en-US" altLang="en-US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820" name="TextBox 43">
            <a:extLst>
              <a:ext uri="{FF2B5EF4-FFF2-40B4-BE49-F238E27FC236}">
                <a16:creationId xmlns:a16="http://schemas.microsoft.com/office/drawing/2014/main" id="{8EA8D8EE-0CA9-4EF2-AC32-9E7F0A14D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181" y="2364469"/>
            <a:ext cx="2809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sng"/>
              <a:t>  </a:t>
            </a:r>
          </a:p>
        </p:txBody>
      </p:sp>
      <p:sp>
        <p:nvSpPr>
          <p:cNvPr id="34822" name="Rectangle 4">
            <a:extLst>
              <a:ext uri="{FF2B5EF4-FFF2-40B4-BE49-F238E27FC236}">
                <a16:creationId xmlns:a16="http://schemas.microsoft.com/office/drawing/2014/main" id="{536A5405-4673-46F0-93AD-AC97E3CDD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544" y="5847327"/>
            <a:ext cx="3930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</a:pPr>
            <a:r>
              <a:rPr lang="en-US" altLang="en-US">
                <a:solidFill>
                  <a:schemeClr val="tx1"/>
                </a:solidFill>
                <a:latin typeface="+mj-lt"/>
              </a:rPr>
              <a:t>  </a:t>
            </a:r>
          </a:p>
          <a:p>
            <a:pPr eaLnBrk="1" hangingPunct="1">
              <a:buSzPct val="100000"/>
            </a:pPr>
            <a:r>
              <a:rPr lang="en-US" altLang="en-US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cxnSp>
        <p:nvCxnSpPr>
          <p:cNvPr id="34823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013584" y="1852090"/>
            <a:ext cx="354835" cy="80645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4" name="AutoShape 107">
            <a:extLst>
              <a:ext uri="{FF2B5EF4-FFF2-40B4-BE49-F238E27FC236}">
                <a16:creationId xmlns:a16="http://schemas.microsoft.com/office/drawing/2014/main" id="{4A1C50E4-50BA-4566-B151-D7E473B4B2E5}"/>
              </a:ext>
            </a:extLst>
          </p:cNvPr>
          <p:cNvCxnSpPr>
            <a:cxnSpLocks noChangeShapeType="1"/>
            <a:endCxn id="34826" idx="0"/>
          </p:cNvCxnSpPr>
          <p:nvPr/>
        </p:nvCxnSpPr>
        <p:spPr bwMode="auto">
          <a:xfrm rot="16200000" flipH="1">
            <a:off x="4765265" y="1906857"/>
            <a:ext cx="354835" cy="696913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21" name="Text Box 112">
            <a:extLst>
              <a:ext uri="{FF2B5EF4-FFF2-40B4-BE49-F238E27FC236}">
                <a16:creationId xmlns:a16="http://schemas.microsoft.com/office/drawing/2014/main" id="{FACDD33A-46F0-4B64-8471-8D9A2F2A9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0256" y="2432731"/>
            <a:ext cx="935038" cy="336550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</p:spPr>
        <p:txBody>
          <a:bodyPr lIns="45720" rIns="45720"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0" smtClean="0">
                <a:solidFill>
                  <a:schemeClr val="tx1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en-US" b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</a:t>
            </a:r>
            <a:endParaRPr lang="en-US" altLang="en-US" b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826" name="Text Box 113">
            <a:extLst>
              <a:ext uri="{FF2B5EF4-FFF2-40B4-BE49-F238E27FC236}">
                <a16:creationId xmlns:a16="http://schemas.microsoft.com/office/drawing/2014/main" id="{6C14E49A-0303-4EB8-B43D-D195F8668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3620" y="2432731"/>
            <a:ext cx="935037" cy="336550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20" rIns="45720"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en-US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</a:t>
            </a:r>
            <a:endParaRPr lang="en-US" altLang="en-US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827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332" y="2445733"/>
            <a:ext cx="935038" cy="336550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20" rIns="45720" anchor="ctr">
            <a:spAutoFit/>
          </a:bodyPr>
          <a:lstStyle/>
          <a:p>
            <a:endParaRPr lang="de-DE"/>
          </a:p>
        </p:txBody>
      </p:sp>
      <p:sp>
        <p:nvSpPr>
          <p:cNvPr id="34828" name="Text Box 119">
            <a:extLst>
              <a:ext uri="{FF2B5EF4-FFF2-40B4-BE49-F238E27FC236}">
                <a16:creationId xmlns:a16="http://schemas.microsoft.com/office/drawing/2014/main" id="{E48A500E-76B5-416C-B9B5-4584F0496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9270" y="3140968"/>
            <a:ext cx="1330325" cy="461665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Assembly</a:t>
            </a:r>
          </a:p>
          <a:p>
            <a:pPr algn="ctr" eaLnBrk="1" hangingPunct="1"/>
            <a:r>
              <a:rPr lang="en-US" altLang="en-US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Parts</a:t>
            </a:r>
            <a:endParaRPr lang="en-US" altLang="en-US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7" name="Text Box 120">
            <a:extLst>
              <a:ext uri="{FF2B5EF4-FFF2-40B4-BE49-F238E27FC236}">
                <a16:creationId xmlns:a16="http://schemas.microsoft.com/office/drawing/2014/main" id="{AB1551E6-D6BE-414E-B528-E6E2DE901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832" y="3175037"/>
            <a:ext cx="1236663" cy="461665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200" dirty="0" smtClean="0">
                <a:latin typeface="+mj-lt"/>
              </a:rPr>
              <a:t>Assembly process</a:t>
            </a:r>
            <a:endParaRPr lang="en-US" sz="1200" dirty="0">
              <a:latin typeface="+mj-lt"/>
            </a:endParaRPr>
          </a:p>
        </p:txBody>
      </p:sp>
      <p:cxnSp>
        <p:nvCxnSpPr>
          <p:cNvPr id="34830" name="AutoShape 130">
            <a:extLst>
              <a:ext uri="{FF2B5EF4-FFF2-40B4-BE49-F238E27FC236}">
                <a16:creationId xmlns:a16="http://schemas.microsoft.com/office/drawing/2014/main" id="{41F9544F-6588-4925-81C7-E9DBC3DD6D1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261514" y="2169620"/>
            <a:ext cx="498089" cy="1586706"/>
          </a:xfrm>
          <a:prstGeom prst="bentConnector3">
            <a:avLst>
              <a:gd name="adj1" fmla="val 42581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1" name="AutoShape 131">
            <a:extLst>
              <a:ext uri="{FF2B5EF4-FFF2-40B4-BE49-F238E27FC236}">
                <a16:creationId xmlns:a16="http://schemas.microsoft.com/office/drawing/2014/main" id="{8A49C37C-2CD7-4FA2-88C0-E1CF4F8294F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166982" y="2821791"/>
            <a:ext cx="461111" cy="187251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2" name="Line 117">
            <a:extLst>
              <a:ext uri="{FF2B5EF4-FFF2-40B4-BE49-F238E27FC236}">
                <a16:creationId xmlns:a16="http://schemas.microsoft.com/office/drawing/2014/main" id="{AD330459-439A-4BD8-89F6-64F544A2D3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2830" y="3215368"/>
            <a:ext cx="1236664" cy="431925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51" name="Text Box 126">
            <a:extLst>
              <a:ext uri="{FF2B5EF4-FFF2-40B4-BE49-F238E27FC236}">
                <a16:creationId xmlns:a16="http://schemas.microsoft.com/office/drawing/2014/main" id="{FC6EE52A-ACFF-4D7A-937F-A28C3EAE7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8695" y="4211662"/>
            <a:ext cx="1025525" cy="276999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dirty="0" smtClean="0"/>
              <a:t>Cover</a:t>
            </a:r>
            <a:endParaRPr lang="en-US" altLang="en-US" dirty="0"/>
          </a:p>
        </p:txBody>
      </p:sp>
      <p:cxnSp>
        <p:nvCxnSpPr>
          <p:cNvPr id="34837" name="AutoShape 136">
            <a:extLst>
              <a:ext uri="{FF2B5EF4-FFF2-40B4-BE49-F238E27FC236}">
                <a16:creationId xmlns:a16="http://schemas.microsoft.com/office/drawing/2014/main" id="{9E805CFA-FEFF-4BF9-AE1F-491DF1745479}"/>
              </a:ext>
            </a:extLst>
          </p:cNvPr>
          <p:cNvCxnSpPr>
            <a:cxnSpLocks noChangeShapeType="1"/>
            <a:stCxn id="34828" idx="2"/>
            <a:endCxn id="51" idx="0"/>
          </p:cNvCxnSpPr>
          <p:nvPr/>
        </p:nvCxnSpPr>
        <p:spPr bwMode="auto">
          <a:xfrm rot="16200000" flipH="1">
            <a:off x="3580465" y="3760669"/>
            <a:ext cx="574960" cy="32702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8" name="Line 117">
            <a:extLst>
              <a:ext uri="{FF2B5EF4-FFF2-40B4-BE49-F238E27FC236}">
                <a16:creationId xmlns:a16="http://schemas.microsoft.com/office/drawing/2014/main" id="{1EF6C66F-5C92-4071-B6AC-E4F5AF00E2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6550" y="4199514"/>
            <a:ext cx="1007668" cy="283830"/>
          </a:xfrm>
          <a:prstGeom prst="line">
            <a:avLst/>
          </a:prstGeom>
          <a:noFill/>
          <a:ln w="25400">
            <a:solidFill>
              <a:srgbClr val="3A4A7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57" name="Text Box 123">
            <a:extLst>
              <a:ext uri="{FF2B5EF4-FFF2-40B4-BE49-F238E27FC236}">
                <a16:creationId xmlns:a16="http://schemas.microsoft.com/office/drawing/2014/main" id="{66965F92-7FFE-4C36-BB29-3666669F4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6607" y="4210074"/>
            <a:ext cx="1027113" cy="276999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dirty="0" smtClean="0"/>
              <a:t>Setting ring</a:t>
            </a:r>
            <a:endParaRPr lang="en-US" altLang="en-US" dirty="0"/>
          </a:p>
        </p:txBody>
      </p:sp>
      <p:cxnSp>
        <p:nvCxnSpPr>
          <p:cNvPr id="34843" name="AutoShape 131">
            <a:extLst>
              <a:ext uri="{FF2B5EF4-FFF2-40B4-BE49-F238E27FC236}">
                <a16:creationId xmlns:a16="http://schemas.microsoft.com/office/drawing/2014/main" id="{63FA1538-1AD9-4176-B756-42DE8D065378}"/>
              </a:ext>
            </a:extLst>
          </p:cNvPr>
          <p:cNvCxnSpPr>
            <a:cxnSpLocks noChangeShapeType="1"/>
            <a:stCxn id="34828" idx="2"/>
            <a:endCxn id="57" idx="0"/>
          </p:cNvCxnSpPr>
          <p:nvPr/>
        </p:nvCxnSpPr>
        <p:spPr bwMode="auto">
          <a:xfrm rot="16200000" flipH="1">
            <a:off x="4120612" y="3220522"/>
            <a:ext cx="573372" cy="1405731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44" name="Line 117">
            <a:extLst>
              <a:ext uri="{FF2B5EF4-FFF2-40B4-BE49-F238E27FC236}">
                <a16:creationId xmlns:a16="http://schemas.microsoft.com/office/drawing/2014/main" id="{11416393-1C7C-48AB-8AA7-16FEA71A7C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8605" y="4220665"/>
            <a:ext cx="1029494" cy="248007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cxnSp>
        <p:nvCxnSpPr>
          <p:cNvPr id="34851" name="AutoShape 136">
            <a:extLst>
              <a:ext uri="{FF2B5EF4-FFF2-40B4-BE49-F238E27FC236}">
                <a16:creationId xmlns:a16="http://schemas.microsoft.com/office/drawing/2014/main" id="{F500B9AC-0A09-4178-BD9C-199D7350D68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98909" y="3531862"/>
            <a:ext cx="659367" cy="751683"/>
          </a:xfrm>
          <a:prstGeom prst="bentConnector3">
            <a:avLst>
              <a:gd name="adj1" fmla="val 54267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53" name="Rectangle 47">
            <a:extLst>
              <a:ext uri="{FF2B5EF4-FFF2-40B4-BE49-F238E27FC236}">
                <a16:creationId xmlns:a16="http://schemas.microsoft.com/office/drawing/2014/main" id="{BC95AB42-3EEC-4F27-BB26-05A062970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9" y="1872187"/>
            <a:ext cx="79220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 err="1" smtClean="0">
                <a:solidFill>
                  <a:schemeClr val="tx1"/>
                </a:solidFill>
                <a:cs typeface="Arial" panose="020B0604020202020204" pitchFamily="34" charset="0"/>
              </a:rPr>
              <a:t>Mone</a:t>
            </a:r>
            <a:r>
              <a:rPr lang="en-US" altLang="en-US" dirty="0" smtClean="0">
                <a:solidFill>
                  <a:schemeClr val="tx1"/>
                </a:solidFill>
                <a:cs typeface="Arial" panose="020B0604020202020204" pitchFamily="34" charset="0"/>
              </a:rPr>
              <a:t>(Y)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4855" name="Title 1">
            <a:extLst>
              <a:ext uri="{FF2B5EF4-FFF2-40B4-BE49-F238E27FC236}">
                <a16:creationId xmlns:a16="http://schemas.microsoft.com/office/drawing/2014/main" id="{0D740C5E-0D5A-4962-B4DA-74BE81883B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7507" y="581408"/>
            <a:ext cx="4851400" cy="398463"/>
          </a:xfrm>
          <a:prstGeom prst="rect">
            <a:avLst/>
          </a:prstGeom>
        </p:spPr>
        <p:txBody>
          <a:bodyPr/>
          <a:lstStyle/>
          <a:p>
            <a:r>
              <a:rPr lang="en-US" altLang="en-US" sz="2600">
                <a:latin typeface="+mj-lt"/>
              </a:rPr>
              <a:t>Solution </a:t>
            </a:r>
            <a:r>
              <a:rPr lang="en-US" altLang="en-US" sz="2600" smtClean="0">
                <a:latin typeface="+mj-lt"/>
              </a:rPr>
              <a:t>Tree</a:t>
            </a:r>
            <a:endParaRPr lang="en-US" altLang="en-US" sz="2600">
              <a:latin typeface="+mj-lt"/>
            </a:endParaRPr>
          </a:p>
        </p:txBody>
      </p:sp>
      <p:sp>
        <p:nvSpPr>
          <p:cNvPr id="54" name="Text Box 5">
            <a:extLst>
              <a:ext uri="{FF2B5EF4-FFF2-40B4-BE49-F238E27FC236}">
                <a16:creationId xmlns:a16="http://schemas.microsoft.com/office/drawing/2014/main" id="{E30B8430-A822-46E1-A594-B66D7E502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954" y="1951285"/>
            <a:ext cx="9364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Rationale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</a:t>
            </a:r>
          </a:p>
        </p:txBody>
      </p:sp>
      <p:sp>
        <p:nvSpPr>
          <p:cNvPr id="55" name="Line 50">
            <a:extLst>
              <a:ext uri="{FF2B5EF4-FFF2-40B4-BE49-F238E27FC236}">
                <a16:creationId xmlns:a16="http://schemas.microsoft.com/office/drawing/2014/main" id="{0268E6D1-1BBD-4EC3-9928-89559E054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6954" y="1416934"/>
            <a:ext cx="0" cy="482889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>
              <a:latin typeface="+mj-lt"/>
            </a:endParaRPr>
          </a:p>
        </p:txBody>
      </p:sp>
      <p:sp>
        <p:nvSpPr>
          <p:cNvPr id="60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6480" y="733618"/>
            <a:ext cx="13908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46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20" y="548680"/>
            <a:ext cx="2008240" cy="1279332"/>
          </a:xfrm>
          <a:prstGeom prst="rect">
            <a:avLst/>
          </a:prstGeom>
        </p:spPr>
      </p:pic>
      <p:sp>
        <p:nvSpPr>
          <p:cNvPr id="34848" name="Text Box 122">
            <a:extLst>
              <a:ext uri="{FF2B5EF4-FFF2-40B4-BE49-F238E27FC236}">
                <a16:creationId xmlns:a16="http://schemas.microsoft.com/office/drawing/2014/main" id="{6229CFFD-A3F6-4D9B-831B-305B41DC7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792" y="5085184"/>
            <a:ext cx="827556" cy="246221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000" dirty="0" smtClean="0">
                <a:solidFill>
                  <a:schemeClr val="tx1"/>
                </a:solidFill>
                <a:latin typeface="+mj-lt"/>
              </a:rPr>
              <a:t>Distance </a:t>
            </a:r>
          </a:p>
        </p:txBody>
      </p:sp>
      <p:sp>
        <p:nvSpPr>
          <p:cNvPr id="48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56" y="5070693"/>
            <a:ext cx="854119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/>
              <a:t>Slot </a:t>
            </a:r>
            <a:r>
              <a:rPr lang="en-US" sz="1000" dirty="0" smtClean="0"/>
              <a:t>width</a:t>
            </a:r>
            <a:endParaRPr lang="en-US" sz="1000" dirty="0"/>
          </a:p>
        </p:txBody>
      </p:sp>
      <p:sp>
        <p:nvSpPr>
          <p:cNvPr id="68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2224" y="5062997"/>
            <a:ext cx="855699" cy="24921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52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222" y="5126995"/>
            <a:ext cx="1080120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/>
              <a:t>Position </a:t>
            </a:r>
            <a:r>
              <a:rPr lang="en-US" sz="1000" dirty="0" smtClean="0"/>
              <a:t>of Slot</a:t>
            </a:r>
          </a:p>
        </p:txBody>
      </p:sp>
      <p:sp>
        <p:nvSpPr>
          <p:cNvPr id="62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432" y="5126995"/>
            <a:ext cx="1513101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Perpendicularity of </a:t>
            </a:r>
            <a:r>
              <a:rPr lang="en-US" sz="1000" dirty="0"/>
              <a:t>slot </a:t>
            </a:r>
          </a:p>
        </p:txBody>
      </p:sp>
      <p:sp>
        <p:nvSpPr>
          <p:cNvPr id="82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1027" y="5139214"/>
            <a:ext cx="1489506" cy="219294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34850" name="Text Box 125">
            <a:extLst>
              <a:ext uri="{FF2B5EF4-FFF2-40B4-BE49-F238E27FC236}">
                <a16:creationId xmlns:a16="http://schemas.microsoft.com/office/drawing/2014/main" id="{1641FE67-807D-4066-8718-D9F532757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194" y="4211661"/>
            <a:ext cx="1027112" cy="276999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de-DE" altLang="en-US" dirty="0" smtClean="0"/>
              <a:t>Housing</a:t>
            </a:r>
            <a:endParaRPr lang="de-DE" altLang="en-US" dirty="0"/>
          </a:p>
        </p:txBody>
      </p:sp>
      <p:sp>
        <p:nvSpPr>
          <p:cNvPr id="71" name="TextBox 44">
            <a:extLst>
              <a:ext uri="{FF2B5EF4-FFF2-40B4-BE49-F238E27FC236}">
                <a16:creationId xmlns:a16="http://schemas.microsoft.com/office/drawing/2014/main" id="{BE2CDC90-7F07-46AD-B738-BF7B5330C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1581" y="5847327"/>
            <a:ext cx="405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BIG-X is confirmed using B Vs W confirmation test</a:t>
            </a:r>
            <a:endParaRPr lang="en-US" altLang="en-US" sz="14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2" name="TextBox 44">
            <a:extLst>
              <a:ext uri="{FF2B5EF4-FFF2-40B4-BE49-F238E27FC236}">
                <a16:creationId xmlns:a16="http://schemas.microsoft.com/office/drawing/2014/main" id="{BE2CDC90-7F07-46AD-B738-BF7B5330C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321" y="6029872"/>
            <a:ext cx="7524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en-US" sz="1400" dirty="0" smtClean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BIG X</a:t>
            </a:r>
            <a:endParaRPr lang="en-US" altLang="en-US" sz="14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73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63354" y="5571837"/>
            <a:ext cx="2175171" cy="13698"/>
          </a:xfrm>
          <a:prstGeom prst="bentConnector3">
            <a:avLst>
              <a:gd name="adj1" fmla="val 50001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222185" y="5788177"/>
            <a:ext cx="432683" cy="4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2955" y="5858471"/>
            <a:ext cx="751294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56.75 </a:t>
            </a:r>
            <a:r>
              <a:rPr lang="en-US" sz="1000" dirty="0"/>
              <a:t>mm</a:t>
            </a:r>
          </a:p>
        </p:txBody>
      </p:sp>
      <p:sp>
        <p:nvSpPr>
          <p:cNvPr id="84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79" y="5865634"/>
            <a:ext cx="586951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20 </a:t>
            </a:r>
            <a:r>
              <a:rPr lang="en-US" sz="1000" dirty="0"/>
              <a:t>mm</a:t>
            </a:r>
          </a:p>
        </p:txBody>
      </p:sp>
      <p:sp>
        <p:nvSpPr>
          <p:cNvPr id="85" name="Text Box 122">
            <a:extLst>
              <a:ext uri="{FF2B5EF4-FFF2-40B4-BE49-F238E27FC236}">
                <a16:creationId xmlns:a16="http://schemas.microsoft.com/office/drawing/2014/main" id="{6229CFFD-A3F6-4D9B-831B-305B41DC7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1" y="5847075"/>
            <a:ext cx="739164" cy="246221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000" dirty="0" smtClean="0">
                <a:solidFill>
                  <a:schemeClr val="tx1"/>
                </a:solidFill>
                <a:latin typeface="+mj-lt"/>
              </a:rPr>
              <a:t>43.70 mm</a:t>
            </a:r>
            <a:endParaRPr lang="en-US" altLang="en-US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6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73" y="5864804"/>
            <a:ext cx="561960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20 </a:t>
            </a:r>
            <a:r>
              <a:rPr lang="en-US" sz="1000" dirty="0"/>
              <a:t>mm</a:t>
            </a:r>
            <a:endParaRPr lang="en-US" sz="1000" dirty="0" smtClean="0"/>
          </a:p>
        </p:txBody>
      </p:sp>
      <p:cxnSp>
        <p:nvCxnSpPr>
          <p:cNvPr id="87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5016544" y="5571835"/>
            <a:ext cx="791424" cy="13699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2319" y="5886262"/>
            <a:ext cx="540013" cy="20527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cxnSp>
        <p:nvCxnSpPr>
          <p:cNvPr id="94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127130" y="5788178"/>
            <a:ext cx="432683" cy="4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378" y="5855757"/>
            <a:ext cx="757455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sz="1000" dirty="0" smtClean="0"/>
              <a:t> 39.90 </a:t>
            </a:r>
            <a:r>
              <a:rPr lang="en-US" altLang="en-US" sz="1000" dirty="0"/>
              <a:t>mm</a:t>
            </a:r>
          </a:p>
        </p:txBody>
      </p:sp>
      <p:sp>
        <p:nvSpPr>
          <p:cNvPr id="98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616" y="5849304"/>
            <a:ext cx="631534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40 </a:t>
            </a:r>
            <a:r>
              <a:rPr lang="en-US" sz="1000" dirty="0"/>
              <a:t>mm</a:t>
            </a:r>
          </a:p>
        </p:txBody>
      </p:sp>
      <p:sp>
        <p:nvSpPr>
          <p:cNvPr id="99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180" y="5862446"/>
            <a:ext cx="573386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40 </a:t>
            </a:r>
            <a:r>
              <a:rPr lang="en-US" sz="1000" dirty="0"/>
              <a:t>mm</a:t>
            </a:r>
            <a:endParaRPr lang="en-US" sz="1000" dirty="0" smtClean="0"/>
          </a:p>
        </p:txBody>
      </p:sp>
      <p:cxnSp>
        <p:nvCxnSpPr>
          <p:cNvPr id="105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  <a:endCxn id="34848" idx="0"/>
          </p:cNvCxnSpPr>
          <p:nvPr/>
        </p:nvCxnSpPr>
        <p:spPr bwMode="auto">
          <a:xfrm rot="5400000">
            <a:off x="1253342" y="4943952"/>
            <a:ext cx="282461" cy="3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236926" y="5467371"/>
            <a:ext cx="261663" cy="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67755" y="4776692"/>
            <a:ext cx="5808365" cy="7192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7259" y="5877474"/>
            <a:ext cx="748574" cy="220645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15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7526" y="5849304"/>
            <a:ext cx="772711" cy="243879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cxnSp>
        <p:nvCxnSpPr>
          <p:cNvPr id="116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02417" y="5571835"/>
            <a:ext cx="1074027" cy="11597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0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372883" y="5432037"/>
            <a:ext cx="261663" cy="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1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868827" y="5729034"/>
            <a:ext cx="261663" cy="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948942" y="5702665"/>
            <a:ext cx="261663" cy="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0110" y="5859868"/>
            <a:ext cx="655690" cy="231193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cxnSp>
        <p:nvCxnSpPr>
          <p:cNvPr id="125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09408" y="5725780"/>
            <a:ext cx="314426" cy="6537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9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7728" y="5899680"/>
            <a:ext cx="578837" cy="20747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30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1233" y="5877474"/>
            <a:ext cx="597535" cy="215709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31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750" y="5859868"/>
            <a:ext cx="573386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40 </a:t>
            </a:r>
            <a:r>
              <a:rPr lang="en-US" sz="1000" dirty="0"/>
              <a:t>mm</a:t>
            </a:r>
            <a:endParaRPr lang="en-US" sz="1000" dirty="0" smtClean="0"/>
          </a:p>
        </p:txBody>
      </p:sp>
      <p:sp>
        <p:nvSpPr>
          <p:cNvPr id="132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69581" y="5898611"/>
            <a:ext cx="578837" cy="20747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33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6755" y="5139214"/>
            <a:ext cx="1088182" cy="228443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cxnSp>
        <p:nvCxnSpPr>
          <p:cNvPr id="134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245091" y="5458406"/>
            <a:ext cx="261663" cy="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5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885051" y="5702665"/>
            <a:ext cx="261663" cy="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677134" y="5702665"/>
            <a:ext cx="261663" cy="5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8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  <a:stCxn id="62" idx="2"/>
          </p:cNvCxnSpPr>
          <p:nvPr/>
        </p:nvCxnSpPr>
        <p:spPr bwMode="auto">
          <a:xfrm rot="16200000" flipH="1">
            <a:off x="6755611" y="5601588"/>
            <a:ext cx="504258" cy="47514"/>
          </a:xfrm>
          <a:prstGeom prst="bentConnector3">
            <a:avLst>
              <a:gd name="adj1" fmla="val 97426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366872" y="4916588"/>
            <a:ext cx="283249" cy="9568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8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790808" y="4628557"/>
            <a:ext cx="283249" cy="9568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9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002172" y="4944129"/>
            <a:ext cx="338329" cy="9567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0" name="AutoShape 106">
            <a:extLst>
              <a:ext uri="{FF2B5EF4-FFF2-40B4-BE49-F238E27FC236}">
                <a16:creationId xmlns:a16="http://schemas.microsoft.com/office/drawing/2014/main" id="{C8CC425D-175A-41E8-ADEA-88CA3B7856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139531" y="4944129"/>
            <a:ext cx="338329" cy="9567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2089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Box 43">
            <a:extLst>
              <a:ext uri="{FF2B5EF4-FFF2-40B4-BE49-F238E27FC236}">
                <a16:creationId xmlns:a16="http://schemas.microsoft.com/office/drawing/2014/main" id="{8EA8D8EE-0CA9-4EF2-AC32-9E7F0A14D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181" y="2575489"/>
            <a:ext cx="2809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sng"/>
              <a:t>  </a:t>
            </a:r>
          </a:p>
        </p:txBody>
      </p:sp>
      <p:sp>
        <p:nvSpPr>
          <p:cNvPr id="34821" name="TextBox 44">
            <a:extLst>
              <a:ext uri="{FF2B5EF4-FFF2-40B4-BE49-F238E27FC236}">
                <a16:creationId xmlns:a16="http://schemas.microsoft.com/office/drawing/2014/main" id="{BE2CDC90-7F07-46AD-B738-BF7B5330C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47" y="5885179"/>
            <a:ext cx="7524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en-US" sz="1400" dirty="0" smtClean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BIG- X</a:t>
            </a:r>
            <a:endParaRPr lang="en-US" altLang="en-US" sz="14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822" name="Rectangle 4">
            <a:extLst>
              <a:ext uri="{FF2B5EF4-FFF2-40B4-BE49-F238E27FC236}">
                <a16:creationId xmlns:a16="http://schemas.microsoft.com/office/drawing/2014/main" id="{536A5405-4673-46F0-93AD-AC97E3CDD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544" y="5847327"/>
            <a:ext cx="3930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</a:pPr>
            <a:r>
              <a:rPr lang="en-US" altLang="en-US">
                <a:solidFill>
                  <a:schemeClr val="tx1"/>
                </a:solidFill>
                <a:latin typeface="+mj-lt"/>
              </a:rPr>
              <a:t>  </a:t>
            </a:r>
          </a:p>
          <a:p>
            <a:pPr eaLnBrk="1" hangingPunct="1">
              <a:buSzPct val="100000"/>
            </a:pPr>
            <a:r>
              <a:rPr lang="en-US" altLang="en-US">
                <a:solidFill>
                  <a:schemeClr val="tx1"/>
                </a:solidFill>
                <a:latin typeface="+mj-lt"/>
              </a:rPr>
              <a:t> </a:t>
            </a:r>
          </a:p>
        </p:txBody>
      </p:sp>
      <p:sp>
        <p:nvSpPr>
          <p:cNvPr id="38921" name="Text Box 112">
            <a:extLst>
              <a:ext uri="{FF2B5EF4-FFF2-40B4-BE49-F238E27FC236}">
                <a16:creationId xmlns:a16="http://schemas.microsoft.com/office/drawing/2014/main" id="{FACDD33A-46F0-4B64-8471-8D9A2F2A9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564" y="2620790"/>
            <a:ext cx="935038" cy="289365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</p:spPr>
        <p:txBody>
          <a:bodyPr lIns="45720" rIns="45720"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0" smtClean="0">
                <a:solidFill>
                  <a:schemeClr val="tx1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en-US" b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</a:t>
            </a:r>
            <a:endParaRPr lang="en-US" altLang="en-US" b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826" name="Text Box 113">
            <a:extLst>
              <a:ext uri="{FF2B5EF4-FFF2-40B4-BE49-F238E27FC236}">
                <a16:creationId xmlns:a16="http://schemas.microsoft.com/office/drawing/2014/main" id="{6C14E49A-0303-4EB8-B43D-D195F8668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270" y="2605076"/>
            <a:ext cx="935037" cy="278141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20" rIns="45720" anchor="ctr"/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mtClean="0">
                <a:solidFill>
                  <a:schemeClr val="tx1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en-US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</a:t>
            </a:r>
            <a:endParaRPr lang="en-US" altLang="en-US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827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9696" y="2618989"/>
            <a:ext cx="935038" cy="305955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20" rIns="45720" anchor="ctr">
            <a:spAutoFit/>
          </a:bodyPr>
          <a:lstStyle/>
          <a:p>
            <a:endParaRPr lang="de-DE"/>
          </a:p>
        </p:txBody>
      </p:sp>
      <p:sp>
        <p:nvSpPr>
          <p:cNvPr id="34828" name="Text Box 119">
            <a:extLst>
              <a:ext uri="{FF2B5EF4-FFF2-40B4-BE49-F238E27FC236}">
                <a16:creationId xmlns:a16="http://schemas.microsoft.com/office/drawing/2014/main" id="{E48A500E-76B5-416C-B9B5-4584F0496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896" y="3368025"/>
            <a:ext cx="1663700" cy="276999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Assembly Parts</a:t>
            </a:r>
            <a:endParaRPr lang="en-US" altLang="en-US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7" name="Text Box 120">
            <a:extLst>
              <a:ext uri="{FF2B5EF4-FFF2-40B4-BE49-F238E27FC236}">
                <a16:creationId xmlns:a16="http://schemas.microsoft.com/office/drawing/2014/main" id="{AB1551E6-D6BE-414E-B528-E6E2DE901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832" y="3356992"/>
            <a:ext cx="1554934" cy="276999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sz="1200" dirty="0" smtClean="0">
                <a:latin typeface="+mj-lt"/>
              </a:rPr>
              <a:t>Assembly Process</a:t>
            </a:r>
            <a:endParaRPr lang="en-US" sz="1200" dirty="0">
              <a:latin typeface="+mj-lt"/>
            </a:endParaRPr>
          </a:p>
        </p:txBody>
      </p:sp>
      <p:sp>
        <p:nvSpPr>
          <p:cNvPr id="34832" name="Line 117">
            <a:extLst>
              <a:ext uri="{FF2B5EF4-FFF2-40B4-BE49-F238E27FC236}">
                <a16:creationId xmlns:a16="http://schemas.microsoft.com/office/drawing/2014/main" id="{AD330459-439A-4BD8-89F6-64F544A2D3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2830" y="3392097"/>
            <a:ext cx="1554936" cy="252719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51" name="Text Box 126">
            <a:extLst>
              <a:ext uri="{FF2B5EF4-FFF2-40B4-BE49-F238E27FC236}">
                <a16:creationId xmlns:a16="http://schemas.microsoft.com/office/drawing/2014/main" id="{FC6EE52A-ACFF-4D7A-937F-A28C3EAE7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055" y="4046198"/>
            <a:ext cx="1025525" cy="276999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de-DE" altLang="en-US" dirty="0"/>
              <a:t>Housing</a:t>
            </a:r>
            <a:endParaRPr lang="en-US" altLang="en-US" dirty="0"/>
          </a:p>
        </p:txBody>
      </p:sp>
      <p:sp>
        <p:nvSpPr>
          <p:cNvPr id="34838" name="Line 117">
            <a:extLst>
              <a:ext uri="{FF2B5EF4-FFF2-40B4-BE49-F238E27FC236}">
                <a16:creationId xmlns:a16="http://schemas.microsoft.com/office/drawing/2014/main" id="{1EF6C66F-5C92-4071-B6AC-E4F5AF00E2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9912" y="4037110"/>
            <a:ext cx="1007668" cy="283830"/>
          </a:xfrm>
          <a:prstGeom prst="line">
            <a:avLst/>
          </a:prstGeom>
          <a:noFill/>
          <a:ln w="25400">
            <a:solidFill>
              <a:srgbClr val="3A4A7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57" name="Text Box 123">
            <a:extLst>
              <a:ext uri="{FF2B5EF4-FFF2-40B4-BE49-F238E27FC236}">
                <a16:creationId xmlns:a16="http://schemas.microsoft.com/office/drawing/2014/main" id="{66965F92-7FFE-4C36-BB29-3666669F4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340" y="4055822"/>
            <a:ext cx="1027113" cy="276999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dirty="0" smtClean="0"/>
              <a:t>Setting ring</a:t>
            </a:r>
            <a:endParaRPr lang="en-US" altLang="en-US" dirty="0"/>
          </a:p>
        </p:txBody>
      </p:sp>
      <p:sp>
        <p:nvSpPr>
          <p:cNvPr id="34844" name="Line 117">
            <a:extLst>
              <a:ext uri="{FF2B5EF4-FFF2-40B4-BE49-F238E27FC236}">
                <a16:creationId xmlns:a16="http://schemas.microsoft.com/office/drawing/2014/main" id="{11416393-1C7C-48AB-8AA7-16FEA71A7C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93338" y="4062171"/>
            <a:ext cx="1029494" cy="293039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34850" name="Text Box 125">
            <a:extLst>
              <a:ext uri="{FF2B5EF4-FFF2-40B4-BE49-F238E27FC236}">
                <a16:creationId xmlns:a16="http://schemas.microsoft.com/office/drawing/2014/main" id="{1641FE67-807D-4066-8718-D9F532757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509" y="4056640"/>
            <a:ext cx="1027112" cy="276999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de-DE" altLang="en-US" dirty="0" smtClean="0"/>
              <a:t>Cover</a:t>
            </a:r>
            <a:endParaRPr lang="de-DE" altLang="en-US" dirty="0"/>
          </a:p>
        </p:txBody>
      </p:sp>
      <p:sp>
        <p:nvSpPr>
          <p:cNvPr id="34853" name="Rectangle 47">
            <a:extLst>
              <a:ext uri="{FF2B5EF4-FFF2-40B4-BE49-F238E27FC236}">
                <a16:creationId xmlns:a16="http://schemas.microsoft.com/office/drawing/2014/main" id="{BC95AB42-3EEC-4F27-BB26-05A062970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127" y="1916298"/>
            <a:ext cx="79220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 err="1" smtClean="0">
                <a:solidFill>
                  <a:schemeClr val="tx1"/>
                </a:solidFill>
                <a:cs typeface="Arial" panose="020B0604020202020204" pitchFamily="34" charset="0"/>
              </a:rPr>
              <a:t>Mone</a:t>
            </a:r>
            <a:r>
              <a:rPr lang="en-US" altLang="en-US" dirty="0" smtClean="0">
                <a:solidFill>
                  <a:schemeClr val="tx1"/>
                </a:solidFill>
                <a:cs typeface="Arial" panose="020B0604020202020204" pitchFamily="34" charset="0"/>
              </a:rPr>
              <a:t>(Y)</a:t>
            </a:r>
            <a:endParaRPr lang="en-US" alt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4855" name="Title 1">
            <a:extLst>
              <a:ext uri="{FF2B5EF4-FFF2-40B4-BE49-F238E27FC236}">
                <a16:creationId xmlns:a16="http://schemas.microsoft.com/office/drawing/2014/main" id="{0D740C5E-0D5A-4962-B4DA-74BE81883B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7507" y="581408"/>
            <a:ext cx="4851400" cy="398463"/>
          </a:xfrm>
          <a:prstGeom prst="rect">
            <a:avLst/>
          </a:prstGeom>
        </p:spPr>
        <p:txBody>
          <a:bodyPr/>
          <a:lstStyle/>
          <a:p>
            <a:r>
              <a:rPr lang="en-US" altLang="en-US" sz="2600">
                <a:latin typeface="+mj-lt"/>
              </a:rPr>
              <a:t>Solution </a:t>
            </a:r>
            <a:r>
              <a:rPr lang="en-US" altLang="en-US" sz="2600" smtClean="0">
                <a:latin typeface="+mj-lt"/>
              </a:rPr>
              <a:t>Tree</a:t>
            </a:r>
            <a:endParaRPr lang="en-US" altLang="en-US" sz="2600">
              <a:latin typeface="+mj-lt"/>
            </a:endParaRPr>
          </a:p>
        </p:txBody>
      </p:sp>
      <p:sp>
        <p:nvSpPr>
          <p:cNvPr id="54" name="Text Box 5">
            <a:extLst>
              <a:ext uri="{FF2B5EF4-FFF2-40B4-BE49-F238E27FC236}">
                <a16:creationId xmlns:a16="http://schemas.microsoft.com/office/drawing/2014/main" id="{E30B8430-A822-46E1-A594-B66D7E502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544" y="2024337"/>
            <a:ext cx="9364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Rationale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:</a:t>
            </a:r>
          </a:p>
        </p:txBody>
      </p:sp>
      <p:sp>
        <p:nvSpPr>
          <p:cNvPr id="55" name="Line 50">
            <a:extLst>
              <a:ext uri="{FF2B5EF4-FFF2-40B4-BE49-F238E27FC236}">
                <a16:creationId xmlns:a16="http://schemas.microsoft.com/office/drawing/2014/main" id="{0268E6D1-1BBD-4EC3-9928-89559E054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6320" y="1508174"/>
            <a:ext cx="0" cy="482889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>
              <a:latin typeface="+mj-lt"/>
            </a:endParaRPr>
          </a:p>
        </p:txBody>
      </p:sp>
      <p:sp>
        <p:nvSpPr>
          <p:cNvPr id="60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6480" y="733618"/>
            <a:ext cx="13908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46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509" y="637500"/>
            <a:ext cx="2008240" cy="1279332"/>
          </a:xfrm>
          <a:prstGeom prst="rect">
            <a:avLst/>
          </a:prstGeom>
        </p:spPr>
      </p:pic>
      <p:sp>
        <p:nvSpPr>
          <p:cNvPr id="45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896" y="4796789"/>
            <a:ext cx="851656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sz="1000" dirty="0" smtClean="0"/>
              <a:t>Position </a:t>
            </a:r>
            <a:endParaRPr lang="en-US" altLang="en-US" sz="1000" dirty="0"/>
          </a:p>
        </p:txBody>
      </p:sp>
      <p:sp>
        <p:nvSpPr>
          <p:cNvPr id="52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9596" y="4780712"/>
            <a:ext cx="1266663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Internal Diameter </a:t>
            </a:r>
          </a:p>
        </p:txBody>
      </p:sp>
      <p:sp>
        <p:nvSpPr>
          <p:cNvPr id="61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341" y="4778409"/>
            <a:ext cx="1012285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Step Distance</a:t>
            </a:r>
            <a:endParaRPr lang="en-US" sz="1000" dirty="0"/>
          </a:p>
        </p:txBody>
      </p:sp>
      <p:sp>
        <p:nvSpPr>
          <p:cNvPr id="81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462" y="5567272"/>
            <a:ext cx="833151" cy="400110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sz="1000" dirty="0" smtClean="0"/>
              <a:t>Dia</a:t>
            </a:r>
            <a:r>
              <a:rPr lang="en-US" altLang="en-US" sz="1000" dirty="0"/>
              <a:t>. </a:t>
            </a:r>
            <a:r>
              <a:rPr lang="en-US" altLang="en-US" sz="1000" dirty="0" smtClean="0"/>
              <a:t>8.0 </a:t>
            </a:r>
            <a:r>
              <a:rPr lang="en-US" altLang="en-US" sz="1000" dirty="0"/>
              <a:t>mm hole</a:t>
            </a:r>
            <a:endParaRPr lang="en-US" sz="1000" dirty="0"/>
          </a:p>
        </p:txBody>
      </p:sp>
      <p:sp>
        <p:nvSpPr>
          <p:cNvPr id="34848" name="Text Box 122">
            <a:extLst>
              <a:ext uri="{FF2B5EF4-FFF2-40B4-BE49-F238E27FC236}">
                <a16:creationId xmlns:a16="http://schemas.microsoft.com/office/drawing/2014/main" id="{6229CFFD-A3F6-4D9B-831B-305B41DC7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78" y="4792662"/>
            <a:ext cx="1554530" cy="246221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000" dirty="0" smtClean="0">
                <a:solidFill>
                  <a:schemeClr val="tx1"/>
                </a:solidFill>
                <a:latin typeface="+mj-lt"/>
              </a:rPr>
              <a:t>Flatness of Face A</a:t>
            </a:r>
            <a:endParaRPr lang="en-US" altLang="en-US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6" name="Rectangle 8">
            <a:extLst>
              <a:ext uri="{FF2B5EF4-FFF2-40B4-BE49-F238E27FC236}">
                <a16:creationId xmlns:a16="http://schemas.microsoft.com/office/drawing/2014/main" id="{90360CFC-9A20-4EBB-97A9-AB8C9C823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7198" y="2726022"/>
            <a:ext cx="4820098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90500" indent="-1905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chemeClr val="tx1"/>
                </a:solidFill>
                <a:latin typeface="+mj-lt"/>
              </a:rPr>
              <a:t>Component search stage 0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Passed</a:t>
            </a:r>
          </a:p>
          <a:p>
            <a:pPr marL="0" indent="0" eaLnBrk="1" hangingPunct="1">
              <a:buSzPct val="100000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endParaRPr lang="en-US" altLang="en-US" b="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Component search stage 1 Passed</a:t>
            </a:r>
            <a:endParaRPr lang="en-US" altLang="en-US" b="0" dirty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 marL="0" indent="0" eaLnBrk="1" hangingPunct="1">
              <a:buSzPct val="100000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marL="0" indent="0" eaLnBrk="1" hangingPunct="1">
              <a:buSzPct val="100000"/>
            </a:pPr>
            <a:endParaRPr lang="en-US" altLang="en-US" b="0" dirty="0">
              <a:solidFill>
                <a:schemeClr val="tx1"/>
              </a:solidFill>
              <a:latin typeface="+mj-lt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Component search stage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2 For Pair 4, 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S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wap analysis completed-BOB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become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WOW </a:t>
            </a:r>
            <a:r>
              <a:rPr lang="en-US" altLang="en-US" b="0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and WOW become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BOB, when cover is replaced.</a:t>
            </a:r>
            <a:endParaRPr lang="en-US" altLang="en-US" b="0" dirty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endParaRPr lang="en-US" altLang="en-US" b="0" dirty="0" smtClean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endParaRPr lang="en-US" altLang="en-US" b="0" dirty="0">
              <a:solidFill>
                <a:schemeClr val="tx1"/>
              </a:solidFill>
              <a:latin typeface="+mj-lt"/>
              <a:sym typeface="Wingdings" panose="05000000000000000000" pitchFamily="2" charset="2"/>
            </a:endParaRP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Cover flatness 0.050 max found out of specification, </a:t>
            </a:r>
          </a:p>
          <a:p>
            <a:pPr marL="0" indent="0">
              <a:buSzPct val="100000"/>
            </a:pP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      is observed 0.095 mm</a:t>
            </a:r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 (Machining at supplier end)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endParaRPr lang="en-US" altLang="en-US" b="0" dirty="0" smtClean="0">
              <a:solidFill>
                <a:schemeClr val="tx1"/>
              </a:solidFill>
              <a:latin typeface="+mj-lt"/>
            </a:endParaRPr>
          </a:p>
          <a:p>
            <a:pPr marL="0" indent="0" eaLnBrk="1" hangingPunct="1">
              <a:buSzPct val="100000"/>
            </a:pPr>
            <a:endParaRPr lang="en-US" altLang="en-US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4" name="TextBox 44">
            <a:extLst>
              <a:ext uri="{FF2B5EF4-FFF2-40B4-BE49-F238E27FC236}">
                <a16:creationId xmlns:a16="http://schemas.microsoft.com/office/drawing/2014/main" id="{BE2CDC90-7F07-46AD-B738-BF7B5330C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198" y="5711454"/>
            <a:ext cx="40574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BIG-X is confirmed using B Vs W confirmation test</a:t>
            </a:r>
            <a:endParaRPr lang="en-US" altLang="en-US" sz="14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3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0169" y="2420888"/>
            <a:ext cx="1341735" cy="0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66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11823" y="2222365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68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90169" y="2420888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69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31904" y="2420888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71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9735" y="3158468"/>
            <a:ext cx="1910014" cy="644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72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71077" y="2903166"/>
            <a:ext cx="0" cy="232915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74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19736" y="3158470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82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91944" y="3140968"/>
            <a:ext cx="0" cy="245089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83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4529" y="3841355"/>
            <a:ext cx="2904778" cy="19693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85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19736" y="3662525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86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4529" y="3861048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87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56264" y="3861048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92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04360" y="3841355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93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823" y="5555856"/>
            <a:ext cx="851656" cy="400110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sz="1000" dirty="0" smtClean="0"/>
              <a:t>Face A- 0.030 mm</a:t>
            </a:r>
            <a:endParaRPr lang="en-US" altLang="en-US" sz="1000" dirty="0"/>
          </a:p>
        </p:txBody>
      </p:sp>
      <p:sp>
        <p:nvSpPr>
          <p:cNvPr id="94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591" y="5555856"/>
            <a:ext cx="861290" cy="400110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sz="1000" dirty="0" smtClean="0"/>
              <a:t>Dia</a:t>
            </a:r>
            <a:r>
              <a:rPr lang="en-US" altLang="en-US" sz="1000" dirty="0"/>
              <a:t>. </a:t>
            </a:r>
            <a:r>
              <a:rPr lang="en-US" altLang="en-US" sz="1000" dirty="0" smtClean="0"/>
              <a:t>4.0 mm </a:t>
            </a:r>
            <a:r>
              <a:rPr lang="en-US" altLang="en-US" sz="1000" dirty="0"/>
              <a:t>hole</a:t>
            </a:r>
            <a:endParaRPr lang="en-US" sz="1000" dirty="0"/>
          </a:p>
        </p:txBody>
      </p:sp>
      <p:sp>
        <p:nvSpPr>
          <p:cNvPr id="96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842" y="5675004"/>
            <a:ext cx="833151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25.10 mm</a:t>
            </a:r>
            <a:endParaRPr lang="en-US" sz="1000" dirty="0"/>
          </a:p>
        </p:txBody>
      </p:sp>
      <p:sp>
        <p:nvSpPr>
          <p:cNvPr id="98" name="Text Box 122">
            <a:extLst>
              <a:ext uri="{FF2B5EF4-FFF2-40B4-BE49-F238E27FC236}">
                <a16:creationId xmlns:a16="http://schemas.microsoft.com/office/drawing/2014/main" id="{6229CFFD-A3F6-4D9B-831B-305B41DC7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84" y="5631051"/>
            <a:ext cx="827556" cy="246221"/>
          </a:xfrm>
          <a:prstGeom prst="rect">
            <a:avLst/>
          </a:prstGeom>
          <a:noFill/>
          <a:ln w="12700">
            <a:solidFill>
              <a:srgbClr val="77777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000" dirty="0" smtClean="0">
                <a:solidFill>
                  <a:schemeClr val="tx1"/>
                </a:solidFill>
                <a:latin typeface="+mj-lt"/>
              </a:rPr>
              <a:t>0.050 </a:t>
            </a:r>
            <a:r>
              <a:rPr lang="en-US" altLang="en-US" sz="1000" dirty="0">
                <a:solidFill>
                  <a:schemeClr val="tx1"/>
                </a:solidFill>
                <a:latin typeface="+mj-lt"/>
              </a:rPr>
              <a:t>mm</a:t>
            </a:r>
          </a:p>
        </p:txBody>
      </p:sp>
      <p:sp>
        <p:nvSpPr>
          <p:cNvPr id="99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8464" y="5555856"/>
            <a:ext cx="854119" cy="400110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altLang="en-US" sz="1000" dirty="0" smtClean="0"/>
              <a:t>Dia. 3.0 mm hole </a:t>
            </a:r>
            <a:endParaRPr lang="en-US" altLang="en-US" sz="1000" dirty="0"/>
          </a:p>
        </p:txBody>
      </p:sp>
      <p:sp>
        <p:nvSpPr>
          <p:cNvPr id="100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59584" y="5567272"/>
            <a:ext cx="824834" cy="39698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06" name="Text Box 123">
            <a:extLst>
              <a:ext uri="{FF2B5EF4-FFF2-40B4-BE49-F238E27FC236}">
                <a16:creationId xmlns:a16="http://schemas.microsoft.com/office/drawing/2014/main" id="{E1A632DD-A357-445E-98D0-90E0167D2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9175" y="5686421"/>
            <a:ext cx="914045" cy="246221"/>
          </a:xfrm>
          <a:prstGeom prst="rect">
            <a:avLst/>
          </a:prstGeom>
          <a:solidFill>
            <a:srgbClr val="B0BBD8"/>
          </a:solidFill>
          <a:ln w="12700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defPPr>
              <a:defRPr lang="de-DE"/>
            </a:defPPr>
            <a:lvl1pPr algn="ctr" eaLnBrk="1" hangingPunct="1">
              <a:defRPr sz="1200">
                <a:solidFill>
                  <a:schemeClr val="tx1"/>
                </a:solidFill>
                <a:latin typeface="+mj-lt"/>
              </a:defRPr>
            </a:lvl1pPr>
            <a:lvl2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Bosch Office Sans" pitchFamily="34" charset="0"/>
              </a:defRPr>
            </a:lvl5pPr>
            <a:lvl6pPr>
              <a:defRPr>
                <a:solidFill>
                  <a:schemeClr val="tx1"/>
                </a:solidFill>
                <a:latin typeface="Bosch Office Sans" pitchFamily="34" charset="0"/>
              </a:defRPr>
            </a:lvl6pPr>
            <a:lvl7pPr>
              <a:defRPr>
                <a:solidFill>
                  <a:schemeClr val="tx1"/>
                </a:solidFill>
                <a:latin typeface="Bosch Office Sans" pitchFamily="34" charset="0"/>
              </a:defRPr>
            </a:lvl7pPr>
            <a:lvl8pPr>
              <a:defRPr>
                <a:solidFill>
                  <a:schemeClr val="tx1"/>
                </a:solidFill>
                <a:latin typeface="Bosch Office Sans" pitchFamily="34" charset="0"/>
              </a:defRPr>
            </a:lvl8pPr>
            <a:lvl9pPr>
              <a:defRPr>
                <a:solidFill>
                  <a:schemeClr val="tx1"/>
                </a:solidFill>
                <a:latin typeface="Bosch Office Sans" pitchFamily="34" charset="0"/>
              </a:defRPr>
            </a:lvl9pPr>
          </a:lstStyle>
          <a:p>
            <a:r>
              <a:rPr lang="en-US" sz="1000" dirty="0" smtClean="0"/>
              <a:t>ID 8.0 mm</a:t>
            </a:r>
            <a:endParaRPr lang="en-US" sz="1000" dirty="0"/>
          </a:p>
        </p:txBody>
      </p:sp>
      <p:sp>
        <p:nvSpPr>
          <p:cNvPr id="107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5440" y="4569732"/>
            <a:ext cx="5256584" cy="28898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08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51784" y="4365104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09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5440" y="4598630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10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43672" y="4598630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11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15880" y="4578937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12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12024" y="4581128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13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02814" y="5567272"/>
            <a:ext cx="824481" cy="37675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14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38917" y="5536976"/>
            <a:ext cx="823550" cy="41181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15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575" y="5597568"/>
            <a:ext cx="791307" cy="351220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16" name="Line 117">
            <a:extLst>
              <a:ext uri="{FF2B5EF4-FFF2-40B4-BE49-F238E27FC236}">
                <a16:creationId xmlns:a16="http://schemas.microsoft.com/office/drawing/2014/main" id="{11416393-1C7C-48AB-8AA7-16FEA71A7C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28590" y="4797152"/>
            <a:ext cx="828962" cy="229781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17" name="Line 117">
            <a:extLst>
              <a:ext uri="{FF2B5EF4-FFF2-40B4-BE49-F238E27FC236}">
                <a16:creationId xmlns:a16="http://schemas.microsoft.com/office/drawing/2014/main" id="{11416393-1C7C-48AB-8AA7-16FEA71A7C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4664" y="4797152"/>
            <a:ext cx="1269922" cy="227406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18" name="Line 117">
            <a:extLst>
              <a:ext uri="{FF2B5EF4-FFF2-40B4-BE49-F238E27FC236}">
                <a16:creationId xmlns:a16="http://schemas.microsoft.com/office/drawing/2014/main" id="{11416393-1C7C-48AB-8AA7-16FEA71A7C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0340" y="4780712"/>
            <a:ext cx="1012285" cy="257995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19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7576" y="5726250"/>
            <a:ext cx="905643" cy="223030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20" name="Line 117">
            <a:extLst>
              <a:ext uri="{FF2B5EF4-FFF2-40B4-BE49-F238E27FC236}">
                <a16:creationId xmlns:a16="http://schemas.microsoft.com/office/drawing/2014/main" id="{82C4B5B1-0288-488A-B3A6-C9973C0B5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0676" y="5698195"/>
            <a:ext cx="831949" cy="221290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>
              <a:latin typeface="+mj-lt"/>
            </a:endParaRPr>
          </a:p>
        </p:txBody>
      </p:sp>
      <p:sp>
        <p:nvSpPr>
          <p:cNvPr id="121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496" y="5318710"/>
            <a:ext cx="2808312" cy="13076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2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43672" y="5085184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3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59496" y="5318710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4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67608" y="5318710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5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31704" y="5318710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6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67808" y="5318710"/>
            <a:ext cx="0" cy="198522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7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03912" y="5048237"/>
            <a:ext cx="0" cy="613011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8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35790" y="5043010"/>
            <a:ext cx="0" cy="613011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  <p:sp>
        <p:nvSpPr>
          <p:cNvPr id="129" name="Line 116">
            <a:extLst>
              <a:ext uri="{FF2B5EF4-FFF2-40B4-BE49-F238E27FC236}">
                <a16:creationId xmlns:a16="http://schemas.microsoft.com/office/drawing/2014/main" id="{025C63BD-67ED-4983-BCC7-0EEF12F8110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5399" y="5085183"/>
            <a:ext cx="1" cy="545867"/>
          </a:xfrm>
          <a:prstGeom prst="line">
            <a:avLst/>
          </a:prstGeom>
          <a:noFill/>
          <a:ln w="25400">
            <a:solidFill>
              <a:srgbClr val="3A4A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45720" rIns="45720" anchor="ctr"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469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09">
            <a:extLst>
              <a:ext uri="{FF2B5EF4-FFF2-40B4-BE49-F238E27FC236}">
                <a16:creationId xmlns:a16="http://schemas.microsoft.com/office/drawing/2014/main" id="{71655D60-2A46-416F-9055-BD9FDFCFF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994070"/>
              </p:ext>
            </p:extLst>
          </p:nvPr>
        </p:nvGraphicFramePr>
        <p:xfrm>
          <a:off x="1055440" y="890687"/>
          <a:ext cx="10009113" cy="5223685"/>
        </p:xfrm>
        <a:graphic>
          <a:graphicData uri="http://schemas.openxmlformats.org/drawingml/2006/table">
            <a:tbl>
              <a:tblPr/>
              <a:tblGrid>
                <a:gridCol w="382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3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7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053">
                <a:tc rowSpan="2">
                  <a:txBody>
                    <a:bodyPr/>
                    <a:lstStyle/>
                    <a:p>
                      <a:pPr marL="171450" indent="-17145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alt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The proposed change is: 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Housing dimension</a:t>
                      </a:r>
                      <a:r>
                        <a:rPr lang="en-US" altLang="en-US" sz="12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 as per drawing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altLang="en-US" sz="1200" b="1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Date </a:t>
                      </a:r>
                      <a:r>
                        <a:rPr lang="en-US" alt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of assessment:  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29.08.2025</a:t>
                      </a:r>
                      <a:endParaRPr lang="en-US" altLang="en-US" sz="1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alt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What leader was involved in this discussion</a:t>
                      </a:r>
                      <a:r>
                        <a:rPr lang="en-US" altLang="en-US" sz="1200" b="1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? 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Yes</a:t>
                      </a:r>
                      <a:endParaRPr lang="en-US" altLang="en-US" sz="1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54" marR="91454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Consequences of a wrong decision </a:t>
                      </a:r>
                      <a:endParaRPr kumimoji="0" lang="en-US" sz="12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Details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Med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 Will it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cost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a lot to implement the change?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 - </a:t>
                      </a: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cost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involved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Insignificant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Moderate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 Will it take a long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time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implement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the change?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Quick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 correction</a:t>
                      </a:r>
                      <a:endParaRPr lang="en-US" sz="1200" b="0" dirty="0" smtClean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Quickly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Moderate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00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 Will it be easy to go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reverse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the change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Low- Can be reversed easily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Completely Reversible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Partly Reversible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Reversible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 Will it take a long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time find out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it wasn’t effective? 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Low- No, as we do 100% EOL testing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Insignificant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Moderate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pPr marL="168275" marR="0" lvl="0" indent="-1682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 On going cost (€ or other losses ) if the change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does not fix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the problem.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Med- </a:t>
                      </a:r>
                      <a:r>
                        <a:rPr kumimoji="0" 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No, as we do 100% EOL testing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 Risks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Internal Risk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Customer Risk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 Do we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understand the physics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of the problem?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Yes, fully understand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Fully Understand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Somewhat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Not Clear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7. Is there a risk of </a:t>
                      </a:r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health damage</a:t>
                      </a: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 Not impacting health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Somewhat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56887"/>
                  </a:ext>
                </a:extLst>
              </a:tr>
              <a:tr h="316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Overall Assessment of Risk: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is Low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Medium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9892">
                <a:tc gridSpan="5"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</a:pPr>
                      <a:r>
                        <a:rPr lang="de-DE" altLang="en-US" sz="1200" b="1" u="sng" dirty="0">
                          <a:solidFill>
                            <a:schemeClr val="tx1"/>
                          </a:solidFill>
                          <a:latin typeface="+mj-lt"/>
                        </a:rPr>
                        <a:t>Decision Made</a:t>
                      </a:r>
                      <a:endParaRPr lang="de-DE" altLang="en-US" sz="1200" u="sng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>
                        <a:spcBef>
                          <a:spcPct val="20000"/>
                        </a:spcBef>
                      </a:pPr>
                      <a:r>
                        <a:rPr lang="de-DE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Acceptable % of ´risk</a:t>
                      </a:r>
                      <a:r>
                        <a:rPr lang="de-DE" altLang="en-US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 selected:</a:t>
                      </a:r>
                      <a:r>
                        <a:rPr lang="de-DE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0.1 %,     </a:t>
                      </a:r>
                      <a:r>
                        <a:rPr lang="en-US" altLang="en-US" sz="1200" b="1" dirty="0" smtClean="0">
                          <a:solidFill>
                            <a:schemeClr val="tx1"/>
                          </a:solidFill>
                          <a:latin typeface="+mj-lt"/>
                        </a:rPr>
                        <a:t>&lt; 1 </a:t>
                      </a:r>
                      <a:r>
                        <a:rPr lang="en-US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%,      5 %,       10 %  </a:t>
                      </a:r>
                      <a:r>
                        <a:rPr lang="en-US" altLang="en-US" sz="1200" b="1" dirty="0" smtClean="0">
                          <a:solidFill>
                            <a:schemeClr val="tx1"/>
                          </a:solidFill>
                          <a:latin typeface="+mj-lt"/>
                        </a:rPr>
                        <a:t>order  </a:t>
                      </a:r>
                      <a:r>
                        <a:rPr lang="en-US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50 %  </a:t>
                      </a:r>
                    </a:p>
                    <a:p>
                      <a:pPr>
                        <a:spcBef>
                          <a:spcPct val="20000"/>
                        </a:spcBef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(If 50%, no confirmation test will be conducted because all risks judged LOW. This is called “Run Chart Confirmation”).</a:t>
                      </a:r>
                      <a:endParaRPr lang="en-US" altLang="en-US" sz="12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L="91454" marR="91454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Box 62">
            <a:extLst>
              <a:ext uri="{FF2B5EF4-FFF2-40B4-BE49-F238E27FC236}">
                <a16:creationId xmlns:a16="http://schemas.microsoft.com/office/drawing/2014/main" id="{68463234-009D-4AC7-B2E2-7FC3BBFF1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379281"/>
            <a:ext cx="605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Risk Assessment 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Matrix- </a:t>
            </a:r>
            <a:r>
              <a:rPr lang="en-US" altLang="en-US" sz="2800" b="0" dirty="0">
                <a:solidFill>
                  <a:schemeClr val="tx1"/>
                </a:solidFill>
              </a:rPr>
              <a:t>Housing 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8854" y="487394"/>
            <a:ext cx="31035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23792" y="5548729"/>
            <a:ext cx="43204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954406" y="6101636"/>
            <a:ext cx="936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600" dirty="0" smtClean="0">
                <a:solidFill>
                  <a:schemeClr val="tx1">
                    <a:lumMod val="10000"/>
                  </a:schemeClr>
                </a:solidFill>
              </a:rPr>
              <a:t>Conclusion</a:t>
            </a:r>
            <a:r>
              <a:rPr lang="en-US" sz="1600" b="0" dirty="0" smtClean="0">
                <a:solidFill>
                  <a:schemeClr val="tx1">
                    <a:lumMod val="10000"/>
                  </a:schemeClr>
                </a:solidFill>
              </a:rPr>
              <a:t>: Since, Overall assessment of risk is low, need to go for B vs W confirmation Test</a:t>
            </a:r>
          </a:p>
        </p:txBody>
      </p:sp>
      <p:sp>
        <p:nvSpPr>
          <p:cNvPr id="6" name="Oval 5"/>
          <p:cNvSpPr/>
          <p:nvPr/>
        </p:nvSpPr>
        <p:spPr>
          <a:xfrm>
            <a:off x="7032104" y="1916832"/>
            <a:ext cx="936104" cy="3422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128599" y="2348880"/>
            <a:ext cx="936104" cy="2880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032104" y="2780928"/>
            <a:ext cx="93610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7032104" y="3429000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8445488" y="3918417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6888088" y="4363931"/>
            <a:ext cx="1224136" cy="36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7032104" y="4782513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7032104" y="5097275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08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09">
            <a:extLst>
              <a:ext uri="{FF2B5EF4-FFF2-40B4-BE49-F238E27FC236}">
                <a16:creationId xmlns:a16="http://schemas.microsoft.com/office/drawing/2014/main" id="{71655D60-2A46-416F-9055-BD9FDFCFF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3568733"/>
              </p:ext>
            </p:extLst>
          </p:nvPr>
        </p:nvGraphicFramePr>
        <p:xfrm>
          <a:off x="1055440" y="890687"/>
          <a:ext cx="10009113" cy="5223685"/>
        </p:xfrm>
        <a:graphic>
          <a:graphicData uri="http://schemas.openxmlformats.org/drawingml/2006/table">
            <a:tbl>
              <a:tblPr/>
              <a:tblGrid>
                <a:gridCol w="382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3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7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053">
                <a:tc rowSpan="2">
                  <a:txBody>
                    <a:bodyPr/>
                    <a:lstStyle/>
                    <a:p>
                      <a:pPr marL="171450" indent="-17145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alt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The proposed change is: 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Cover</a:t>
                      </a:r>
                      <a:r>
                        <a:rPr lang="en-US" altLang="en-US" sz="12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flatness 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Dimension</a:t>
                      </a:r>
                      <a:r>
                        <a:rPr lang="en-US" altLang="en-US" sz="12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 as per drawing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altLang="en-US" sz="1200" b="1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Date </a:t>
                      </a:r>
                      <a:r>
                        <a:rPr lang="en-US" alt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of assessment:  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29.08.2025</a:t>
                      </a:r>
                      <a:endParaRPr lang="en-US" altLang="en-US" sz="1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en-US" altLang="en-US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What leader was involved in this discussion</a:t>
                      </a:r>
                      <a:r>
                        <a:rPr lang="en-US" altLang="en-US" sz="1200" b="1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? </a:t>
                      </a:r>
                      <a:r>
                        <a:rPr lang="en-US" altLang="en-US" sz="12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Yes</a:t>
                      </a:r>
                      <a:endParaRPr lang="en-US" altLang="en-US" sz="12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54" marR="91454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Consequences of a wrong decision </a:t>
                      </a:r>
                      <a:endParaRPr kumimoji="0" lang="en-US" sz="12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Details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Med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</a:t>
                      </a:r>
                    </a:p>
                  </a:txBody>
                  <a:tcPr marL="91454" marR="91454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 Will it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cost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a lot to implement the change?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 - </a:t>
                      </a: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cost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involved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Insignificant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Moderate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 Will it take a long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time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implement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the change?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Quick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 correction</a:t>
                      </a:r>
                      <a:endParaRPr lang="en-US" sz="1200" b="0" dirty="0" smtClean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Quickly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Moderate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00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 Will it be easy to go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reverse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kumimoji="0" lang="en-US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the change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Low- Can be reversed easily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Completely Reversible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Partly Reversible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Reversible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4. Will it take a long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time find out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it wasn’t effective? 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Low- No, as we do 100% EOL testing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Insignificant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Moderate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pPr marL="168275" marR="0" lvl="0" indent="-1682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5. On going cost (€ or other losses ) if the change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does not fix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the problem.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Med- </a:t>
                      </a:r>
                      <a:r>
                        <a:rPr kumimoji="0" lang="en-US" sz="12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No, as we do 100% EOL testing</a:t>
                      </a:r>
                      <a:endParaRPr kumimoji="0" 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 Risks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Internal Risk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Customer Risk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2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6. Do we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understand the physics 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of the problem?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Yes, fully understand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Fully Understand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Somewhat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Not Clear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7. Is there a risk of </a:t>
                      </a:r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health damage</a:t>
                      </a: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  <a:r>
                        <a:rPr kumimoji="0" lang="de-DE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 Not impacting health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Somewhat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Significant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56887"/>
                  </a:ext>
                </a:extLst>
              </a:tr>
              <a:tr h="316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Overall Assessment of Risk:</a:t>
                      </a:r>
                    </a:p>
                  </a:txBody>
                  <a:tcPr marL="91454" marR="91454" marT="45722" marB="4572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is Low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Low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Medium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High</a:t>
                      </a:r>
                    </a:p>
                  </a:txBody>
                  <a:tcPr marL="91454" marR="91454" marT="45722" marB="457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9892">
                <a:tc gridSpan="5"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</a:pPr>
                      <a:r>
                        <a:rPr lang="de-DE" altLang="en-US" sz="1200" b="1" u="sng" dirty="0">
                          <a:solidFill>
                            <a:schemeClr val="tx1"/>
                          </a:solidFill>
                          <a:latin typeface="+mj-lt"/>
                        </a:rPr>
                        <a:t>Decision Made</a:t>
                      </a:r>
                      <a:endParaRPr lang="de-DE" altLang="en-US" sz="1200" u="sng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>
                        <a:spcBef>
                          <a:spcPct val="20000"/>
                        </a:spcBef>
                      </a:pPr>
                      <a:r>
                        <a:rPr lang="de-DE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Acceptable % of ´risk</a:t>
                      </a:r>
                      <a:r>
                        <a:rPr lang="de-DE" altLang="en-US" sz="12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 selected:</a:t>
                      </a:r>
                      <a:r>
                        <a:rPr lang="de-DE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0.1 %,     </a:t>
                      </a:r>
                      <a:r>
                        <a:rPr lang="en-US" altLang="en-US" sz="1200" b="1" dirty="0" smtClean="0">
                          <a:solidFill>
                            <a:schemeClr val="tx1"/>
                          </a:solidFill>
                          <a:latin typeface="+mj-lt"/>
                        </a:rPr>
                        <a:t>&lt; 1 </a:t>
                      </a:r>
                      <a:r>
                        <a:rPr lang="en-US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%,      5 %,       10 %  </a:t>
                      </a:r>
                      <a:r>
                        <a:rPr lang="en-US" altLang="en-US" sz="1200" b="1" dirty="0" smtClean="0">
                          <a:solidFill>
                            <a:schemeClr val="tx1"/>
                          </a:solidFill>
                          <a:latin typeface="+mj-lt"/>
                        </a:rPr>
                        <a:t>order  </a:t>
                      </a:r>
                      <a:r>
                        <a:rPr lang="en-US" alt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50 %  </a:t>
                      </a:r>
                    </a:p>
                    <a:p>
                      <a:pPr>
                        <a:spcBef>
                          <a:spcPct val="20000"/>
                        </a:spcBef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latin typeface="+mj-lt"/>
                        </a:rPr>
                        <a:t>(If 50%, no confirmation test will be conducted because all risks judged LOW. This is called “Run Chart Confirmation”).</a:t>
                      </a:r>
                      <a:endParaRPr lang="en-US" altLang="en-US" sz="12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L="91454" marR="91454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Box 62">
            <a:extLst>
              <a:ext uri="{FF2B5EF4-FFF2-40B4-BE49-F238E27FC236}">
                <a16:creationId xmlns:a16="http://schemas.microsoft.com/office/drawing/2014/main" id="{68463234-009D-4AC7-B2E2-7FC3BBFF1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640" y="435551"/>
            <a:ext cx="605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Risk Assessment 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Matrix- </a:t>
            </a:r>
            <a:r>
              <a:rPr lang="en-US" altLang="en-US" sz="2800" b="0" dirty="0">
                <a:solidFill>
                  <a:schemeClr val="tx1"/>
                </a:solidFill>
              </a:rPr>
              <a:t>Cover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8854" y="487394"/>
            <a:ext cx="31035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23792" y="5548729"/>
            <a:ext cx="43204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954406" y="6101636"/>
            <a:ext cx="936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600" dirty="0" smtClean="0">
                <a:solidFill>
                  <a:schemeClr val="tx1">
                    <a:lumMod val="10000"/>
                  </a:schemeClr>
                </a:solidFill>
              </a:rPr>
              <a:t>Conclusion</a:t>
            </a:r>
            <a:r>
              <a:rPr lang="en-US" sz="1600" b="0" dirty="0" smtClean="0">
                <a:solidFill>
                  <a:schemeClr val="tx1">
                    <a:lumMod val="10000"/>
                  </a:schemeClr>
                </a:solidFill>
              </a:rPr>
              <a:t>: Since, Overall assessment of risk is low, need to go for B vs W confirmation Test</a:t>
            </a:r>
          </a:p>
        </p:txBody>
      </p:sp>
      <p:sp>
        <p:nvSpPr>
          <p:cNvPr id="6" name="Oval 5"/>
          <p:cNvSpPr/>
          <p:nvPr/>
        </p:nvSpPr>
        <p:spPr>
          <a:xfrm>
            <a:off x="7032104" y="1916832"/>
            <a:ext cx="936104" cy="3422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128599" y="2348880"/>
            <a:ext cx="936104" cy="2880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032104" y="2780928"/>
            <a:ext cx="93610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7032104" y="3429000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7104158" y="3918417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6888088" y="4363931"/>
            <a:ext cx="1224136" cy="36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7032104" y="4782513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7032104" y="5097275"/>
            <a:ext cx="936104" cy="302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97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62">
            <a:extLst>
              <a:ext uri="{FF2B5EF4-FFF2-40B4-BE49-F238E27FC236}">
                <a16:creationId xmlns:a16="http://schemas.microsoft.com/office/drawing/2014/main" id="{A9C2349E-BF3E-4060-A770-73CDF7BF6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372" y="518173"/>
            <a:ext cx="60579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6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Confirmation Testing</a:t>
            </a:r>
          </a:p>
        </p:txBody>
      </p:sp>
      <p:sp>
        <p:nvSpPr>
          <p:cNvPr id="40998" name="TextBox 14">
            <a:extLst>
              <a:ext uri="{FF2B5EF4-FFF2-40B4-BE49-F238E27FC236}">
                <a16:creationId xmlns:a16="http://schemas.microsoft.com/office/drawing/2014/main" id="{09DB8EA1-8D94-4593-92FA-96F2ED824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4071" y="4696246"/>
            <a:ext cx="18573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en-US" sz="1400" dirty="0">
                <a:solidFill>
                  <a:srgbClr val="000000"/>
                </a:solidFill>
                <a:latin typeface="+mj-lt"/>
              </a:rPr>
              <a:t>End Count </a:t>
            </a:r>
            <a:r>
              <a:rPr lang="en-US" altLang="en-US" sz="1400" dirty="0" smtClean="0">
                <a:solidFill>
                  <a:srgbClr val="000000"/>
                </a:solidFill>
                <a:latin typeface="+mj-lt"/>
              </a:rPr>
              <a:t>= 5+5= 10  </a:t>
            </a:r>
            <a:endParaRPr lang="en-US" altLang="en-US" sz="14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EBC0BA8-7AE8-415B-BF1F-523D0D6D1D3F}"/>
              </a:ext>
            </a:extLst>
          </p:cNvPr>
          <p:cNvSpPr/>
          <p:nvPr/>
        </p:nvSpPr>
        <p:spPr>
          <a:xfrm>
            <a:off x="429324" y="1346136"/>
            <a:ext cx="429486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Confirmation Experiment Applied: </a:t>
            </a:r>
            <a:r>
              <a:rPr lang="en-US" altLang="en-US" sz="12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 Vs W</a:t>
            </a:r>
            <a:endParaRPr lang="en-US" altLang="en-US" sz="1200" b="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120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120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Risk Level: </a:t>
            </a:r>
            <a:r>
              <a:rPr lang="en-US" altLang="en-US" sz="12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5%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1200" b="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1200" u="sng" dirty="0" smtClean="0">
              <a:solidFill>
                <a:schemeClr val="tx1"/>
              </a:solidFill>
              <a:latin typeface="+mj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u="sng" dirty="0" smtClean="0">
                <a:solidFill>
                  <a:schemeClr val="tx1"/>
                </a:solidFill>
                <a:latin typeface="+mj-lt"/>
              </a:rPr>
              <a:t>Definition </a:t>
            </a:r>
            <a:r>
              <a:rPr lang="en-US" altLang="en-US" sz="1200" u="sng" dirty="0">
                <a:solidFill>
                  <a:schemeClr val="tx1"/>
                </a:solidFill>
                <a:latin typeface="+mj-lt"/>
              </a:rPr>
              <a:t>of </a:t>
            </a:r>
            <a:r>
              <a:rPr lang="en-US" altLang="en-US" sz="1200" u="sng" dirty="0" smtClean="0">
                <a:solidFill>
                  <a:schemeClr val="tx1"/>
                </a:solidFill>
                <a:latin typeface="+mj-lt"/>
              </a:rPr>
              <a:t>BIG X parameter </a:t>
            </a:r>
            <a:r>
              <a:rPr lang="en-US" altLang="en-US" sz="1200" u="sng" dirty="0">
                <a:solidFill>
                  <a:schemeClr val="tx1"/>
                </a:solidFill>
                <a:latin typeface="+mj-lt"/>
              </a:rPr>
              <a:t>Groups:</a:t>
            </a:r>
            <a:endParaRPr lang="en-US" altLang="en-US" sz="1200" dirty="0">
              <a:solidFill>
                <a:schemeClr val="tx1"/>
              </a:solidFill>
              <a:latin typeface="+mj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X</a:t>
            </a:r>
            <a:r>
              <a:rPr lang="en-US" altLang="en-US" sz="1400" kern="0" baseline="-25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en-US" sz="140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altLang="en-US" sz="1400" b="0" kern="0" dirty="0" smtClea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Distance</a:t>
            </a:r>
            <a:r>
              <a:rPr lang="en-US" sz="1400" b="0" dirty="0" smtClean="0">
                <a:solidFill>
                  <a:srgbClr val="000000"/>
                </a:solidFill>
                <a:latin typeface="+mn-lt"/>
              </a:rPr>
              <a:t> 43.423 - </a:t>
            </a:r>
            <a:r>
              <a:rPr lang="en-US" sz="14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43.457  mm</a:t>
            </a:r>
            <a:r>
              <a:rPr lang="en-US" altLang="en-US" sz="14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X</a:t>
            </a:r>
            <a:r>
              <a:rPr lang="en-US" altLang="en-US" sz="1400" kern="0" baseline="-2500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W</a:t>
            </a:r>
            <a:r>
              <a:rPr lang="en-US" altLang="en-US" sz="140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altLang="en-US" sz="1400" b="0" kern="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Distance</a:t>
            </a:r>
            <a:r>
              <a:rPr lang="en-US" sz="1400" b="0" dirty="0" smtClean="0">
                <a:solidFill>
                  <a:srgbClr val="000000"/>
                </a:solidFill>
              </a:rPr>
              <a:t> </a:t>
            </a:r>
            <a:r>
              <a:rPr lang="en-US" sz="1400" b="0" kern="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43.383 – 43.397 mm </a:t>
            </a:r>
            <a:endParaRPr lang="en-US" altLang="en-US" sz="1400" b="0" kern="0" dirty="0" smtClean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1200" b="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Sample size B: </a:t>
            </a:r>
            <a:r>
              <a:rPr lang="en-US" altLang="en-US" sz="1200" b="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5</a:t>
            </a:r>
            <a:endParaRPr lang="en-US" altLang="en-US" sz="1200" b="0" kern="0" dirty="0" smtClean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Sample Size W : </a:t>
            </a:r>
            <a:r>
              <a:rPr lang="en-US" altLang="en-US" sz="1200" b="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5</a:t>
            </a:r>
          </a:p>
          <a:p>
            <a:pPr>
              <a:defRPr/>
            </a:pPr>
            <a:endParaRPr lang="en-US" altLang="en-US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kern="0" dirty="0" err="1" smtClean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Mone</a:t>
            </a:r>
            <a:r>
              <a:rPr lang="en-US" altLang="en-US" sz="1200" kern="0" dirty="0" smtClean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(Y)</a:t>
            </a:r>
            <a:r>
              <a:rPr lang="en-US" altLang="en-US" sz="1200" kern="0" baseline="30000" dirty="0" smtClean="0">
                <a:solidFill>
                  <a:srgbClr val="00B05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sz="120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response: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RR1 test pressure higher side against specification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4.76- 5.43 bar</a:t>
            </a:r>
            <a:endParaRPr lang="en-US" altLang="en-US" sz="1200" b="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1200" b="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Required End Count: </a:t>
            </a:r>
            <a:r>
              <a:rPr lang="en-US" altLang="en-US" sz="120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sz="12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10</a:t>
            </a:r>
            <a:endParaRPr lang="en-US" altLang="en-US" sz="1200" b="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05EA2B0-747D-446D-B0CE-FFE01768F9C1}"/>
              </a:ext>
            </a:extLst>
          </p:cNvPr>
          <p:cNvSpPr/>
          <p:nvPr/>
        </p:nvSpPr>
        <p:spPr>
          <a:xfrm>
            <a:off x="295946" y="5618168"/>
            <a:ext cx="1157832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40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Conclusion: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14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Confirmation test is </a:t>
            </a:r>
            <a:r>
              <a:rPr lang="en-US" altLang="en-US" sz="1400" b="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passed, </a:t>
            </a:r>
            <a:r>
              <a:rPr lang="en-US" altLang="en-US" sz="14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Distance 43.470 is </a:t>
            </a:r>
            <a:r>
              <a:rPr lang="en-US" altLang="en-US" sz="1400" b="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the BIG X </a:t>
            </a:r>
            <a:r>
              <a:rPr lang="en-US" altLang="en-US" sz="14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of Housing. </a:t>
            </a:r>
            <a:r>
              <a:rPr lang="en-US" altLang="en-US" sz="1400" b="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There is a 5</a:t>
            </a:r>
            <a:r>
              <a:rPr lang="en-US" altLang="en-US" sz="14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% </a:t>
            </a:r>
            <a:r>
              <a:rPr lang="en-US" altLang="en-US" sz="1400" b="0" kern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risk that we have been fooled by these </a:t>
            </a:r>
            <a:r>
              <a:rPr lang="en-US" altLang="en-US" sz="1400" b="0" kern="0" dirty="0" smtClean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data</a:t>
            </a:r>
            <a:endParaRPr lang="en-US" altLang="en-US" sz="1400" b="0" kern="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Text Box 113"/>
          <p:cNvSpPr txBox="1">
            <a:spLocks noChangeArrowheads="1"/>
          </p:cNvSpPr>
          <p:nvPr/>
        </p:nvSpPr>
        <p:spPr bwMode="auto">
          <a:xfrm>
            <a:off x="4314229" y="1353166"/>
            <a:ext cx="1111907" cy="33855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000000"/>
                </a:solidFill>
              </a:rPr>
              <a:t>Run </a:t>
            </a:r>
            <a:r>
              <a:rPr lang="en-US" sz="1600" dirty="0" smtClean="0">
                <a:solidFill>
                  <a:srgbClr val="000000"/>
                </a:solidFill>
              </a:rPr>
              <a:t>Order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1" name="Text Box 141"/>
          <p:cNvSpPr txBox="1">
            <a:spLocks noChangeArrowheads="1"/>
          </p:cNvSpPr>
          <p:nvPr/>
        </p:nvSpPr>
        <p:spPr bwMode="auto">
          <a:xfrm>
            <a:off x="8183503" y="1349385"/>
            <a:ext cx="1153586" cy="33855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000000"/>
                </a:solidFill>
              </a:rPr>
              <a:t>Rank Order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0296" y="733617"/>
            <a:ext cx="31035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IC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A</a:t>
            </a:r>
            <a:r>
              <a:rPr lang="en-US" sz="1200" dirty="0" smtClean="0">
                <a:latin typeface="+mj-lt"/>
                <a:cs typeface="Times New Roman" pitchFamily="18" charset="0"/>
              </a:rPr>
              <a:t>NALYZE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439256" y="1980457"/>
            <a:ext cx="819141" cy="2829221"/>
            <a:chOff x="11415793" y="1911676"/>
            <a:chExt cx="819141" cy="2190265"/>
          </a:xfrm>
        </p:grpSpPr>
        <p:sp>
          <p:nvSpPr>
            <p:cNvPr id="20" name="TextBox 19"/>
            <p:cNvSpPr txBox="1"/>
            <p:nvPr/>
          </p:nvSpPr>
          <p:spPr>
            <a:xfrm>
              <a:off x="11415793" y="1911676"/>
              <a:ext cx="79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400" b="0" dirty="0" smtClean="0">
                  <a:solidFill>
                    <a:srgbClr val="00B050"/>
                  </a:solidFill>
                </a:rPr>
                <a:t>BOB</a:t>
              </a:r>
              <a:endParaRPr lang="en-IN" sz="1400" b="0" dirty="0" smtClean="0">
                <a:solidFill>
                  <a:srgbClr val="00B05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435261" y="3794164"/>
              <a:ext cx="79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400" b="0" dirty="0" smtClean="0">
                  <a:solidFill>
                    <a:srgbClr val="FF0000"/>
                  </a:solidFill>
                </a:rPr>
                <a:t>WOW</a:t>
              </a:r>
              <a:endParaRPr lang="en-IN" sz="1400" b="0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/>
            <p:cNvCxnSpPr>
              <a:stCxn id="23" idx="0"/>
              <a:endCxn id="20" idx="2"/>
            </p:cNvCxnSpPr>
            <p:nvPr/>
          </p:nvCxnSpPr>
          <p:spPr>
            <a:xfrm flipH="1" flipV="1">
              <a:off x="11815630" y="2219453"/>
              <a:ext cx="19468" cy="1574711"/>
            </a:xfrm>
            <a:prstGeom prst="straightConnector1">
              <a:avLst/>
            </a:prstGeom>
            <a:ln w="28575" cap="rnd">
              <a:gradFill>
                <a:gsLst>
                  <a:gs pos="0">
                    <a:srgbClr val="FF0000"/>
                  </a:gs>
                  <a:gs pos="100000">
                    <a:srgbClr val="00B050"/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838757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Project Title 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093717"/>
              </p:ext>
            </p:extLst>
          </p:nvPr>
        </p:nvGraphicFramePr>
        <p:xfrm>
          <a:off x="8179667" y="1814149"/>
          <a:ext cx="3318165" cy="2575733"/>
        </p:xfrm>
        <a:graphic>
          <a:graphicData uri="http://schemas.openxmlformats.org/drawingml/2006/table">
            <a:tbl>
              <a:tblPr/>
              <a:tblGrid>
                <a:gridCol w="862261">
                  <a:extLst>
                    <a:ext uri="{9D8B030D-6E8A-4147-A177-3AD203B41FA5}">
                      <a16:colId xmlns:a16="http://schemas.microsoft.com/office/drawing/2014/main" val="3023705441"/>
                    </a:ext>
                  </a:extLst>
                </a:gridCol>
                <a:gridCol w="1216404">
                  <a:extLst>
                    <a:ext uri="{9D8B030D-6E8A-4147-A177-3AD203B41FA5}">
                      <a16:colId xmlns:a16="http://schemas.microsoft.com/office/drawing/2014/main" val="4154124010"/>
                    </a:ext>
                  </a:extLst>
                </a:gridCol>
                <a:gridCol w="1239500">
                  <a:extLst>
                    <a:ext uri="{9D8B030D-6E8A-4147-A177-3AD203B41FA5}">
                      <a16:colId xmlns:a16="http://schemas.microsoft.com/office/drawing/2014/main" val="2179852838"/>
                    </a:ext>
                  </a:extLst>
                </a:gridCol>
              </a:tblGrid>
              <a:tr h="5791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B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Big X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Distance 43.70 (mm)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B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Mone(Y)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RR1 test pressure (bar)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710393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31458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478369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127644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844772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303873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68393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51223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907015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16730"/>
                  </a:ext>
                </a:extLst>
              </a:tr>
              <a:tr h="1996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72967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926652"/>
              </p:ext>
            </p:extLst>
          </p:nvPr>
        </p:nvGraphicFramePr>
        <p:xfrm>
          <a:off x="3935760" y="1821097"/>
          <a:ext cx="3543953" cy="2568783"/>
        </p:xfrm>
        <a:graphic>
          <a:graphicData uri="http://schemas.openxmlformats.org/drawingml/2006/table">
            <a:tbl>
              <a:tblPr/>
              <a:tblGrid>
                <a:gridCol w="920934">
                  <a:extLst>
                    <a:ext uri="{9D8B030D-6E8A-4147-A177-3AD203B41FA5}">
                      <a16:colId xmlns:a16="http://schemas.microsoft.com/office/drawing/2014/main" val="665270062"/>
                    </a:ext>
                  </a:extLst>
                </a:gridCol>
                <a:gridCol w="1301721">
                  <a:extLst>
                    <a:ext uri="{9D8B030D-6E8A-4147-A177-3AD203B41FA5}">
                      <a16:colId xmlns:a16="http://schemas.microsoft.com/office/drawing/2014/main" val="2631264259"/>
                    </a:ext>
                  </a:extLst>
                </a:gridCol>
                <a:gridCol w="1321298">
                  <a:extLst>
                    <a:ext uri="{9D8B030D-6E8A-4147-A177-3AD203B41FA5}">
                      <a16:colId xmlns:a16="http://schemas.microsoft.com/office/drawing/2014/main" val="428220767"/>
                    </a:ext>
                  </a:extLst>
                </a:gridCol>
              </a:tblGrid>
              <a:tr h="578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B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Big X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Distance 43.70 (mm)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B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Mone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(Y)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RR1 test </a:t>
                      </a:r>
                      <a:endParaRPr lang="en-US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pressure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(bar)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441678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132933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19925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540511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531555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071118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87093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055195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729927"/>
                  </a:ext>
                </a:extLst>
              </a:tr>
              <a:tr h="1984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BOB-05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43.436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642198"/>
                  </a:ext>
                </a:extLst>
              </a:tr>
              <a:tr h="2041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WOW-05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43.389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435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02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>
          <a:xfrm>
            <a:off x="442800" y="597600"/>
            <a:ext cx="1130501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 smtClean="0">
                <a:latin typeface="+mj-lt"/>
                <a:cs typeface="Arial" panose="020B0604020202020204" pitchFamily="34" charset="0"/>
              </a:rPr>
              <a:t>IMPROVE</a:t>
            </a:r>
            <a:endParaRPr lang="en-US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90DB15-F479-43AD-A48C-7C7AA575C533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/>
                <a:ea typeface="+mn-ea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/>
              <a:ea typeface="+mn-ea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471" y="733618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01237" y="1357662"/>
            <a:ext cx="9054479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50000"/>
              </a:spcBef>
              <a:buSzPct val="90000"/>
              <a:defRPr sz="16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rgbClr val="6A6B6D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Possible required tools like: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err="1" smtClean="0">
                <a:solidFill>
                  <a:schemeClr val="tx1"/>
                </a:solidFill>
                <a:latin typeface="+mn-lt"/>
              </a:rPr>
              <a:t>Understand</a:t>
            </a:r>
            <a:r>
              <a:rPr lang="de-DE" altLang="de-DE" sz="20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altLang="de-DE" sz="2000" b="0" dirty="0">
                <a:solidFill>
                  <a:schemeClr val="tx1"/>
                </a:solidFill>
                <a:latin typeface="+mn-lt"/>
              </a:rPr>
              <a:t>Y </a:t>
            </a:r>
            <a:r>
              <a:rPr lang="de-DE" altLang="de-DE" sz="2000" b="0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 X </a:t>
            </a:r>
            <a:r>
              <a:rPr lang="de-DE" altLang="de-DE" sz="2000" b="0" dirty="0" err="1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Relationship</a:t>
            </a:r>
            <a:r>
              <a:rPr lang="en-US" altLang="de-DE" sz="2000" b="0" dirty="0">
                <a:solidFill>
                  <a:schemeClr val="tx1"/>
                </a:solidFill>
                <a:latin typeface="+mn-lt"/>
              </a:rPr>
              <a:t>-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------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de-DE" sz="2000" b="0" dirty="0">
                <a:solidFill>
                  <a:schemeClr val="tx1"/>
                </a:solidFill>
                <a:latin typeface="+mn-lt"/>
              </a:rPr>
              <a:t>Action List-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--------------------------------</a:t>
            </a:r>
            <a:endParaRPr lang="de-DE" altLang="de-DE" sz="2000" b="0" dirty="0">
              <a:solidFill>
                <a:schemeClr val="tx1"/>
              </a:solidFill>
              <a:latin typeface="+mn-lt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err="1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Scatter</a:t>
            </a:r>
            <a:r>
              <a:rPr lang="de-DE" altLang="de-DE" sz="2000" b="0" dirty="0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de-DE" altLang="de-DE" sz="2000" b="0" dirty="0" err="1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plot</a:t>
            </a:r>
            <a:r>
              <a:rPr lang="en-US" altLang="de-DE" sz="2000" b="0" dirty="0">
                <a:solidFill>
                  <a:schemeClr val="tx1"/>
                </a:solidFill>
                <a:latin typeface="+mn-lt"/>
              </a:rPr>
              <a:t>-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---------------------------</a:t>
            </a:r>
            <a:r>
              <a:rPr lang="en-US" altLang="de-DE" sz="2000" b="0" dirty="0">
                <a:solidFill>
                  <a:schemeClr val="tx1"/>
                </a:solidFill>
                <a:latin typeface="+mn-lt"/>
              </a:rPr>
              <a:t>----</a:t>
            </a:r>
            <a:endParaRPr lang="de-DE" altLang="de-DE" sz="2000" b="0" dirty="0" smtClean="0">
              <a:solidFill>
                <a:schemeClr val="tx1"/>
              </a:solidFill>
              <a:latin typeface="+mn-lt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err="1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Tolerance</a:t>
            </a:r>
            <a:r>
              <a:rPr lang="de-DE" altLang="de-DE" sz="2000" b="0" dirty="0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de-DE" altLang="de-DE" sz="2000" b="0" dirty="0" err="1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Parallelogram</a:t>
            </a:r>
            <a:r>
              <a:rPr lang="en-US" altLang="de-DE" sz="2000" b="0" dirty="0">
                <a:solidFill>
                  <a:schemeClr val="tx1"/>
                </a:solidFill>
                <a:latin typeface="+mn-lt"/>
              </a:rPr>
              <a:t>-</a:t>
            </a:r>
            <a:r>
              <a:rPr lang="en-US" altLang="de-DE" sz="2000" b="0" dirty="0" smtClean="0">
                <a:solidFill>
                  <a:schemeClr val="tx1"/>
                </a:solidFill>
                <a:latin typeface="+mn-lt"/>
              </a:rPr>
              <a:t>---------------</a:t>
            </a:r>
          </a:p>
        </p:txBody>
      </p:sp>
      <p:grpSp>
        <p:nvGrpSpPr>
          <p:cNvPr id="30" name="Gruppieren 29"/>
          <p:cNvGrpSpPr/>
          <p:nvPr/>
        </p:nvGrpSpPr>
        <p:grpSpPr>
          <a:xfrm>
            <a:off x="8711528" y="2986174"/>
            <a:ext cx="3320278" cy="3981035"/>
            <a:chOff x="8714192" y="2986174"/>
            <a:chExt cx="3320278" cy="3981035"/>
          </a:xfrm>
        </p:grpSpPr>
        <p:grpSp>
          <p:nvGrpSpPr>
            <p:cNvPr id="36" name="Gruppieren 35"/>
            <p:cNvGrpSpPr/>
            <p:nvPr/>
          </p:nvGrpSpPr>
          <p:grpSpPr>
            <a:xfrm>
              <a:off x="9403016" y="2986174"/>
              <a:ext cx="2631454" cy="2140456"/>
              <a:chOff x="304094" y="0"/>
              <a:chExt cx="4526280" cy="3681730"/>
            </a:xfrm>
          </p:grpSpPr>
          <p:pic>
            <p:nvPicPr>
              <p:cNvPr id="37" name="Grafik 3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4" y="0"/>
                <a:ext cx="4526280" cy="3681730"/>
              </a:xfrm>
              <a:prstGeom prst="rect">
                <a:avLst/>
              </a:prstGeom>
            </p:spPr>
          </p:pic>
          <p:sp>
            <p:nvSpPr>
              <p:cNvPr id="38" name="Rechteck 37"/>
              <p:cNvSpPr/>
              <p:nvPr/>
            </p:nvSpPr>
            <p:spPr>
              <a:xfrm>
                <a:off x="356520" y="147711"/>
                <a:ext cx="3170321" cy="9504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GB" sz="500" b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Mone(Y) = Mass Flow [kg/s]</a:t>
                </a:r>
                <a:endParaRPr lang="en-US" sz="50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" name="Textfeld 31"/>
            <p:cNvSpPr txBox="1"/>
            <p:nvPr/>
          </p:nvSpPr>
          <p:spPr>
            <a:xfrm>
              <a:off x="9469795" y="5064577"/>
              <a:ext cx="47075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de-DE" sz="700" smtClean="0">
                  <a:solidFill>
                    <a:schemeClr val="bg2"/>
                  </a:solidFill>
                  <a:latin typeface="Century Gothic" panose="020B0502020202020204" pitchFamily="34" charset="0"/>
                </a:rPr>
                <a:t>BIG X</a:t>
              </a:r>
              <a:endParaRPr lang="en-US" sz="700" dirty="0" smtClean="0">
                <a:solidFill>
                  <a:schemeClr val="bg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3" name="TextBox 7"/>
            <p:cNvSpPr txBox="1"/>
            <p:nvPr/>
          </p:nvSpPr>
          <p:spPr>
            <a:xfrm>
              <a:off x="8714192" y="5313081"/>
              <a:ext cx="31190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800" b="0" dirty="0" smtClean="0">
                  <a:solidFill>
                    <a:schemeClr val="tx1">
                      <a:lumMod val="10000"/>
                    </a:schemeClr>
                  </a:solidFill>
                </a:rPr>
                <a:t>            </a:t>
              </a:r>
              <a:r>
                <a:rPr lang="en-US" sz="1800" dirty="0" smtClean="0">
                  <a:solidFill>
                    <a:schemeClr val="tx1">
                      <a:lumMod val="10000"/>
                    </a:schemeClr>
                  </a:solidFill>
                </a:rPr>
                <a:t>Elimination Strategy</a:t>
              </a:r>
            </a:p>
            <a:p>
              <a:pPr>
                <a:buClr>
                  <a:schemeClr val="accent3"/>
                </a:buClr>
              </a:pP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  <a:p>
              <a:pPr>
                <a:buClr>
                  <a:schemeClr val="accent3"/>
                </a:buClr>
              </a:pPr>
              <a:r>
                <a:rPr lang="en-US" sz="1800" b="0" smtClean="0">
                  <a:solidFill>
                    <a:schemeClr val="tx1">
                      <a:lumMod val="10000"/>
                    </a:schemeClr>
                  </a:solidFill>
                </a:rPr>
                <a:t> </a:t>
              </a: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pic>
          <p:nvPicPr>
            <p:cNvPr id="34" name="Grafik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2120" y="5433917"/>
              <a:ext cx="2173010" cy="1533292"/>
            </a:xfrm>
            <a:prstGeom prst="rect">
              <a:avLst/>
            </a:prstGeom>
          </p:spPr>
        </p:pic>
      </p:grpSp>
      <p:cxnSp>
        <p:nvCxnSpPr>
          <p:cNvPr id="39" name="Straight Connector 40"/>
          <p:cNvCxnSpPr/>
          <p:nvPr/>
        </p:nvCxnSpPr>
        <p:spPr>
          <a:xfrm>
            <a:off x="9082800" y="1214359"/>
            <a:ext cx="0" cy="509496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itel 1"/>
          <p:cNvSpPr txBox="1">
            <a:spLocks/>
          </p:cNvSpPr>
          <p:nvPr/>
        </p:nvSpPr>
        <p:spPr>
          <a:xfrm>
            <a:off x="2905314" y="207983"/>
            <a:ext cx="3622733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0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219" y="1169721"/>
            <a:ext cx="1694149" cy="1694149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5020058" y="1662328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5020058" y="2138683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5015880" y="2642739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83667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795" y="1377499"/>
            <a:ext cx="4809061" cy="3102976"/>
          </a:xfrm>
          <a:prstGeom prst="rect">
            <a:avLst/>
          </a:prstGeom>
        </p:spPr>
      </p:pic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483" y="733617"/>
            <a:ext cx="1519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9769" y="5719459"/>
            <a:ext cx="11912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Conclusion: </a:t>
            </a:r>
            <a:endParaRPr lang="en-US" altLang="en-US" sz="1400" kern="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altLang="en-US" sz="1400" b="0" dirty="0" smtClean="0">
                <a:solidFill>
                  <a:schemeClr val="tx1">
                    <a:lumMod val="10000"/>
                  </a:schemeClr>
                </a:solidFill>
              </a:rPr>
              <a:t>Improvement in </a:t>
            </a:r>
            <a:r>
              <a:rPr lang="de-DE" altLang="en-US" sz="1400" b="0" dirty="0" smtClean="0">
                <a:solidFill>
                  <a:srgbClr val="0082C8"/>
                </a:solidFill>
              </a:rPr>
              <a:t>Mone </a:t>
            </a:r>
            <a:r>
              <a:rPr lang="de-DE" altLang="en-US" sz="1400" b="0" dirty="0" smtClean="0">
                <a:solidFill>
                  <a:srgbClr val="0082C8"/>
                </a:solidFill>
                <a:latin typeface="+mj-lt"/>
              </a:rPr>
              <a:t>[</a:t>
            </a:r>
            <a:r>
              <a:rPr lang="de-DE" altLang="en-US" sz="1400" b="0" dirty="0" smtClean="0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Y] </a:t>
            </a:r>
            <a:r>
              <a:rPr lang="de-DE" altLang="en-US" sz="1400" b="0" dirty="0" err="1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housing center distance 43.47 mm </a:t>
            </a:r>
            <a:r>
              <a:rPr lang="de-DE" altLang="en-US" sz="1400" b="0" dirty="0" err="1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is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within specification</a:t>
            </a:r>
            <a:r>
              <a:rPr lang="de-DE" altLang="en-US" sz="14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and </a:t>
            </a:r>
            <a:r>
              <a:rPr lang="de-DE" altLang="en-US" sz="1400" b="0" dirty="0" err="1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it </a:t>
            </a:r>
            <a:r>
              <a:rPr lang="de-DE" altLang="en-US" sz="1400" b="0" dirty="0" err="1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is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undersize </a:t>
            </a:r>
            <a:r>
              <a:rPr lang="de-DE" altLang="en-US" sz="1400" b="0" dirty="0" err="1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then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sz="1400" b="0" dirty="0" err="1" smtClean="0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Mone</a:t>
            </a:r>
            <a:r>
              <a:rPr lang="de-DE" altLang="en-US" sz="1400" b="0" dirty="0" smtClean="0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sz="1400" b="0" dirty="0">
                <a:solidFill>
                  <a:srgbClr val="0082C8"/>
                </a:solidFill>
              </a:rPr>
              <a:t>[</a:t>
            </a:r>
            <a:r>
              <a:rPr lang="de-DE" altLang="en-US" sz="1400" b="0" dirty="0">
                <a:solidFill>
                  <a:srgbClr val="0082C8"/>
                </a:solidFill>
                <a:cs typeface="Arial" panose="020B0604020202020204" pitchFamily="34" charset="0"/>
              </a:rPr>
              <a:t>Y]</a:t>
            </a:r>
            <a:r>
              <a:rPr lang="de-DE" altLang="en-US" sz="1400" b="0" dirty="0" smtClean="0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sz="1400" b="0" dirty="0" err="1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gets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out </a:t>
            </a:r>
            <a:r>
              <a:rPr lang="de-DE" altLang="en-US" sz="1400" b="0" dirty="0" err="1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of</a:t>
            </a:r>
            <a:r>
              <a:rPr lang="de-DE" altLang="en-US" sz="1400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specification at higher zone</a:t>
            </a:r>
            <a:endParaRPr lang="en-US" sz="1400" b="0" dirty="0" smtClean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135560" y="599582"/>
            <a:ext cx="4180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Understand Y 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X Relationship</a:t>
            </a:r>
            <a:endParaRPr lang="en-US" sz="2400" dirty="0"/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2905314" y="219018"/>
            <a:ext cx="3622733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1479" y="447722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 smtClean="0">
                <a:solidFill>
                  <a:schemeClr val="tx1">
                    <a:lumMod val="10000"/>
                  </a:schemeClr>
                </a:solidFill>
              </a:rPr>
              <a:t>BOB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0662" y="376905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 smtClean="0">
                <a:solidFill>
                  <a:schemeClr val="tx1">
                    <a:lumMod val="10000"/>
                  </a:schemeClr>
                </a:solidFill>
              </a:rPr>
              <a:t>BOB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4190" y="4477225"/>
            <a:ext cx="742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>
                <a:solidFill>
                  <a:schemeClr val="tx1">
                    <a:lumMod val="10000"/>
                  </a:schemeClr>
                </a:solidFill>
              </a:rPr>
              <a:t>W</a:t>
            </a:r>
            <a:r>
              <a:rPr lang="en-US" sz="1800" b="0" dirty="0" smtClean="0">
                <a:solidFill>
                  <a:schemeClr val="tx1">
                    <a:lumMod val="10000"/>
                  </a:schemeClr>
                </a:solidFill>
              </a:rPr>
              <a:t>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6697" y="1710100"/>
            <a:ext cx="742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>
                <a:solidFill>
                  <a:schemeClr val="tx1">
                    <a:lumMod val="10000"/>
                  </a:schemeClr>
                </a:solidFill>
              </a:rPr>
              <a:t>W</a:t>
            </a:r>
            <a:r>
              <a:rPr lang="en-US" sz="1800" b="0" dirty="0" smtClean="0">
                <a:solidFill>
                  <a:schemeClr val="tx1">
                    <a:lumMod val="10000"/>
                  </a:schemeClr>
                </a:solidFill>
              </a:rPr>
              <a:t>OW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03" y="1314339"/>
            <a:ext cx="5959710" cy="31170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336360" y="447722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 smtClean="0">
                <a:solidFill>
                  <a:srgbClr val="FF0000"/>
                </a:solidFill>
              </a:rPr>
              <a:t>BIG-X</a:t>
            </a:r>
          </a:p>
        </p:txBody>
      </p:sp>
      <p:sp>
        <p:nvSpPr>
          <p:cNvPr id="60" name="TextBox 59"/>
          <p:cNvSpPr txBox="1"/>
          <p:nvPr/>
        </p:nvSpPr>
        <p:spPr>
          <a:xfrm rot="16200000">
            <a:off x="6268404" y="2696078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 err="1" smtClean="0">
                <a:solidFill>
                  <a:schemeClr val="bg2"/>
                </a:solidFill>
              </a:rPr>
              <a:t>Mone</a:t>
            </a:r>
            <a:r>
              <a:rPr lang="en-US" sz="1800" b="0" dirty="0" smtClean="0">
                <a:solidFill>
                  <a:schemeClr val="bg2"/>
                </a:solidFill>
              </a:rPr>
              <a:t> [Y</a:t>
            </a:r>
            <a:r>
              <a:rPr lang="en-US" sz="1800" b="0" dirty="0">
                <a:solidFill>
                  <a:schemeClr val="bg2"/>
                </a:solidFill>
              </a:rPr>
              <a:t>]</a:t>
            </a:r>
            <a:endParaRPr lang="en-US" sz="1800" b="0" dirty="0" smtClean="0">
              <a:solidFill>
                <a:schemeClr val="bg2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603803" y="448047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 smtClean="0">
                <a:solidFill>
                  <a:srgbClr val="FF6600"/>
                </a:solidFill>
              </a:rPr>
              <a:t>BIG-X</a:t>
            </a:r>
          </a:p>
        </p:txBody>
      </p:sp>
      <p:sp>
        <p:nvSpPr>
          <p:cNvPr id="17" name="Right Arrow 16"/>
          <p:cNvSpPr/>
          <p:nvPr/>
        </p:nvSpPr>
        <p:spPr>
          <a:xfrm rot="17642625">
            <a:off x="4671987" y="2774806"/>
            <a:ext cx="616449" cy="484632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4366065" y="2636912"/>
            <a:ext cx="1008112" cy="164310"/>
          </a:xfrm>
          <a:prstGeom prst="line">
            <a:avLst/>
          </a:prstGeom>
          <a:ln w="38100" cap="rnd">
            <a:solidFill>
              <a:srgbClr val="FFFF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212624" y="3180791"/>
            <a:ext cx="1008112" cy="164310"/>
          </a:xfrm>
          <a:prstGeom prst="line">
            <a:avLst/>
          </a:prstGeom>
          <a:ln w="38100" cap="rnd">
            <a:solidFill>
              <a:srgbClr val="FFFF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17" idx="1"/>
          </p:cNvCxnSpPr>
          <p:nvPr/>
        </p:nvCxnSpPr>
        <p:spPr>
          <a:xfrm flipH="1" flipV="1">
            <a:off x="4854630" y="3298603"/>
            <a:ext cx="124374" cy="1181872"/>
          </a:xfrm>
          <a:prstGeom prst="straightConnector1">
            <a:avLst/>
          </a:prstGeom>
          <a:ln w="38100" cap="rnd">
            <a:solidFill>
              <a:srgbClr val="FFFF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 flipV="1">
            <a:off x="1127450" y="3950307"/>
            <a:ext cx="124372" cy="530168"/>
          </a:xfrm>
          <a:prstGeom prst="straightConnector1">
            <a:avLst/>
          </a:prstGeom>
          <a:ln w="38100" cap="rnd">
            <a:solidFill>
              <a:srgbClr val="FFFF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03543" y="4499796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1800" b="0" dirty="0" err="1" smtClean="0">
                <a:solidFill>
                  <a:schemeClr val="bg2"/>
                </a:solidFill>
              </a:rPr>
              <a:t>Mone</a:t>
            </a:r>
            <a:r>
              <a:rPr lang="en-US" sz="1800" b="0" dirty="0" smtClean="0">
                <a:solidFill>
                  <a:schemeClr val="bg2"/>
                </a:solidFill>
              </a:rPr>
              <a:t> [Y</a:t>
            </a:r>
            <a:r>
              <a:rPr lang="en-US" sz="1800" b="0" dirty="0">
                <a:solidFill>
                  <a:schemeClr val="bg2"/>
                </a:solidFill>
              </a:rPr>
              <a:t>]</a:t>
            </a:r>
            <a:endParaRPr lang="en-US" sz="1800" b="0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56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2">
            <a:extLst>
              <a:ext uri="{FF2B5EF4-FFF2-40B4-BE49-F238E27FC236}">
                <a16:creationId xmlns:a16="http://schemas.microsoft.com/office/drawing/2014/main" id="{EB42F05B-CD2F-439E-8EEE-EBC6F0AC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68" y="435551"/>
            <a:ext cx="60579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Action list- Rico Supplier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483" y="614956"/>
            <a:ext cx="1519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181384"/>
              </p:ext>
            </p:extLst>
          </p:nvPr>
        </p:nvGraphicFramePr>
        <p:xfrm>
          <a:off x="281690" y="930969"/>
          <a:ext cx="11718966" cy="4166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02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Item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Description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Action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Deadline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Finished Date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Responsible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Status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0"/>
                        </a:spcBef>
                        <a:buClr>
                          <a:srgbClr val="0033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1200" dirty="0" smtClean="0"/>
                        <a:t>Risk assessment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aseline="0" dirty="0" smtClean="0"/>
                        <a:t>With CFT review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31.08.2025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29.08.2025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CFT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Confirmation test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 smtClean="0"/>
                        <a:t>Corrected</a:t>
                      </a:r>
                      <a:r>
                        <a:rPr lang="en-US" sz="1200" baseline="0" dirty="0" smtClean="0"/>
                        <a:t> batch BOB with WOW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31.08.2025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29.08.2025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Ganesh Hole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CP &amp; </a:t>
                      </a:r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CPk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 Dist. 43.47 – 0.05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be maintain by supplier as per standard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31.08.2025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18.09.2025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 err="1" smtClean="0">
                          <a:solidFill>
                            <a:schemeClr val="tx1"/>
                          </a:solidFill>
                        </a:rPr>
                        <a:t>Vaibhav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aseline="0" dirty="0" err="1" smtClean="0">
                          <a:solidFill>
                            <a:schemeClr val="tx1"/>
                          </a:solidFill>
                        </a:rPr>
                        <a:t>Jogade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&amp; Rico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PFMEA- Rico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PFMEA 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to be update</a:t>
                      </a:r>
                      <a:endParaRPr 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31.08.2025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18.09.2025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Rico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1693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Control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Plan-Rico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Control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to be update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31.08.2025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18.09.2025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Rico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380383"/>
                  </a:ext>
                </a:extLst>
              </a:tr>
              <a:tr h="4284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/>
                        <a:t>Housing Inspection method</a:t>
                      </a:r>
                      <a:endParaRPr lang="en-US" sz="1200" b="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center distance altered to 3points method, for Large &amp; Small width altered to plane method as like as KSPG </a:t>
                      </a:r>
                      <a:endParaRPr lang="en-US" sz="1200" b="0" dirty="0" smtClean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26.06.2025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26.06.2025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Rico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58745"/>
                  </a:ext>
                </a:extLst>
              </a:tr>
              <a:tr h="4554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/>
                        <a:t>Housing Inspection method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position RICO currently inspection done as per drawing, altered from point to plane method</a:t>
                      </a:r>
                      <a:endParaRPr lang="en-US" sz="1200" b="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26.06.2025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26.06.2025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Rico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415610"/>
                  </a:ext>
                </a:extLst>
              </a:tr>
              <a:tr h="5956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Housing Inspection method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align with KSPG method for position RICO to visit KSPG with measured samples to align.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31.08.2025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18.09.2025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Mahendra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Potkule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 &amp;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Rico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017984"/>
                  </a:ext>
                </a:extLst>
              </a:tr>
              <a:tr h="2788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Drawing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 specification for 10mm position 10mm (slot)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To be revisit and releasing of new drawing-ECN</a:t>
                      </a:r>
                    </a:p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MOM done for immediate start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31.12.2025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31.12.2025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31.01.2026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18.09.2025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Ram </a:t>
                      </a:r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</a:rPr>
                        <a:t>Shewale</a:t>
                      </a:r>
                      <a:endParaRPr lang="en-US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</a:rPr>
                        <a:t>Vaibhav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</a:rPr>
                        <a:t>Jogade</a:t>
                      </a:r>
                      <a:endParaRPr 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WIP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44793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Time series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for </a:t>
                      </a:r>
                      <a:r>
                        <a:rPr lang="en-US" sz="1200" baseline="0" dirty="0" err="1" smtClean="0">
                          <a:solidFill>
                            <a:schemeClr val="tx1"/>
                          </a:solidFill>
                        </a:rPr>
                        <a:t>Mone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[Y]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 be plot and attach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30.09.2025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30.09.2025</a:t>
                      </a: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Ganesh Hole</a:t>
                      </a: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Completed</a:t>
                      </a: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29243"/>
                  </a:ext>
                </a:extLst>
              </a:tr>
            </a:tbl>
          </a:graphicData>
        </a:graphic>
      </p:graphicFrame>
      <p:sp>
        <p:nvSpPr>
          <p:cNvPr id="16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PU2023-19-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29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2">
            <a:extLst>
              <a:ext uri="{FF2B5EF4-FFF2-40B4-BE49-F238E27FC236}">
                <a16:creationId xmlns:a16="http://schemas.microsoft.com/office/drawing/2014/main" id="{EB42F05B-CD2F-439E-8EEE-EBC6F0AC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167" y="507233"/>
            <a:ext cx="60579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Action list- </a:t>
            </a:r>
            <a:r>
              <a:rPr lang="en-US" altLang="en-US" sz="2600" dirty="0" err="1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Rockman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upplier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483" y="614956"/>
            <a:ext cx="1519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537712"/>
              </p:ext>
            </p:extLst>
          </p:nvPr>
        </p:nvGraphicFramePr>
        <p:xfrm>
          <a:off x="284681" y="999676"/>
          <a:ext cx="11718966" cy="4811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39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Item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Description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Action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Deadline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Finished Date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Responsible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Status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69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>
                          <a:srgbClr val="0033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lang="en-US" sz="1200" dirty="0" smtClean="0">
                          <a:latin typeface="+mn-lt"/>
                        </a:rPr>
                        <a:t>Cutter entry location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aseline="0" dirty="0" smtClean="0">
                          <a:latin typeface="+mn-lt"/>
                        </a:rPr>
                        <a:t>Cutter entry location changed to “Over Clamp” (2)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Om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Parkash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Nylon Brush application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 smtClean="0">
                          <a:latin typeface="+mn-lt"/>
                        </a:rPr>
                        <a:t>Nylon Brush removed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Om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Parkash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Inspection method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Inspection method restored by filler gauge.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Mohan Ram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52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Flatness inspection 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Flatness inspection by filler gauge confirmation marking being done.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Mohan Ram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235858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Training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Training provided to all line inspector about reported defect.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13.06.2025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14.06.2025</a:t>
                      </a:r>
                    </a:p>
                    <a:p>
                      <a:pPr lvl="0" algn="ctr" fontAlgn="b">
                        <a:lnSpc>
                          <a:spcPct val="100000"/>
                        </a:lnSpc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dirty="0" err="1" smtClean="0">
                          <a:latin typeface="+mn-lt"/>
                        </a:rPr>
                        <a:t>Rohit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16935"/>
                  </a:ext>
                </a:extLst>
              </a:tr>
              <a:tr h="489960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Quality alert 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Quality alert displayed at PDI station.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13.06.2025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14.06.2025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dirty="0" err="1" smtClean="0">
                          <a:latin typeface="+mn-lt"/>
                        </a:rPr>
                        <a:t>Rohit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380383"/>
                  </a:ext>
                </a:extLst>
              </a:tr>
              <a:tr h="547872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+mn-lt"/>
                        </a:rPr>
                        <a:t>Work Instruction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latin typeface="+mn-lt"/>
                        </a:rPr>
                        <a:t>100% inspection check point added in W.I for Flatness Not Ok by 0.039 mm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23.06.2025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</a:pPr>
                      <a:endParaRPr lang="en-US" sz="1200" dirty="0" smtClean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23.06.2025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dirty="0" err="1" smtClean="0">
                          <a:latin typeface="+mn-lt"/>
                        </a:rPr>
                        <a:t>Rohit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358745"/>
                  </a:ext>
                </a:extLst>
              </a:tr>
              <a:tr h="595606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dirty="0" smtClean="0">
                          <a:latin typeface="+mn-lt"/>
                        </a:rPr>
                        <a:t>Control Plan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b="0" dirty="0" smtClean="0">
                          <a:latin typeface="+mn-lt"/>
                        </a:rPr>
                        <a:t>Control plan to be update for Flatness Not Ok by 0.039 mm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23.06.2025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23.06.2025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dirty="0" smtClean="0">
                          <a:latin typeface="+mn-lt"/>
                        </a:rPr>
                        <a:t>Naveen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415610"/>
                  </a:ext>
                </a:extLst>
              </a:tr>
              <a:tr h="595606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b="0" dirty="0" smtClean="0">
                          <a:latin typeface="+mn-lt"/>
                        </a:rPr>
                        <a:t>FMEA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b="0" dirty="0" smtClean="0">
                          <a:latin typeface="+mn-lt"/>
                        </a:rPr>
                        <a:t>FMEA to be update for Flatness Not Ok by 0.039 mm</a:t>
                      </a:r>
                      <a:endParaRPr lang="en-US" sz="1200" b="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23.06.2025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23.06.2025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sz="1200" dirty="0" smtClean="0">
                          <a:latin typeface="+mn-lt"/>
                        </a:rPr>
                        <a:t>Naveen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819819"/>
                  </a:ext>
                </a:extLst>
              </a:tr>
            </a:tbl>
          </a:graphicData>
        </a:graphic>
      </p:graphicFrame>
      <p:sp>
        <p:nvSpPr>
          <p:cNvPr id="16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PU2023-19-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0579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315" y="1698410"/>
            <a:ext cx="5755619" cy="4109987"/>
          </a:xfrm>
          <a:prstGeom prst="rect">
            <a:avLst/>
          </a:prstGeom>
        </p:spPr>
      </p:pic>
      <p:sp>
        <p:nvSpPr>
          <p:cNvPr id="43010" name="Text Box 62">
            <a:extLst>
              <a:ext uri="{FF2B5EF4-FFF2-40B4-BE49-F238E27FC236}">
                <a16:creationId xmlns:a16="http://schemas.microsoft.com/office/drawing/2014/main" id="{EB42F05B-CD2F-439E-8EEE-EBC6F0AC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68" y="435551"/>
            <a:ext cx="60579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Action list- </a:t>
            </a:r>
            <a:r>
              <a:rPr lang="en-US" altLang="en-US" sz="2600" dirty="0" err="1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Richo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Supplier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483" y="614956"/>
            <a:ext cx="1519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1403923"/>
              </p:ext>
            </p:extLst>
          </p:nvPr>
        </p:nvGraphicFramePr>
        <p:xfrm>
          <a:off x="281690" y="928991"/>
          <a:ext cx="11718966" cy="55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9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Item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Description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Action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Deadline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Finished Date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Responsible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Status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8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CP &amp; </a:t>
                      </a:r>
                      <a:r>
                        <a:rPr lang="en-US" sz="1200" dirty="0" err="1" smtClean="0">
                          <a:solidFill>
                            <a:schemeClr val="tx1"/>
                          </a:solidFill>
                        </a:rPr>
                        <a:t>CPk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 Dist. 43.47 – 0.05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be maintain by supplier as per standard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31.08.2025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18.09.2025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 err="1" smtClean="0">
                          <a:solidFill>
                            <a:schemeClr val="tx1"/>
                          </a:solidFill>
                        </a:rPr>
                        <a:t>Vaibhav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aseline="0" dirty="0" err="1" smtClean="0">
                          <a:solidFill>
                            <a:schemeClr val="tx1"/>
                          </a:solidFill>
                        </a:rPr>
                        <a:t>Jogade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&amp; Rico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Completed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605254"/>
                  </a:ext>
                </a:extLst>
              </a:tr>
            </a:tbl>
          </a:graphicData>
        </a:graphic>
      </p:graphicFrame>
      <p:sp>
        <p:nvSpPr>
          <p:cNvPr id="16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PU2023-19-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491" y="5989665"/>
            <a:ext cx="3946319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Quarterly basis CP &amp; CPK demanded from supplier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14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2">
            <a:extLst>
              <a:ext uri="{FF2B5EF4-FFF2-40B4-BE49-F238E27FC236}">
                <a16:creationId xmlns:a16="http://schemas.microsoft.com/office/drawing/2014/main" id="{EB42F05B-CD2F-439E-8EEE-EBC6F0AC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68" y="435551"/>
            <a:ext cx="60579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Action list- </a:t>
            </a:r>
            <a:r>
              <a:rPr lang="en-US" altLang="en-US" sz="2600" dirty="0" err="1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Richo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Supplier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483" y="614956"/>
            <a:ext cx="1519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966589"/>
              </p:ext>
            </p:extLst>
          </p:nvPr>
        </p:nvGraphicFramePr>
        <p:xfrm>
          <a:off x="78903" y="967377"/>
          <a:ext cx="11993760" cy="73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81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9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Item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Description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Action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Deadline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Finished Date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Responsible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Status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Drawing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 specification for 10mm position 10mm (slot)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To be revisit and releasing of new drawing-ECN</a:t>
                      </a:r>
                    </a:p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MOM done for immediate start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31.12.2025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31.01.2026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Ram </a:t>
                      </a:r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</a:rPr>
                        <a:t>Shewale</a:t>
                      </a:r>
                      <a:endParaRPr 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WIP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447939"/>
                  </a:ext>
                </a:extLst>
              </a:tr>
            </a:tbl>
          </a:graphicData>
        </a:graphic>
      </p:graphicFrame>
      <p:sp>
        <p:nvSpPr>
          <p:cNvPr id="16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PU2023-19-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591" y="5916335"/>
            <a:ext cx="3833018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AFTER PHOTO- 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Drawing </a:t>
            </a:r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specification</a:t>
            </a:r>
          </a:p>
          <a:p>
            <a:r>
              <a:rPr lang="en-US" altLang="en-US" dirty="0" smtClean="0">
                <a:solidFill>
                  <a:srgbClr val="FF0000"/>
                </a:solidFill>
                <a:latin typeface="+mj-lt"/>
              </a:rPr>
              <a:t>ECN to be done &amp; new drawing to be release after change</a:t>
            </a:r>
            <a:endParaRPr lang="en-US" alt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5916336"/>
            <a:ext cx="3833018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BEFORE PHOTO- Drawing specification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66" y="2011046"/>
            <a:ext cx="5620534" cy="35533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072" y="1844823"/>
            <a:ext cx="5112568" cy="384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2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2">
            <a:extLst>
              <a:ext uri="{FF2B5EF4-FFF2-40B4-BE49-F238E27FC236}">
                <a16:creationId xmlns:a16="http://schemas.microsoft.com/office/drawing/2014/main" id="{EB42F05B-CD2F-439E-8EEE-EBC6F0AC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68" y="435551"/>
            <a:ext cx="60579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Action list- </a:t>
            </a:r>
            <a:r>
              <a:rPr lang="en-US" altLang="en-US" sz="2600" dirty="0" err="1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Richo</a:t>
            </a:r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Supplier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483" y="614956"/>
            <a:ext cx="1519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9133265"/>
              </p:ext>
            </p:extLst>
          </p:nvPr>
        </p:nvGraphicFramePr>
        <p:xfrm>
          <a:off x="78903" y="967377"/>
          <a:ext cx="11993760" cy="73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81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9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Item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Description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Action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Deadline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Finished Date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Responsible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Status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8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Drawing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</a:rPr>
                        <a:t> specification for 10mm position 10mm (slot)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MOM done for immediate start 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31.12.2025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18.09.2025</a:t>
                      </a: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</a:rPr>
                        <a:t>Vaibhav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</a:rPr>
                        <a:t>Jogade</a:t>
                      </a:r>
                      <a:endParaRPr 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447939"/>
                  </a:ext>
                </a:extLst>
              </a:tr>
            </a:tbl>
          </a:graphicData>
        </a:graphic>
      </p:graphicFrame>
      <p:sp>
        <p:nvSpPr>
          <p:cNvPr id="16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PU2023-19-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7483" y="6064915"/>
            <a:ext cx="3833018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chemeClr val="tx1"/>
                </a:solidFill>
                <a:latin typeface="+mj-lt"/>
              </a:rPr>
              <a:t>AFTER PHOTO-MOM with Rico supplier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1767694"/>
            <a:ext cx="5859373" cy="415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2">
            <a:extLst>
              <a:ext uri="{FF2B5EF4-FFF2-40B4-BE49-F238E27FC236}">
                <a16:creationId xmlns:a16="http://schemas.microsoft.com/office/drawing/2014/main" id="{EB42F05B-CD2F-439E-8EEE-EBC6F0AC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68" y="435551"/>
            <a:ext cx="60579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 smtClean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Action list- Rico Supplier</a:t>
            </a:r>
            <a:endParaRPr lang="en-US" altLang="en-US" sz="26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8483" y="614956"/>
            <a:ext cx="1519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sz="1200" dirty="0" smtClean="0">
                <a:latin typeface="+mj-lt"/>
                <a:cs typeface="Times New Roman" pitchFamily="18" charset="0"/>
              </a:rPr>
              <a:t>MPROVE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5469615"/>
              </p:ext>
            </p:extLst>
          </p:nvPr>
        </p:nvGraphicFramePr>
        <p:xfrm>
          <a:off x="281690" y="928991"/>
          <a:ext cx="11718966" cy="56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9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Item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Description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Action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Deadline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Finished Date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Responsible</a:t>
                      </a:r>
                      <a:r>
                        <a:rPr lang="en-US" sz="1200" baseline="0" dirty="0" smtClean="0"/>
                        <a:t>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Status </a:t>
                      </a:r>
                      <a:endParaRPr lang="en-US" sz="1200" dirty="0"/>
                    </a:p>
                  </a:txBody>
                  <a:tcPr marL="91431" marR="91431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Time series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for </a:t>
                      </a:r>
                      <a:r>
                        <a:rPr lang="en-US" sz="1200" baseline="0" dirty="0" err="1" smtClean="0">
                          <a:solidFill>
                            <a:schemeClr val="tx1"/>
                          </a:solidFill>
                        </a:rPr>
                        <a:t>Mone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[Y]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</a:rPr>
                        <a:t> be plot and attach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30.09.2025</a:t>
                      </a: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30.09.2025</a:t>
                      </a: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Ganesh Hole</a:t>
                      </a: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Completed</a:t>
                      </a:r>
                    </a:p>
                  </a:txBody>
                  <a:tcPr marL="91431" marR="91431" marT="45716" marB="45716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29243"/>
                  </a:ext>
                </a:extLst>
              </a:tr>
            </a:tbl>
          </a:graphicData>
        </a:graphic>
      </p:graphicFrame>
      <p:sp>
        <p:nvSpPr>
          <p:cNvPr id="16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PU2023-19-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2060848"/>
            <a:ext cx="5626299" cy="36489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18" y="2060849"/>
            <a:ext cx="5598499" cy="3648964"/>
          </a:xfrm>
          <a:prstGeom prst="rect">
            <a:avLst/>
          </a:prstGeom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393" y="5877271"/>
            <a:ext cx="971943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>
                <a:solidFill>
                  <a:schemeClr val="tx1"/>
                </a:solidFill>
                <a:latin typeface="+mj-lt"/>
              </a:rPr>
              <a:t>BEFORE</a:t>
            </a:r>
            <a:endParaRPr lang="en-US" altLang="en-US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5D799B37-E861-4A3D-A8E6-10128F4D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8473" y="5877272"/>
            <a:ext cx="971943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>
                <a:solidFill>
                  <a:schemeClr val="tx1"/>
                </a:solidFill>
                <a:latin typeface="+mj-lt"/>
              </a:rPr>
              <a:t>AFTER</a:t>
            </a:r>
            <a:endParaRPr lang="en-US" altLang="en-US" sz="1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697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>
          <a:xfrm>
            <a:off x="442800" y="597600"/>
            <a:ext cx="1130501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de-DE" smtClean="0"/>
              <a:pPr/>
              <a:t>31</a:t>
            </a:fld>
            <a:endParaRPr lang="de-DE" dirty="0"/>
          </a:p>
        </p:txBody>
      </p:sp>
      <p:grpSp>
        <p:nvGrpSpPr>
          <p:cNvPr id="19" name="Gruppieren 18"/>
          <p:cNvGrpSpPr/>
          <p:nvPr/>
        </p:nvGrpSpPr>
        <p:grpSpPr>
          <a:xfrm>
            <a:off x="8711528" y="2986174"/>
            <a:ext cx="3320278" cy="3981035"/>
            <a:chOff x="8714192" y="2986174"/>
            <a:chExt cx="3320278" cy="3981035"/>
          </a:xfrm>
        </p:grpSpPr>
        <p:grpSp>
          <p:nvGrpSpPr>
            <p:cNvPr id="25" name="Gruppieren 24"/>
            <p:cNvGrpSpPr/>
            <p:nvPr/>
          </p:nvGrpSpPr>
          <p:grpSpPr>
            <a:xfrm>
              <a:off x="9403016" y="2986174"/>
              <a:ext cx="2631454" cy="2140456"/>
              <a:chOff x="304094" y="0"/>
              <a:chExt cx="4526280" cy="3681730"/>
            </a:xfrm>
          </p:grpSpPr>
          <p:pic>
            <p:nvPicPr>
              <p:cNvPr id="26" name="Grafik 2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4" y="0"/>
                <a:ext cx="4526280" cy="3681730"/>
              </a:xfrm>
              <a:prstGeom prst="rect">
                <a:avLst/>
              </a:prstGeom>
            </p:spPr>
          </p:pic>
          <p:sp>
            <p:nvSpPr>
              <p:cNvPr id="27" name="Rechteck 26"/>
              <p:cNvSpPr/>
              <p:nvPr/>
            </p:nvSpPr>
            <p:spPr>
              <a:xfrm>
                <a:off x="356520" y="147711"/>
                <a:ext cx="3170321" cy="950496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GB" sz="500" b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Mone(Y) = Mass Flow [kg/s]</a:t>
                </a:r>
                <a:endParaRPr lang="en-US" sz="50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Textfeld 20"/>
            <p:cNvSpPr txBox="1"/>
            <p:nvPr/>
          </p:nvSpPr>
          <p:spPr>
            <a:xfrm>
              <a:off x="9469795" y="5064577"/>
              <a:ext cx="47075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de-DE" sz="700" smtClean="0">
                  <a:solidFill>
                    <a:schemeClr val="bg2"/>
                  </a:solidFill>
                  <a:latin typeface="Century Gothic" panose="020B0502020202020204" pitchFamily="34" charset="0"/>
                </a:rPr>
                <a:t>BIG X</a:t>
              </a:r>
              <a:endParaRPr lang="en-US" sz="700" dirty="0" smtClean="0">
                <a:solidFill>
                  <a:schemeClr val="bg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2" name="TextBox 7"/>
            <p:cNvSpPr txBox="1"/>
            <p:nvPr/>
          </p:nvSpPr>
          <p:spPr>
            <a:xfrm>
              <a:off x="8714192" y="5313081"/>
              <a:ext cx="31190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en-US" sz="1800" b="0" dirty="0" smtClean="0">
                  <a:solidFill>
                    <a:schemeClr val="tx1">
                      <a:lumMod val="10000"/>
                    </a:schemeClr>
                  </a:solidFill>
                </a:rPr>
                <a:t>            </a:t>
              </a:r>
              <a:r>
                <a:rPr lang="en-US" sz="1800" dirty="0" smtClean="0">
                  <a:solidFill>
                    <a:schemeClr val="tx1">
                      <a:lumMod val="10000"/>
                    </a:schemeClr>
                  </a:solidFill>
                </a:rPr>
                <a:t>Elimination Strategy</a:t>
              </a:r>
            </a:p>
            <a:p>
              <a:pPr>
                <a:buClr>
                  <a:schemeClr val="accent3"/>
                </a:buClr>
              </a:pP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  <a:p>
              <a:pPr>
                <a:buClr>
                  <a:schemeClr val="accent3"/>
                </a:buClr>
              </a:pPr>
              <a:r>
                <a:rPr lang="en-US" sz="1800" b="0" smtClean="0">
                  <a:solidFill>
                    <a:schemeClr val="tx1">
                      <a:lumMod val="10000"/>
                    </a:schemeClr>
                  </a:solidFill>
                </a:rPr>
                <a:t> </a:t>
              </a:r>
              <a:endParaRPr lang="en-US" sz="1800" b="0" dirty="0" smtClean="0">
                <a:solidFill>
                  <a:schemeClr val="tx1">
                    <a:lumMod val="10000"/>
                  </a:schemeClr>
                </a:solidFill>
              </a:endParaRPr>
            </a:p>
          </p:txBody>
        </p:sp>
        <p:pic>
          <p:nvPicPr>
            <p:cNvPr id="23" name="Grafik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32120" y="5433917"/>
              <a:ext cx="2173010" cy="1533292"/>
            </a:xfrm>
            <a:prstGeom prst="rect">
              <a:avLst/>
            </a:prstGeom>
          </p:spPr>
        </p:pic>
      </p:grpSp>
      <p:cxnSp>
        <p:nvCxnSpPr>
          <p:cNvPr id="28" name="Straight Connector 40"/>
          <p:cNvCxnSpPr/>
          <p:nvPr/>
        </p:nvCxnSpPr>
        <p:spPr>
          <a:xfrm>
            <a:off x="9082800" y="1214359"/>
            <a:ext cx="0" cy="5094961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401237" y="1357662"/>
            <a:ext cx="9054479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50000"/>
              </a:spcBef>
              <a:buSzPct val="90000"/>
              <a:defRPr sz="16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50000"/>
              </a:spcBef>
              <a:buSzPct val="75000"/>
              <a:defRPr sz="16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rgbClr val="6A6B6D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B6F"/>
              </a:buClr>
              <a:buFont typeface="Wingdings" pitchFamily="2" charset="2"/>
              <a:buChar char="n"/>
              <a:defRPr sz="1600">
                <a:solidFill>
                  <a:srgbClr val="6A6B6D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r>
              <a:rPr lang="en-US" altLang="de-DE" sz="2000" dirty="0" smtClean="0">
                <a:solidFill>
                  <a:schemeClr val="tx1"/>
                </a:solidFill>
                <a:latin typeface="+mn-lt"/>
              </a:rPr>
              <a:t>Possible required tools like: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smtClean="0">
                <a:solidFill>
                  <a:schemeClr val="tx1"/>
                </a:solidFill>
                <a:latin typeface="+mn-lt"/>
              </a:rPr>
              <a:t>Run Chart </a:t>
            </a:r>
            <a:r>
              <a:rPr lang="de-DE" altLang="de-DE" sz="2000" dirty="0" smtClean="0">
                <a:solidFill>
                  <a:schemeClr val="tx1"/>
                </a:solidFill>
                <a:latin typeface="+mn-lt"/>
              </a:rPr>
              <a:t>------------------------ </a:t>
            </a:r>
            <a:endParaRPr lang="de-DE" altLang="de-DE" sz="2000" dirty="0" smtClean="0">
              <a:solidFill>
                <a:schemeClr val="tx1"/>
              </a:solidFill>
              <a:latin typeface="+mn-lt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P Chart</a:t>
            </a:r>
            <a:r>
              <a:rPr lang="de-DE" altLang="de-DE" sz="2000" dirty="0">
                <a:solidFill>
                  <a:schemeClr val="tx1"/>
                </a:solidFill>
              </a:rPr>
              <a:t> </a:t>
            </a:r>
            <a:r>
              <a:rPr lang="de-DE" altLang="de-DE" sz="2000" dirty="0" smtClean="0">
                <a:solidFill>
                  <a:schemeClr val="tx1"/>
                </a:solidFill>
                <a:latin typeface="+mn-lt"/>
              </a:rPr>
              <a:t>---------------------------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de-DE" altLang="de-DE" sz="2000" b="0" dirty="0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Time </a:t>
            </a:r>
            <a:r>
              <a:rPr lang="de-DE" altLang="de-DE" sz="2000" b="0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S</a:t>
            </a:r>
            <a:r>
              <a:rPr lang="de-DE" altLang="de-DE" sz="2000" b="0" dirty="0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eries </a:t>
            </a:r>
            <a:r>
              <a:rPr lang="de-DE" altLang="de-DE" sz="2000" b="0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P</a:t>
            </a:r>
            <a:r>
              <a:rPr lang="de-DE" altLang="de-DE" sz="2000" b="0" dirty="0" smtClean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lot</a:t>
            </a:r>
            <a:r>
              <a:rPr lang="de-DE" altLang="de-DE" sz="2000" dirty="0" smtClean="0">
                <a:solidFill>
                  <a:schemeClr val="tx1"/>
                </a:solidFill>
                <a:latin typeface="+mn-lt"/>
              </a:rPr>
              <a:t> ---------------</a:t>
            </a:r>
            <a:endParaRPr lang="de-DE" altLang="de-DE" sz="2000" dirty="0">
              <a:solidFill>
                <a:schemeClr val="tx1"/>
              </a:solidFill>
              <a:latin typeface="+mn-lt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</a:pPr>
            <a:endParaRPr lang="de-DE" altLang="de-DE" sz="2000" b="0" dirty="0" smtClean="0">
              <a:solidFill>
                <a:schemeClr val="tx1"/>
              </a:solidFill>
              <a:latin typeface="+mn-lt"/>
              <a:sym typeface="Wingdings" panose="05000000000000000000" pitchFamily="2" charset="2"/>
            </a:endParaRPr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285" y="1181454"/>
            <a:ext cx="1696059" cy="1696059"/>
          </a:xfrm>
          <a:prstGeom prst="rect">
            <a:avLst/>
          </a:prstGeom>
        </p:spPr>
      </p:pic>
      <p:sp>
        <p:nvSpPr>
          <p:cNvPr id="17" name="Titel 1"/>
          <p:cNvSpPr txBox="1">
            <a:spLocks/>
          </p:cNvSpPr>
          <p:nvPr/>
        </p:nvSpPr>
        <p:spPr>
          <a:xfrm>
            <a:off x="2905314" y="207983"/>
            <a:ext cx="3334701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471" y="733618"/>
            <a:ext cx="1453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DMAI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latin typeface="+mj-lt"/>
                <a:cs typeface="Times New Roman" pitchFamily="18" charset="0"/>
              </a:rPr>
              <a:t>ONTROL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907709" y="1662328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863752" y="2276872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3" b="89958" l="52564" r="948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868"/>
          <a:stretch/>
        </p:blipFill>
        <p:spPr bwMode="auto">
          <a:xfrm>
            <a:off x="3867930" y="2877513"/>
            <a:ext cx="571886" cy="7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2062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01" y="2749256"/>
            <a:ext cx="5495925" cy="3667125"/>
          </a:xfrm>
          <a:prstGeom prst="rect">
            <a:avLst/>
          </a:prstGeom>
        </p:spPr>
      </p:pic>
      <p:sp>
        <p:nvSpPr>
          <p:cNvPr id="47106" name="Text Box 62">
            <a:extLst>
              <a:ext uri="{FF2B5EF4-FFF2-40B4-BE49-F238E27FC236}">
                <a16:creationId xmlns:a16="http://schemas.microsoft.com/office/drawing/2014/main" id="{CF96190B-8D9E-48C2-BFF8-201DFF24A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33" y="518448"/>
            <a:ext cx="40102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6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Apply Corrective Actions</a:t>
            </a:r>
          </a:p>
        </p:txBody>
      </p:sp>
      <p:sp>
        <p:nvSpPr>
          <p:cNvPr id="47107" name="Text Box 30">
            <a:extLst>
              <a:ext uri="{FF2B5EF4-FFF2-40B4-BE49-F238E27FC236}">
                <a16:creationId xmlns:a16="http://schemas.microsoft.com/office/drawing/2014/main" id="{96BAEDE2-AFC6-4D55-B40C-C7DF1FB02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29" y="1052016"/>
            <a:ext cx="1196497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dirty="0" smtClean="0">
                <a:solidFill>
                  <a:srgbClr val="000000"/>
                </a:solidFill>
                <a:latin typeface="+mj-lt"/>
              </a:rPr>
              <a:t>Corrective action(s) identified: </a:t>
            </a:r>
            <a:r>
              <a:rPr lang="en-US" altLang="en-US" b="0" dirty="0" smtClean="0">
                <a:solidFill>
                  <a:schemeClr val="tx1"/>
                </a:solidFill>
                <a:latin typeface="+mj-lt"/>
              </a:rPr>
              <a:t>Housing &amp; Cover dimensions maintain with specification</a:t>
            </a:r>
            <a:r>
              <a:rPr lang="en-US" b="0" dirty="0" smtClean="0">
                <a:solidFill>
                  <a:schemeClr val="tx1"/>
                </a:solidFill>
                <a:latin typeface="+mj-lt"/>
              </a:rPr>
              <a:t> </a:t>
            </a:r>
            <a:endParaRPr lang="en-US" b="0" dirty="0">
              <a:solidFill>
                <a:schemeClr val="tx1"/>
              </a:solidFill>
              <a:latin typeface="+mj-lt"/>
            </a:endParaRPr>
          </a:p>
          <a:p>
            <a:endParaRPr lang="en-US" altLang="en-US" dirty="0">
              <a:solidFill>
                <a:srgbClr val="000000"/>
              </a:solidFill>
              <a:latin typeface="+mj-lt"/>
            </a:endParaRPr>
          </a:p>
          <a:p>
            <a:pPr>
              <a:buClr>
                <a:schemeClr val="accent3"/>
              </a:buClr>
            </a:pPr>
            <a:r>
              <a:rPr lang="en-US" altLang="en-US" dirty="0">
                <a:solidFill>
                  <a:srgbClr val="000000"/>
                </a:solidFill>
                <a:latin typeface="+mj-lt"/>
              </a:rPr>
              <a:t>Effectiveness verified</a:t>
            </a:r>
            <a:r>
              <a:rPr lang="en-US" altLang="en-US" dirty="0" smtClean="0">
                <a:solidFill>
                  <a:srgbClr val="000000"/>
                </a:solidFill>
                <a:latin typeface="+mj-lt"/>
              </a:rPr>
              <a:t>: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Yes, </a:t>
            </a:r>
            <a:r>
              <a:rPr lang="de-DE" altLang="en-US" b="0" dirty="0" smtClean="0">
                <a:solidFill>
                  <a:schemeClr val="tx1">
                    <a:lumMod val="10000"/>
                  </a:schemeClr>
                </a:solidFill>
                <a:latin typeface="+mj-lt"/>
              </a:rPr>
              <a:t>Improvement </a:t>
            </a:r>
            <a:r>
              <a:rPr lang="de-DE" altLang="en-US" b="0" dirty="0">
                <a:solidFill>
                  <a:srgbClr val="0082C8"/>
                </a:solidFill>
                <a:latin typeface="+mj-lt"/>
              </a:rPr>
              <a:t>in </a:t>
            </a:r>
            <a:r>
              <a:rPr lang="de-DE" altLang="en-US" b="0" dirty="0" err="1">
                <a:solidFill>
                  <a:srgbClr val="0082C8"/>
                </a:solidFill>
                <a:latin typeface="+mj-lt"/>
              </a:rPr>
              <a:t>Mone</a:t>
            </a:r>
            <a:r>
              <a:rPr lang="de-DE" altLang="en-US" b="0" dirty="0">
                <a:solidFill>
                  <a:srgbClr val="0082C8"/>
                </a:solidFill>
                <a:latin typeface="+mj-lt"/>
              </a:rPr>
              <a:t> [</a:t>
            </a:r>
            <a:r>
              <a:rPr lang="de-DE" altLang="en-US" b="0" dirty="0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Y] </a:t>
            </a:r>
            <a:r>
              <a:rPr lang="de-DE" altLang="en-US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housing center distance 43.47 mm </a:t>
            </a:r>
            <a:r>
              <a:rPr lang="de-DE" altLang="en-US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is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within specification and </a:t>
            </a:r>
            <a:r>
              <a:rPr lang="de-DE" altLang="en-US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it </a:t>
            </a:r>
            <a:r>
              <a:rPr lang="de-DE" altLang="en-US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is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undersize </a:t>
            </a:r>
            <a:r>
              <a:rPr lang="de-DE" altLang="en-US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then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b="0" dirty="0" err="1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Mone</a:t>
            </a:r>
            <a:r>
              <a:rPr lang="de-DE" altLang="en-US" b="0" dirty="0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b="0" dirty="0">
                <a:solidFill>
                  <a:srgbClr val="0082C8"/>
                </a:solidFill>
                <a:latin typeface="+mj-lt"/>
              </a:rPr>
              <a:t>[</a:t>
            </a:r>
            <a:r>
              <a:rPr lang="de-DE" altLang="en-US" b="0" dirty="0">
                <a:solidFill>
                  <a:srgbClr val="0082C8"/>
                </a:solidFill>
                <a:latin typeface="+mj-lt"/>
                <a:cs typeface="Arial" panose="020B0604020202020204" pitchFamily="34" charset="0"/>
              </a:rPr>
              <a:t>Y]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gets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out </a:t>
            </a:r>
            <a:r>
              <a:rPr lang="de-DE" altLang="en-US" b="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of</a:t>
            </a:r>
            <a:r>
              <a:rPr lang="de-DE" altLang="en-US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e-DE" altLang="en-US" b="0" dirty="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specification at higher zone</a:t>
            </a:r>
            <a:endParaRPr lang="en-US" b="0" dirty="0">
              <a:solidFill>
                <a:schemeClr val="tx1"/>
              </a:solidFill>
              <a:latin typeface="+mj-lt"/>
            </a:endParaRPr>
          </a:p>
          <a:p>
            <a:endParaRPr lang="en-US" altLang="en-US" dirty="0">
              <a:solidFill>
                <a:srgbClr val="000000"/>
              </a:solidFill>
              <a:latin typeface="+mj-lt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+mj-lt"/>
              </a:rPr>
              <a:t>Corrective </a:t>
            </a:r>
            <a:r>
              <a:rPr lang="en-US" altLang="en-US" dirty="0" smtClean="0">
                <a:solidFill>
                  <a:srgbClr val="000000"/>
                </a:solidFill>
                <a:latin typeface="+mj-lt"/>
              </a:rPr>
              <a:t>action(s) procedurealized: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Incoming inspection plan, Control plan, PFMEA is going to update</a:t>
            </a:r>
          </a:p>
          <a:p>
            <a:endParaRPr lang="en-US" altLang="en-US" b="0" dirty="0" smtClean="0">
              <a:solidFill>
                <a:srgbClr val="000000"/>
              </a:solidFill>
              <a:latin typeface="+mj-lt"/>
            </a:endParaRPr>
          </a:p>
          <a:p>
            <a:r>
              <a:rPr lang="en-US" altLang="en-US" dirty="0" smtClean="0">
                <a:solidFill>
                  <a:srgbClr val="000000"/>
                </a:solidFill>
                <a:latin typeface="+mj-lt"/>
              </a:rPr>
              <a:t>Project duration: 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10 Feb 2025 – 31 Dec 2025</a:t>
            </a:r>
          </a:p>
          <a:p>
            <a:endParaRPr lang="en-US" altLang="en-US" dirty="0" smtClean="0">
              <a:solidFill>
                <a:srgbClr val="000000"/>
              </a:solidFill>
              <a:latin typeface="+mj-lt"/>
            </a:endParaRPr>
          </a:p>
          <a:p>
            <a:r>
              <a:rPr lang="en-US" altLang="en-US" dirty="0" smtClean="0">
                <a:solidFill>
                  <a:srgbClr val="000000"/>
                </a:solidFill>
                <a:latin typeface="+mj-lt"/>
              </a:rPr>
              <a:t>Cost savings / Impact: </a:t>
            </a:r>
            <a:r>
              <a:rPr lang="en-US" altLang="en-US" b="0" dirty="0" smtClean="0">
                <a:solidFill>
                  <a:srgbClr val="000000"/>
                </a:solidFill>
                <a:latin typeface="+mj-lt"/>
              </a:rPr>
              <a:t>1576.06 Euro </a:t>
            </a:r>
            <a:endParaRPr lang="en-US" altLang="en-US" b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9088" y="524619"/>
            <a:ext cx="14473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latin typeface="+mj-lt"/>
                <a:cs typeface="Times New Roman" pitchFamily="18" charset="0"/>
              </a:rPr>
              <a:t>DMAI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C </a:t>
            </a:r>
            <a:r>
              <a:rPr lang="en-US" sz="1200" dirty="0" smtClean="0">
                <a:latin typeface="+mj-lt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C</a:t>
            </a:r>
            <a:r>
              <a:rPr lang="en-US" sz="1200" dirty="0" smtClean="0">
                <a:latin typeface="+mj-lt"/>
                <a:cs typeface="Times New Roman" pitchFamily="18" charset="0"/>
              </a:rPr>
              <a:t>ONTROL</a:t>
            </a:r>
            <a:endParaRPr lang="en-US" sz="1200" b="0" dirty="0">
              <a:latin typeface="+mj-lt"/>
              <a:cs typeface="Times New Roman" pitchFamily="18" charset="0"/>
            </a:endParaRPr>
          </a:p>
        </p:txBody>
      </p:sp>
      <p:sp>
        <p:nvSpPr>
          <p:cNvPr id="12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697" y="2806342"/>
            <a:ext cx="5744975" cy="3552954"/>
          </a:xfrm>
          <a:prstGeom prst="rect">
            <a:avLst/>
          </a:prstGeom>
        </p:spPr>
      </p:pic>
      <p:sp>
        <p:nvSpPr>
          <p:cNvPr id="4" name="Rectangular Callout 3"/>
          <p:cNvSpPr/>
          <p:nvPr/>
        </p:nvSpPr>
        <p:spPr>
          <a:xfrm>
            <a:off x="3935760" y="2163861"/>
            <a:ext cx="1333325" cy="583276"/>
          </a:xfrm>
          <a:prstGeom prst="wedgeRectCallout">
            <a:avLst>
              <a:gd name="adj1" fmla="val -52088"/>
              <a:gd name="adj2" fmla="val 249415"/>
            </a:avLst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0" dirty="0" smtClean="0">
                <a:solidFill>
                  <a:srgbClr val="FF0000"/>
                </a:solidFill>
              </a:rPr>
              <a:t>Housing distance 43.70 undersize by 0.023mm</a:t>
            </a:r>
            <a:endParaRPr lang="en-US" sz="1100" b="0" dirty="0">
              <a:solidFill>
                <a:srgbClr val="FF0000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5350827" y="2163861"/>
            <a:ext cx="1420998" cy="583276"/>
          </a:xfrm>
          <a:prstGeom prst="wedgeRectCallout">
            <a:avLst>
              <a:gd name="adj1" fmla="val -96335"/>
              <a:gd name="adj2" fmla="val 244591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0" dirty="0" smtClean="0">
                <a:solidFill>
                  <a:srgbClr val="FF0000"/>
                </a:solidFill>
              </a:rPr>
              <a:t>Housing dia. 10mm [slot] position </a:t>
            </a:r>
            <a:r>
              <a:rPr lang="en-US" sz="1100" b="0" dirty="0" err="1" smtClean="0">
                <a:solidFill>
                  <a:srgbClr val="FF0000"/>
                </a:solidFill>
              </a:rPr>
              <a:t>nok</a:t>
            </a:r>
            <a:r>
              <a:rPr lang="en-US" sz="1100" b="0" dirty="0" smtClean="0">
                <a:solidFill>
                  <a:srgbClr val="FF0000"/>
                </a:solidFill>
              </a:rPr>
              <a:t> by 0.013mm</a:t>
            </a:r>
            <a:endParaRPr lang="en-US" sz="11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64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25356" y="1184276"/>
            <a:ext cx="2223407" cy="109030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5137" y="2330877"/>
            <a:ext cx="1237912" cy="825733"/>
          </a:xfrm>
          <a:prstGeom prst="rect">
            <a:avLst/>
          </a:prstGeom>
        </p:spPr>
      </p:pic>
      <p:sp>
        <p:nvSpPr>
          <p:cNvPr id="12290" name="Rectangle 24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28631" y="284163"/>
            <a:ext cx="23232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>
              <a:spcBef>
                <a:spcPct val="0"/>
              </a:spcBef>
              <a:buClr>
                <a:srgbClr val="003366"/>
              </a:buClr>
              <a:buSzPct val="120000"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Project /WS </a:t>
            </a:r>
            <a:r>
              <a:rPr kumimoji="0" lang="en-US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Name: </a:t>
            </a:r>
            <a:r>
              <a:rPr lang="en-US" sz="900" b="0" dirty="0" smtClean="0"/>
              <a:t>PU2025-18-FTQ </a:t>
            </a:r>
            <a:r>
              <a:rPr lang="en-US" sz="900" b="0" dirty="0"/>
              <a:t>improvement for </a:t>
            </a:r>
            <a:r>
              <a:rPr lang="en-US" sz="900" b="0" dirty="0" smtClean="0"/>
              <a:t>BR10 VOP- </a:t>
            </a:r>
            <a:r>
              <a:rPr lang="en-US" sz="900" b="0" dirty="0"/>
              <a:t>RR1 test NOK</a:t>
            </a:r>
            <a:r>
              <a:rPr kumimoji="0" lang="en-US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 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2291" name="Rectangle 24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984875" y="269875"/>
            <a:ext cx="17938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2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Champion: </a:t>
            </a:r>
            <a:r>
              <a:rPr kumimoji="0" lang="en-US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Mr.</a:t>
            </a:r>
            <a:r>
              <a:rPr kumimoji="0" lang="en-US" altLang="en-US" sz="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Anil Kori</a:t>
            </a:r>
            <a:endParaRPr kumimoji="0" lang="en-US" altLang="en-US" sz="7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292" name="Rectangle 24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18257" y="284163"/>
            <a:ext cx="17922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2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Project Leader: </a:t>
            </a:r>
            <a:r>
              <a:rPr kumimoji="0" lang="en-US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Mr.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Ganesh Hole- 6003</a:t>
            </a:r>
            <a:endParaRPr kumimoji="0" lang="en-US" altLang="en-US" sz="8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293" name="Rectangle 24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570704" y="274695"/>
            <a:ext cx="1792287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2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Coach: </a:t>
            </a:r>
            <a:r>
              <a:rPr kumimoji="0" lang="en-US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Mr. </a:t>
            </a:r>
            <a:r>
              <a:rPr lang="en-US" altLang="en-US" sz="800" b="0" dirty="0" err="1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Anand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Mishra</a:t>
            </a:r>
            <a:endParaRPr kumimoji="0" lang="en-US" altLang="en-US" sz="8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295" name="Rectangle 24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586081" y="457934"/>
            <a:ext cx="18843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2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Last updated </a:t>
            </a:r>
            <a:r>
              <a:rPr kumimoji="0" lang="en-US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date: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18</a:t>
            </a:r>
            <a:r>
              <a:rPr lang="en-US" altLang="en-US" sz="800" b="0" noProof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.12.2025</a:t>
            </a:r>
            <a:endParaRPr kumimoji="0" lang="en-US" altLang="en-US" sz="8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296" name="Rectangle 24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28826" y="461035"/>
            <a:ext cx="1881188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2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Start </a:t>
            </a:r>
            <a:r>
              <a:rPr kumimoji="0" lang="en-US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Date: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10</a:t>
            </a:r>
            <a:r>
              <a:rPr kumimoji="0" lang="en-US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.02.2025</a:t>
            </a:r>
            <a:endParaRPr kumimoji="0" lang="en-US" altLang="en-US" sz="8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297" name="Rectangle 24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 flipV="1">
            <a:off x="229141" y="955674"/>
            <a:ext cx="2918872" cy="569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/>
          <a:p>
            <a:pPr marL="171450" lvl="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kumimoji="0" lang="en-US" altLang="en-US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Current </a:t>
            </a:r>
            <a:r>
              <a:rPr kumimoji="0" lang="en-US" altLang="en-US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situation:</a:t>
            </a:r>
            <a:r>
              <a:rPr lang="en-US" altLang="en-US" sz="800" b="0" dirty="0">
                <a:solidFill>
                  <a:srgbClr val="000000"/>
                </a:solidFill>
              </a:rPr>
              <a:t> </a:t>
            </a:r>
            <a:r>
              <a:rPr lang="en-US" altLang="en-US" sz="800" b="0" dirty="0" smtClean="0">
                <a:solidFill>
                  <a:srgbClr val="000000"/>
                </a:solidFill>
              </a:rPr>
              <a:t>BR10 VOP-RR1 </a:t>
            </a:r>
            <a:r>
              <a:rPr lang="en-US" altLang="en-US" sz="800" b="0" dirty="0">
                <a:solidFill>
                  <a:srgbClr val="000000"/>
                </a:solidFill>
              </a:rPr>
              <a:t>Test </a:t>
            </a:r>
            <a:r>
              <a:rPr lang="en-US" altLang="en-US" sz="800" b="0" dirty="0" smtClean="0">
                <a:solidFill>
                  <a:srgbClr val="000000"/>
                </a:solidFill>
              </a:rPr>
              <a:t>is getting </a:t>
            </a:r>
            <a:r>
              <a:rPr lang="en-US" altLang="en-US" sz="800" b="0" dirty="0" err="1" smtClean="0">
                <a:solidFill>
                  <a:srgbClr val="000000"/>
                </a:solidFill>
              </a:rPr>
              <a:t>nok</a:t>
            </a:r>
            <a:r>
              <a:rPr kumimoji="0" lang="en-US" altLang="en-US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 </a:t>
            </a:r>
            <a:r>
              <a:rPr lang="en-US" altLang="en-US" sz="800" b="0" noProof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&amp;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observed </a:t>
            </a:r>
            <a:r>
              <a:rPr kumimoji="0" lang="en-US" altLang="en-US" sz="800" b="0" i="0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OEE loss, FTQ loss</a:t>
            </a:r>
            <a:r>
              <a:rPr kumimoji="0" lang="en-US" altLang="en-US" sz="800" b="0" i="0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 </a:t>
            </a:r>
            <a:r>
              <a:rPr lang="en-US" altLang="en-US" sz="800" b="0" noProof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&amp;</a:t>
            </a:r>
            <a:r>
              <a:rPr kumimoji="0" lang="en-US" altLang="en-US" sz="800" b="0" i="0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 </a:t>
            </a:r>
            <a:r>
              <a:rPr kumimoji="0" lang="en-US" altLang="en-US" sz="800" b="0" i="0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resource losses like manpower,</a:t>
            </a:r>
            <a:r>
              <a:rPr kumimoji="0" lang="en-US" altLang="en-US" sz="800" b="0" i="0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 machines for re-produce it </a:t>
            </a:r>
            <a:r>
              <a:rPr lang="en-US" altLang="en-US" sz="8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&amp;</a:t>
            </a:r>
            <a:r>
              <a:rPr kumimoji="0" lang="en-US" altLang="en-US" sz="800" b="0" i="0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 </a:t>
            </a:r>
            <a:r>
              <a:rPr lang="en-US" altLang="en-US" sz="800" b="0" noProof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resulting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for no on time </a:t>
            </a:r>
            <a:r>
              <a:rPr lang="en-US" altLang="en-US" sz="8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delivery to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the customer.</a:t>
            </a:r>
            <a:endParaRPr lang="en-US" altLang="en-US" sz="800" b="0" dirty="0" smtClean="0">
              <a:solidFill>
                <a:srgbClr val="000000"/>
              </a:solidFill>
            </a:endParaRPr>
          </a:p>
        </p:txBody>
      </p:sp>
      <p:sp>
        <p:nvSpPr>
          <p:cNvPr id="12298" name="Rectangle 24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 flipV="1">
            <a:off x="6096000" y="1008063"/>
            <a:ext cx="26416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marL="171450" indent="-17145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0488" indent="-1714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319088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19088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2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00" name="Rectangle 24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 flipV="1">
            <a:off x="9023522" y="4264040"/>
            <a:ext cx="258603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marL="171450" indent="-17145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de-DE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Before x After including sustainability confirmation</a:t>
            </a:r>
            <a:endParaRPr kumimoji="0" lang="en-US" altLang="de-DE" sz="800" b="1" i="0" u="sng" strike="sng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01" name="Rectangle 24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0800000" flipV="1">
            <a:off x="244575" y="3633453"/>
            <a:ext cx="2761531" cy="1562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/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Project statement </a:t>
            </a:r>
            <a:r>
              <a:rPr kumimoji="0" lang="en-US" altLang="zh-CN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&amp;</a:t>
            </a:r>
            <a:r>
              <a:rPr kumimoji="0" lang="en-US" altLang="en-US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goal definition </a:t>
            </a:r>
            <a:r>
              <a:rPr kumimoji="0" lang="en-US" altLang="zh-CN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endParaRPr kumimoji="0" lang="en-US" altLang="zh-CN" sz="800" b="1" i="0" u="sng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17145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US" sz="800" b="0" dirty="0">
                <a:solidFill>
                  <a:schemeClr val="tx1"/>
                </a:solidFill>
              </a:rPr>
              <a:t>Find and control the big X for </a:t>
            </a:r>
            <a:r>
              <a:rPr lang="en-US" sz="800" b="0" dirty="0" smtClean="0">
                <a:solidFill>
                  <a:schemeClr val="tx1"/>
                </a:solidFill>
              </a:rPr>
              <a:t>BR10 VOP- Ring regulation1 </a:t>
            </a:r>
            <a:r>
              <a:rPr lang="en-US" sz="800" b="0" dirty="0">
                <a:solidFill>
                  <a:schemeClr val="tx1"/>
                </a:solidFill>
              </a:rPr>
              <a:t>test NOK Found at MF1-Line 1-End of line dry </a:t>
            </a:r>
            <a:r>
              <a:rPr lang="en-US" sz="800" b="0" dirty="0" smtClean="0">
                <a:solidFill>
                  <a:schemeClr val="tx1"/>
                </a:solidFill>
              </a:rPr>
              <a:t>test, station-85 </a:t>
            </a:r>
            <a:r>
              <a:rPr lang="en-US" sz="800" b="0" dirty="0">
                <a:solidFill>
                  <a:schemeClr val="tx1"/>
                </a:solidFill>
              </a:rPr>
              <a:t>to reduce the FTQ rejection </a:t>
            </a:r>
            <a:r>
              <a:rPr lang="en-US" sz="800" b="0" dirty="0" smtClean="0">
                <a:solidFill>
                  <a:schemeClr val="tx1"/>
                </a:solidFill>
              </a:rPr>
              <a:t>1.49%  </a:t>
            </a:r>
            <a:r>
              <a:rPr lang="en-US" sz="800" b="0" dirty="0">
                <a:solidFill>
                  <a:schemeClr val="tx1"/>
                </a:solidFill>
              </a:rPr>
              <a:t>and save </a:t>
            </a:r>
            <a:r>
              <a:rPr lang="en-US" sz="800" b="0" dirty="0" smtClean="0">
                <a:solidFill>
                  <a:schemeClr val="tx1"/>
                </a:solidFill>
              </a:rPr>
              <a:t>1500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€ estimated.</a:t>
            </a:r>
            <a:r>
              <a:rPr lang="en-US" sz="800" b="0" dirty="0" smtClean="0">
                <a:solidFill>
                  <a:schemeClr val="tx1"/>
                </a:solidFill>
              </a:rPr>
              <a:t> </a:t>
            </a:r>
            <a:endParaRPr kumimoji="0" lang="en-US" altLang="zh-CN" sz="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de-DE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Impacted</a:t>
            </a:r>
            <a:r>
              <a:rPr kumimoji="0" lang="cs-CZ" alt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 K</a:t>
            </a:r>
            <a:r>
              <a:rPr kumimoji="0" lang="en-US" alt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P</a:t>
            </a:r>
            <a:r>
              <a:rPr kumimoji="0" lang="cs-CZ" alt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I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：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FTQ</a:t>
            </a:r>
            <a:endParaRPr kumimoji="0" lang="cs-CZ" alt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Current state of KPI</a:t>
            </a:r>
            <a:r>
              <a:rPr kumimoji="0" lang="zh-CN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：</a:t>
            </a:r>
            <a:r>
              <a:rPr lang="en-US" altLang="zh-CN" sz="800" b="0" dirty="0" smtClean="0">
                <a:solidFill>
                  <a:srgbClr val="000000"/>
                </a:solidFill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1.49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kumimoji="0" lang="cs-CZ" altLang="de-DE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 </a:t>
            </a:r>
            <a:endParaRPr kumimoji="0" lang="en-US" altLang="de-DE" sz="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de-DE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Expected </a:t>
            </a:r>
            <a:r>
              <a:rPr kumimoji="0" lang="cs-CZ" alt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KPI </a:t>
            </a:r>
            <a:r>
              <a:rPr kumimoji="0" lang="en-US" alt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</a:t>
            </a:r>
            <a:r>
              <a: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arget</a:t>
            </a:r>
            <a:r>
              <a:rPr kumimoji="0" lang="cs-CZ" altLang="zh-CN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 or </a:t>
            </a:r>
            <a:r>
              <a:rPr kumimoji="0" lang="cs-CZ" altLang="zh-CN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project goals</a:t>
            </a:r>
            <a:r>
              <a:rPr lang="en-US" altLang="zh-CN" sz="800" dirty="0" smtClean="0">
                <a:solidFill>
                  <a:srgbClr val="000000"/>
                </a:solidFill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= </a:t>
            </a:r>
            <a:r>
              <a:rPr lang="en-US" altLang="zh-CN" sz="800" b="0" dirty="0" smtClean="0">
                <a:solidFill>
                  <a:srgbClr val="000000"/>
                </a:solidFill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0.29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%</a:t>
            </a:r>
            <a:r>
              <a:rPr lang="en-US" sz="800" b="0" kern="0" dirty="0" smtClean="0">
                <a:solidFill>
                  <a:srgbClr val="000000"/>
                </a:solidFill>
              </a:rPr>
              <a:t> </a:t>
            </a:r>
          </a:p>
          <a:p>
            <a:pPr marL="171450" lvl="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kumimoji="0" lang="cs-CZ" altLang="de-DE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Expected </a:t>
            </a:r>
            <a:r>
              <a:rPr kumimoji="0" lang="cs-CZ" alt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benefits including </a:t>
            </a:r>
            <a:r>
              <a:rPr kumimoji="0" lang="en-US" altLang="de-DE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estimated saving:</a:t>
            </a:r>
            <a:r>
              <a:rPr kumimoji="0" lang="en-US" altLang="de-DE" sz="8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1500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en-US" sz="8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€</a:t>
            </a:r>
            <a:r>
              <a:rPr kumimoji="0" lang="en-US" altLang="zh-CN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endParaRPr kumimoji="0" lang="en-US" alt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2302" name="Rectangle 24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10800000" flipV="1">
            <a:off x="3175279" y="955675"/>
            <a:ext cx="26971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marL="171450" indent="-17145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de-DE" sz="800" b="1" i="0" u="sng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Observation</a:t>
            </a:r>
            <a:r>
              <a:rPr kumimoji="0" lang="cs-CZ" altLang="de-DE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&amp; Data &amp; </a:t>
            </a:r>
            <a:r>
              <a:rPr kumimoji="0" lang="cs-CZ" altLang="de-DE" sz="800" b="1" i="0" u="sng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Graphs</a:t>
            </a:r>
            <a:r>
              <a:rPr kumimoji="0" lang="cs-CZ" altLang="de-DE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&amp; </a:t>
            </a:r>
            <a:r>
              <a:rPr kumimoji="0" lang="cs-CZ" altLang="de-DE" sz="800" b="1" i="0" u="sng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Pictures</a:t>
            </a:r>
            <a:endParaRPr kumimoji="0" lang="en-US" altLang="de-DE" sz="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03" name="Rectangle 4"/>
          <p:cNvSpPr>
            <a:spLocks noChangeArrowheads="1"/>
          </p:cNvSpPr>
          <p:nvPr/>
        </p:nvSpPr>
        <p:spPr bwMode="auto">
          <a:xfrm>
            <a:off x="2509838" y="649288"/>
            <a:ext cx="638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marR="0" lvl="0" indent="-45720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100 %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04" name="Rectangle 4"/>
          <p:cNvSpPr>
            <a:spLocks noChangeArrowheads="1"/>
          </p:cNvSpPr>
          <p:nvPr/>
        </p:nvSpPr>
        <p:spPr bwMode="auto">
          <a:xfrm>
            <a:off x="5422900" y="649288"/>
            <a:ext cx="638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marR="0" lvl="0" indent="-45720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 smtClean="0">
                <a:solidFill>
                  <a:srgbClr val="FFFFFF"/>
                </a:solidFill>
                <a:latin typeface="Calibri"/>
                <a:cs typeface="Calibri" panose="020F0502020204030204" pitchFamily="34" charset="0"/>
              </a:rPr>
              <a:t>10</a:t>
            </a:r>
            <a:r>
              <a:rPr kumimoji="0" lang="cs-CZ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0</a:t>
            </a:r>
            <a:r>
              <a:rPr kumimoji="0" lang="en-US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%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05" name="Rectangle 4"/>
          <p:cNvSpPr>
            <a:spLocks noChangeArrowheads="1"/>
          </p:cNvSpPr>
          <p:nvPr/>
        </p:nvSpPr>
        <p:spPr bwMode="auto">
          <a:xfrm>
            <a:off x="8321675" y="649288"/>
            <a:ext cx="638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marR="0" lvl="0" indent="-45720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1</a:t>
            </a:r>
            <a:r>
              <a:rPr kumimoji="0" lang="en-US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0</a:t>
            </a:r>
            <a:r>
              <a:rPr kumimoji="0" lang="cs-CZ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0 </a:t>
            </a:r>
            <a:r>
              <a:rPr kumimoji="0" lang="en-US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%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06" name="Rectangle 4"/>
          <p:cNvSpPr>
            <a:spLocks noChangeArrowheads="1"/>
          </p:cNvSpPr>
          <p:nvPr/>
        </p:nvSpPr>
        <p:spPr bwMode="auto">
          <a:xfrm>
            <a:off x="11234738" y="622300"/>
            <a:ext cx="638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marR="0" lvl="0" indent="-45720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100 %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07" name="Rectangle 4"/>
          <p:cNvSpPr>
            <a:spLocks noChangeArrowheads="1"/>
          </p:cNvSpPr>
          <p:nvPr/>
        </p:nvSpPr>
        <p:spPr bwMode="auto">
          <a:xfrm>
            <a:off x="11272838" y="4205288"/>
            <a:ext cx="638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marR="0" lvl="0" indent="-45720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0 %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12308" name="Gruppieren 5"/>
          <p:cNvGrpSpPr>
            <a:grpSpLocks/>
          </p:cNvGrpSpPr>
          <p:nvPr/>
        </p:nvGrpSpPr>
        <p:grpSpPr bwMode="auto">
          <a:xfrm>
            <a:off x="5785363" y="5788667"/>
            <a:ext cx="215900" cy="549163"/>
            <a:chOff x="11604575" y="681169"/>
            <a:chExt cx="216000" cy="576000"/>
          </a:xfrm>
        </p:grpSpPr>
        <p:sp>
          <p:nvSpPr>
            <p:cNvPr id="12321" name="Oval 78"/>
            <p:cNvSpPr>
              <a:spLocks noChangeAspect="1" noChangeArrowheads="1"/>
            </p:cNvSpPr>
            <p:nvPr/>
          </p:nvSpPr>
          <p:spPr bwMode="auto">
            <a:xfrm rot="10800000">
              <a:off x="11640575" y="1086081"/>
              <a:ext cx="144000" cy="144000"/>
            </a:xfrm>
            <a:prstGeom prst="ellipse">
              <a:avLst/>
            </a:prstGeom>
            <a:solidFill>
              <a:srgbClr val="00B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0" rIns="18000" bIns="0" anchor="ctr"/>
            <a:lstStyle>
              <a:lvl1pPr>
                <a:spcBef>
                  <a:spcPts val="600"/>
                </a:spcBef>
                <a:buClr>
                  <a:srgbClr val="000000"/>
                </a:buClr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7EC1"/>
                </a:buClr>
                <a:buFont typeface="Wingdings 2" panose="05020102010507070707" pitchFamily="18" charset="2"/>
                <a:buChar char="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ts val="2000"/>
                </a:lnSpc>
                <a:spcBef>
                  <a:spcPts val="600"/>
                </a:spcBef>
                <a:buClr>
                  <a:srgbClr val="007EC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ts val="2000"/>
                </a:lnSpc>
                <a:spcBef>
                  <a:spcPts val="600"/>
                </a:spcBef>
                <a:buClr>
                  <a:srgbClr val="007EC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2E2E2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322" name="Oval 79"/>
            <p:cNvSpPr>
              <a:spLocks noChangeArrowheads="1"/>
            </p:cNvSpPr>
            <p:nvPr/>
          </p:nvSpPr>
          <p:spPr bwMode="auto">
            <a:xfrm rot="10800000">
              <a:off x="11640575" y="908270"/>
              <a:ext cx="144000" cy="144000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0" rIns="18000" bIns="0" anchor="ctr"/>
            <a:lstStyle>
              <a:lvl1pPr>
                <a:spcBef>
                  <a:spcPts val="600"/>
                </a:spcBef>
                <a:buClr>
                  <a:srgbClr val="000000"/>
                </a:buClr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7EC1"/>
                </a:buClr>
                <a:buFont typeface="Wingdings 2" panose="05020102010507070707" pitchFamily="18" charset="2"/>
                <a:buChar char="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ts val="2000"/>
                </a:lnSpc>
                <a:spcBef>
                  <a:spcPts val="600"/>
                </a:spcBef>
                <a:buClr>
                  <a:srgbClr val="007EC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ts val="2000"/>
                </a:lnSpc>
                <a:spcBef>
                  <a:spcPts val="600"/>
                </a:spcBef>
                <a:buClr>
                  <a:srgbClr val="007EC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2E2E2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323" name="Oval 80"/>
            <p:cNvSpPr>
              <a:spLocks noChangeAspect="1" noChangeArrowheads="1"/>
            </p:cNvSpPr>
            <p:nvPr/>
          </p:nvSpPr>
          <p:spPr bwMode="auto">
            <a:xfrm rot="10800000">
              <a:off x="11640575" y="724694"/>
              <a:ext cx="144000" cy="142296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8000" tIns="0" rIns="18000" bIns="0" anchor="ctr"/>
            <a:lstStyle>
              <a:lvl1pPr>
                <a:spcBef>
                  <a:spcPts val="600"/>
                </a:spcBef>
                <a:buClr>
                  <a:srgbClr val="000000"/>
                </a:buClr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7EC1"/>
                </a:buClr>
                <a:buFont typeface="Wingdings 2" panose="05020102010507070707" pitchFamily="18" charset="2"/>
                <a:buChar char="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ts val="2000"/>
                </a:lnSpc>
                <a:spcBef>
                  <a:spcPts val="600"/>
                </a:spcBef>
                <a:buClr>
                  <a:srgbClr val="007EC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ts val="2000"/>
                </a:lnSpc>
                <a:spcBef>
                  <a:spcPts val="600"/>
                </a:spcBef>
                <a:buClr>
                  <a:srgbClr val="007EC1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2E2E2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" name="Rechteck 4"/>
            <p:cNvSpPr/>
            <p:nvPr/>
          </p:nvSpPr>
          <p:spPr>
            <a:xfrm>
              <a:off x="11604575" y="681169"/>
              <a:ext cx="216000" cy="57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311" name="Foliennummernplatzhalt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3797AA-0FC2-4018-9947-35413105C9CC}" type="slidenum">
              <a:rPr kumimoji="0" lang="de-DE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E3D40"/>
                </a:solidFill>
                <a:effectLst/>
                <a:uLnTx/>
                <a:uFillTx/>
                <a:latin typeface="Calibri" panose="020F0502020204030204" pitchFamily="34" charset="0"/>
                <a:cs typeface="TisaOT-Bold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altLang="de-DE" sz="1200" b="0" i="0" u="none" strike="noStrike" kern="1200" cap="none" spc="0" normalizeH="0" baseline="0" noProof="0" smtClean="0">
              <a:ln>
                <a:noFill/>
              </a:ln>
              <a:solidFill>
                <a:srgbClr val="3E3D40"/>
              </a:solidFill>
              <a:effectLst/>
              <a:uLnTx/>
              <a:uFillTx/>
              <a:latin typeface="Calibri" panose="020F0502020204030204" pitchFamily="34" charset="0"/>
              <a:cs typeface="TisaOT-Bold"/>
            </a:endParaRPr>
          </a:p>
        </p:txBody>
      </p:sp>
      <p:sp>
        <p:nvSpPr>
          <p:cNvPr id="12312" name="Rectangle 4"/>
          <p:cNvSpPr>
            <a:spLocks noChangeArrowheads="1"/>
          </p:cNvSpPr>
          <p:nvPr/>
        </p:nvSpPr>
        <p:spPr bwMode="auto">
          <a:xfrm>
            <a:off x="9358854" y="6092825"/>
            <a:ext cx="250136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marR="0" lvl="0" indent="-45720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1576.06 €</a:t>
            </a:r>
            <a:endParaRPr kumimoji="0" lang="en-US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18" name="Rectangle 246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984875" y="466725"/>
            <a:ext cx="188118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2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End </a:t>
            </a:r>
            <a:r>
              <a:rPr kumimoji="0" lang="en-US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Date: </a:t>
            </a:r>
            <a:endParaRPr kumimoji="0" lang="en-US" altLang="en-US" sz="8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319" name="Rectangle 246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008484" y="285768"/>
            <a:ext cx="1785937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>
              <a:spcBef>
                <a:spcPct val="0"/>
              </a:spcBef>
              <a:buClr>
                <a:srgbClr val="003366"/>
              </a:buClr>
              <a:buSzPct val="120000"/>
              <a:defRPr/>
            </a:pPr>
            <a:r>
              <a:rPr kumimoji="0" lang="en-US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Plant/Dept</a:t>
            </a:r>
            <a:r>
              <a:rPr kumimoji="0" lang="en-US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.: </a:t>
            </a:r>
            <a:r>
              <a:rPr lang="en-US" altLang="en-US" sz="800" b="0" dirty="0">
                <a:solidFill>
                  <a:srgbClr val="000000"/>
                </a:solidFill>
                <a:latin typeface="Calibri"/>
                <a:cs typeface="Arial" panose="020B0604020202020204" pitchFamily="34" charset="0"/>
              </a:rPr>
              <a:t>Pune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Arial" panose="020B0604020202020204" pitchFamily="34" charset="0"/>
              </a:rPr>
              <a:t>/</a:t>
            </a:r>
            <a:r>
              <a:rPr lang="en-US" altLang="en-US" sz="800" b="0" dirty="0">
                <a:solidFill>
                  <a:srgbClr val="000000"/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altLang="en-US" sz="800" b="0" dirty="0" smtClean="0">
                <a:solidFill>
                  <a:srgbClr val="000000"/>
                </a:solidFill>
                <a:latin typeface="Calibri"/>
                <a:cs typeface="Arial" panose="020B0604020202020204" pitchFamily="34" charset="0"/>
              </a:rPr>
              <a:t>Production</a:t>
            </a:r>
            <a:endParaRPr kumimoji="0" lang="en-US" altLang="en-US" sz="8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36" name="Rectangle 24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 rot="10800000" flipV="1">
            <a:off x="238123" y="5104598"/>
            <a:ext cx="2883157" cy="533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kumimoji="0" lang="cs-CZ" altLang="en-US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Project team &amp; resources</a:t>
            </a:r>
            <a:r>
              <a:rPr kumimoji="0" lang="en-US" altLang="en-US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altLang="en-US" sz="8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:</a:t>
            </a:r>
            <a:r>
              <a:rPr lang="en-US" altLang="en-US" sz="800" b="0" u="sng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800" b="0" kern="0" dirty="0">
                <a:solidFill>
                  <a:srgbClr val="000000"/>
                </a:solidFill>
              </a:rPr>
              <a:t>Mr. </a:t>
            </a:r>
            <a:r>
              <a:rPr lang="en-US" sz="800" b="0" kern="0" dirty="0" err="1">
                <a:solidFill>
                  <a:srgbClr val="000000"/>
                </a:solidFill>
              </a:rPr>
              <a:t>Shahiraj</a:t>
            </a:r>
            <a:r>
              <a:rPr lang="en-US" sz="800" b="0" kern="0" dirty="0">
                <a:solidFill>
                  <a:srgbClr val="000000"/>
                </a:solidFill>
              </a:rPr>
              <a:t> </a:t>
            </a:r>
            <a:r>
              <a:rPr lang="en-US" sz="800" b="0" kern="0" dirty="0" err="1">
                <a:solidFill>
                  <a:srgbClr val="000000"/>
                </a:solidFill>
              </a:rPr>
              <a:t>Shelar</a:t>
            </a:r>
            <a:r>
              <a:rPr lang="en-US" sz="800" b="0" kern="0" dirty="0">
                <a:solidFill>
                  <a:srgbClr val="000000"/>
                </a:solidFill>
              </a:rPr>
              <a:t>- Prod., </a:t>
            </a:r>
            <a:r>
              <a:rPr lang="en-US" sz="800" b="0" kern="0" dirty="0" smtClean="0">
                <a:solidFill>
                  <a:srgbClr val="000000"/>
                </a:solidFill>
              </a:rPr>
              <a:t>               Mr. Ramesh </a:t>
            </a:r>
            <a:r>
              <a:rPr lang="en-US" sz="800" b="0" kern="0" dirty="0" err="1" smtClean="0">
                <a:solidFill>
                  <a:srgbClr val="000000"/>
                </a:solidFill>
              </a:rPr>
              <a:t>Sawant</a:t>
            </a:r>
            <a:r>
              <a:rPr lang="en-US" sz="800" b="0" kern="0" dirty="0" smtClean="0">
                <a:solidFill>
                  <a:srgbClr val="000000"/>
                </a:solidFill>
              </a:rPr>
              <a:t>-Prod., Mr</a:t>
            </a:r>
            <a:r>
              <a:rPr lang="en-US" sz="800" b="0" kern="0" dirty="0">
                <a:solidFill>
                  <a:srgbClr val="000000"/>
                </a:solidFill>
              </a:rPr>
              <a:t>. </a:t>
            </a:r>
            <a:r>
              <a:rPr lang="en-US" sz="800" b="0" kern="0" dirty="0" err="1" smtClean="0">
                <a:solidFill>
                  <a:srgbClr val="000000"/>
                </a:solidFill>
              </a:rPr>
              <a:t>Shriram</a:t>
            </a:r>
            <a:r>
              <a:rPr lang="en-US" sz="800" b="0" kern="0" dirty="0" smtClean="0">
                <a:solidFill>
                  <a:srgbClr val="000000"/>
                </a:solidFill>
              </a:rPr>
              <a:t>- QA, </a:t>
            </a:r>
            <a:r>
              <a:rPr lang="en-US" sz="800" b="0" kern="0" dirty="0">
                <a:solidFill>
                  <a:srgbClr val="000000"/>
                </a:solidFill>
              </a:rPr>
              <a:t>Mr. </a:t>
            </a:r>
            <a:r>
              <a:rPr lang="en-US" sz="800" b="0" kern="0" dirty="0" err="1">
                <a:solidFill>
                  <a:srgbClr val="000000"/>
                </a:solidFill>
              </a:rPr>
              <a:t>Vaibhav</a:t>
            </a:r>
            <a:r>
              <a:rPr lang="en-US" sz="800" b="0" kern="0" dirty="0">
                <a:solidFill>
                  <a:srgbClr val="000000"/>
                </a:solidFill>
              </a:rPr>
              <a:t> </a:t>
            </a:r>
            <a:r>
              <a:rPr lang="en-US" sz="800" b="0" kern="0" dirty="0" err="1">
                <a:solidFill>
                  <a:srgbClr val="000000"/>
                </a:solidFill>
              </a:rPr>
              <a:t>Jogade</a:t>
            </a:r>
            <a:r>
              <a:rPr lang="en-US" sz="800" b="0" kern="0" dirty="0">
                <a:solidFill>
                  <a:srgbClr val="000000"/>
                </a:solidFill>
              </a:rPr>
              <a:t>- QA</a:t>
            </a:r>
          </a:p>
          <a:p>
            <a:pPr marL="171450" lvl="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US" sz="800" b="0" kern="0" dirty="0" smtClean="0">
                <a:solidFill>
                  <a:srgbClr val="000000"/>
                </a:solidFill>
              </a:rPr>
              <a:t> </a:t>
            </a:r>
            <a:endParaRPr kumimoji="0" lang="en-US" altLang="zh-CN" sz="800" b="0" i="0" u="sng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TextovéPole 2"/>
          <p:cNvSpPr txBox="1"/>
          <p:nvPr/>
        </p:nvSpPr>
        <p:spPr>
          <a:xfrm>
            <a:off x="212097" y="5533299"/>
            <a:ext cx="28264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3B0E0"/>
              </a:buClr>
              <a:buSzTx/>
              <a:buFontTx/>
              <a:buNone/>
              <a:tabLst/>
              <a:defRPr/>
            </a:pPr>
            <a:r>
              <a:rPr kumimoji="0" lang="cs-CZ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 case of project charter adding screen shot is possible</a:t>
            </a:r>
            <a:endParaRPr kumimoji="0" lang="en-US" sz="700" b="0" i="0" u="none" strike="noStrike" kern="1200" cap="none" spc="0" normalizeH="0" baseline="0" noProof="0" dirty="0" err="1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3174640" y="5007957"/>
            <a:ext cx="2877032" cy="68473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171450" lvl="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 sz="800" b="0"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cs-CZ" dirty="0"/>
              <a:t>Result / </a:t>
            </a:r>
            <a:r>
              <a:rPr lang="cs-CZ" dirty="0" smtClean="0"/>
              <a:t>Conclusion</a:t>
            </a:r>
            <a:r>
              <a:rPr lang="en-US" dirty="0" smtClean="0"/>
              <a:t>: </a:t>
            </a:r>
            <a:r>
              <a:rPr lang="en-US" altLang="en-US" dirty="0"/>
              <a:t>D.R. value is ≥ 6 means measurement system is OK (Good Sausage</a:t>
            </a:r>
            <a:r>
              <a:rPr lang="en-US" altLang="en-US" dirty="0" smtClean="0"/>
              <a:t>)</a:t>
            </a:r>
            <a:endParaRPr lang="en-US" altLang="en-US" dirty="0"/>
          </a:p>
        </p:txBody>
      </p:sp>
      <p:sp>
        <p:nvSpPr>
          <p:cNvPr id="39" name="TextovéPole 38"/>
          <p:cNvSpPr txBox="1"/>
          <p:nvPr/>
        </p:nvSpPr>
        <p:spPr>
          <a:xfrm>
            <a:off x="6096000" y="6005186"/>
            <a:ext cx="2877032" cy="402905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171450" lvl="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 sz="800" b="0"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cs-CZ" dirty="0" smtClean="0"/>
              <a:t>Result / Conclusion:</a:t>
            </a:r>
            <a:r>
              <a:rPr lang="en-US" dirty="0" smtClean="0"/>
              <a:t> Housing dimension 43.27mm undersize and cover flatness </a:t>
            </a:r>
            <a:r>
              <a:rPr lang="en-US" dirty="0" err="1" smtClean="0"/>
              <a:t>nok</a:t>
            </a:r>
            <a:r>
              <a:rPr lang="en-US" dirty="0" smtClean="0"/>
              <a:t> is the </a:t>
            </a:r>
            <a:r>
              <a:rPr lang="en-US" dirty="0" err="1" smtClean="0"/>
              <a:t>BigX</a:t>
            </a:r>
            <a:r>
              <a:rPr lang="cs-CZ" dirty="0" smtClean="0"/>
              <a:t> </a:t>
            </a:r>
            <a:endParaRPr lang="en-US" dirty="0" smtClean="0"/>
          </a:p>
        </p:txBody>
      </p:sp>
      <p:sp>
        <p:nvSpPr>
          <p:cNvPr id="40" name="Rectangle 24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 rot="10800000" flipV="1">
            <a:off x="6100184" y="959380"/>
            <a:ext cx="2697162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/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cs-CZ" altLang="de-DE" sz="800" b="1" i="0" u="sng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Observation</a:t>
            </a:r>
            <a:r>
              <a:rPr kumimoji="0" lang="cs-CZ" altLang="de-DE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&amp; Data &amp; </a:t>
            </a:r>
            <a:r>
              <a:rPr kumimoji="0" lang="cs-CZ" altLang="de-DE" sz="800" b="1" i="0" u="sng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Graphs</a:t>
            </a:r>
            <a:r>
              <a:rPr kumimoji="0" lang="cs-CZ" altLang="de-DE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&amp; </a:t>
            </a:r>
            <a:r>
              <a:rPr kumimoji="0" lang="cs-CZ" altLang="de-DE" sz="800" b="1" i="0" u="sng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Pictures</a:t>
            </a:r>
            <a:endParaRPr kumimoji="0" lang="en-US" altLang="de-DE" sz="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Obdélník 7"/>
          <p:cNvSpPr/>
          <p:nvPr/>
        </p:nvSpPr>
        <p:spPr>
          <a:xfrm>
            <a:off x="9008484" y="962239"/>
            <a:ext cx="2151551" cy="22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/>
          <a:p>
            <a:pPr marL="171450" marR="0" lvl="0" indent="-17145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de-DE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</a:t>
            </a:r>
            <a:r>
              <a:rPr kumimoji="0" lang="cs-CZ" altLang="de-DE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Expl</a:t>
            </a:r>
            <a:r>
              <a:rPr kumimoji="0" lang="de-DE" altLang="de-DE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a</a:t>
            </a:r>
            <a:r>
              <a:rPr kumimoji="0" lang="cs-CZ" altLang="de-DE" sz="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nation </a:t>
            </a:r>
            <a:r>
              <a:rPr kumimoji="0" lang="cs-CZ" altLang="de-DE" sz="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&amp; Data &amp; Graphs &amp; Pictures</a:t>
            </a:r>
            <a:endParaRPr kumimoji="0" lang="en-US" altLang="de-DE" sz="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44" name="TextovéPole 43"/>
          <p:cNvSpPr txBox="1"/>
          <p:nvPr/>
        </p:nvSpPr>
        <p:spPr>
          <a:xfrm>
            <a:off x="9031706" y="3712802"/>
            <a:ext cx="2896941" cy="21083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171450" lvl="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 sz="800" b="0">
                <a:solidFill>
                  <a:srgbClr val="000000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cs-CZ" dirty="0"/>
              <a:t>Result / </a:t>
            </a:r>
            <a:r>
              <a:rPr lang="cs-CZ" dirty="0" smtClean="0"/>
              <a:t>Conclusion:</a:t>
            </a:r>
            <a:r>
              <a:rPr lang="en-US" dirty="0" smtClean="0"/>
              <a:t> Drawing specification to be revised</a:t>
            </a:r>
            <a:r>
              <a:rPr lang="cs-CZ" dirty="0" smtClean="0"/>
              <a:t> </a:t>
            </a:r>
            <a:endParaRPr lang="en-US" dirty="0"/>
          </a:p>
        </p:txBody>
      </p:sp>
      <p:sp>
        <p:nvSpPr>
          <p:cNvPr id="46" name="Rectangle 24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 rot="10800000" flipV="1">
            <a:off x="9044317" y="5733354"/>
            <a:ext cx="2856435" cy="10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marL="171450" indent="-17145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Tx/>
              <a:buNone/>
              <a:tabLst/>
              <a:defRPr/>
            </a:pPr>
            <a:r>
              <a:rPr kumimoji="0" lang="cs-CZ" altLang="de-DE" sz="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Expected</a:t>
            </a:r>
            <a:r>
              <a:rPr kumimoji="0" lang="cs-CZ" altLang="de-DE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 </a:t>
            </a:r>
            <a:r>
              <a:rPr kumimoji="0" lang="cs-CZ" altLang="de-DE" sz="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project</a:t>
            </a:r>
            <a:r>
              <a:rPr kumimoji="0" lang="cs-CZ" altLang="de-DE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 </a:t>
            </a:r>
            <a:r>
              <a:rPr kumimoji="0" lang="cs-CZ" altLang="de-DE" sz="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goal</a:t>
            </a:r>
            <a:r>
              <a:rPr kumimoji="0" lang="cs-CZ" altLang="de-DE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rPr>
              <a:t>  met?         YES    -    NO    -  WITH  DEVIATION</a:t>
            </a:r>
            <a:endParaRPr kumimoji="0" lang="en-US" altLang="de-DE" sz="800" b="0" i="0" u="none" strike="sng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Calibri" panose="020F0502020204030204" pitchFamily="34" charset="0"/>
            </a:endParaRPr>
          </a:p>
        </p:txBody>
      </p:sp>
      <p:sp>
        <p:nvSpPr>
          <p:cNvPr id="47" name="Rectangle 246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 rot="10800000" flipV="1">
            <a:off x="9026391" y="5927687"/>
            <a:ext cx="258603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marL="171450" indent="-17145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003B6F"/>
              </a:buClr>
              <a:buSzPct val="90000"/>
              <a:buFontTx/>
              <a:buNone/>
              <a:tabLst/>
              <a:defRPr/>
            </a:pPr>
            <a:r>
              <a:rPr kumimoji="0" lang="cs-CZ" altLang="de-DE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 </a:t>
            </a:r>
            <a:r>
              <a:rPr kumimoji="0" lang="cs-CZ" altLang="de-DE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Champion feedback: </a:t>
            </a:r>
            <a:r>
              <a:rPr lang="en-US" altLang="de-DE" sz="800" b="0" dirty="0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P</a:t>
            </a:r>
            <a:r>
              <a:rPr kumimoji="0" lang="cs-CZ" altLang="de-DE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roject APPROVED     YES     -    NO</a:t>
            </a:r>
            <a:endParaRPr kumimoji="0" lang="en-US" altLang="de-DE" sz="700" b="0" i="0" u="none" strike="sng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1290473" y="3931015"/>
            <a:ext cx="6381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marR="0" lvl="0" indent="-45720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100 %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7506" y="3199587"/>
            <a:ext cx="2893603" cy="38572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US" altLang="en-US" sz="800" b="0" dirty="0">
                <a:solidFill>
                  <a:srgbClr val="000000"/>
                </a:solidFill>
              </a:rPr>
              <a:t>BR10-RR1 Test is the Top most FTQ concern for BR10 </a:t>
            </a:r>
            <a:r>
              <a:rPr lang="en-US" altLang="en-US" sz="800" b="0" dirty="0" err="1">
                <a:solidFill>
                  <a:srgbClr val="000000"/>
                </a:solidFill>
              </a:rPr>
              <a:t>vop</a:t>
            </a:r>
            <a:endParaRPr lang="en-US" altLang="en-US" sz="800" b="0" dirty="0">
              <a:solidFill>
                <a:srgbClr val="000000"/>
              </a:solidFill>
            </a:endParaRPr>
          </a:p>
          <a:p>
            <a:pPr marL="17145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en-US" altLang="en-US" sz="800" b="0" dirty="0">
                <a:solidFill>
                  <a:srgbClr val="000000"/>
                </a:solidFill>
              </a:rPr>
              <a:t>Current rejection percentage is </a:t>
            </a:r>
            <a:r>
              <a:rPr lang="en-US" altLang="en-US" sz="800" b="0" dirty="0" smtClean="0">
                <a:solidFill>
                  <a:srgbClr val="000000"/>
                </a:solidFill>
              </a:rPr>
              <a:t>1.49%  </a:t>
            </a:r>
            <a:r>
              <a:rPr lang="en-US" altLang="en-US" sz="800" b="0" dirty="0">
                <a:solidFill>
                  <a:srgbClr val="000000"/>
                </a:solidFill>
              </a:rPr>
              <a:t>for </a:t>
            </a:r>
            <a:r>
              <a:rPr lang="en-US" altLang="en-US" sz="800" b="0" dirty="0" smtClean="0">
                <a:solidFill>
                  <a:srgbClr val="000000"/>
                </a:solidFill>
              </a:rPr>
              <a:t>Jan 2025  </a:t>
            </a:r>
            <a:endParaRPr lang="en-US" altLang="en-US" sz="800" b="0" dirty="0">
              <a:solidFill>
                <a:srgbClr val="000000"/>
              </a:solidFill>
            </a:endParaRPr>
          </a:p>
        </p:txBody>
      </p:sp>
      <p:sp>
        <p:nvSpPr>
          <p:cNvPr id="49" name="Rectangle 246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10800000" flipV="1">
            <a:off x="488763" y="5915534"/>
            <a:ext cx="5103181" cy="316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>
              <a:spcBef>
                <a:spcPts val="600"/>
              </a:spcBef>
              <a:buClr>
                <a:srgbClr val="000000"/>
              </a:buCl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7EC1"/>
              </a:buClr>
              <a:buFont typeface="Wingdings 2" panose="05020102010507070707" pitchFamily="18" charset="2"/>
              <a:buChar char="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0" hangingPunct="0">
              <a:lnSpc>
                <a:spcPct val="110000"/>
              </a:lnSpc>
              <a:spcBef>
                <a:spcPct val="50000"/>
              </a:spcBef>
              <a:buClr>
                <a:srgbClr val="003B6F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en-US" altLang="en-US" sz="1050" b="0" dirty="0" smtClean="0">
                <a:solidFill>
                  <a:srgbClr val="FF0000"/>
                </a:solidFill>
              </a:rPr>
              <a:t>Project is under </a:t>
            </a:r>
            <a:r>
              <a:rPr lang="en-US" altLang="en-US" sz="1050" b="0" dirty="0" smtClean="0">
                <a:solidFill>
                  <a:srgbClr val="FF0000"/>
                </a:solidFill>
              </a:rPr>
              <a:t>Control </a:t>
            </a:r>
            <a:r>
              <a:rPr lang="en-US" altLang="en-US" sz="1050" b="0" dirty="0" smtClean="0">
                <a:solidFill>
                  <a:srgbClr val="FF0000"/>
                </a:solidFill>
              </a:rPr>
              <a:t>phase- As BR10 VOP housing is </a:t>
            </a:r>
            <a:r>
              <a:rPr lang="en-US" altLang="en-US" sz="1050" dirty="0" smtClean="0">
                <a:solidFill>
                  <a:srgbClr val="FF0000"/>
                </a:solidFill>
              </a:rPr>
              <a:t>customer directed supplier, </a:t>
            </a:r>
            <a:r>
              <a:rPr lang="en-US" altLang="en-US" sz="1050" b="0" dirty="0" smtClean="0">
                <a:solidFill>
                  <a:srgbClr val="FF0000"/>
                </a:solidFill>
              </a:rPr>
              <a:t>effectiveness is not there because of dimensions are frequently </a:t>
            </a:r>
            <a:r>
              <a:rPr lang="en-US" altLang="en-US" sz="1050" b="0" dirty="0" err="1" smtClean="0">
                <a:solidFill>
                  <a:srgbClr val="FF0000"/>
                </a:solidFill>
              </a:rPr>
              <a:t>nok</a:t>
            </a:r>
            <a:r>
              <a:rPr lang="en-US" altLang="en-US" sz="1050" b="0" dirty="0" smtClean="0">
                <a:solidFill>
                  <a:srgbClr val="FF0000"/>
                </a:solidFill>
              </a:rPr>
              <a:t> in housing.  </a:t>
            </a:r>
            <a:endParaRPr lang="en-US" altLang="en-US" sz="1050" b="0" dirty="0">
              <a:solidFill>
                <a:srgbClr val="FF0000"/>
              </a:solidFill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3352" y="1412777"/>
            <a:ext cx="1350551" cy="8131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8284" y="1412776"/>
            <a:ext cx="1439729" cy="86574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43856" y="2364959"/>
            <a:ext cx="1477426" cy="79404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26956" y="2449268"/>
            <a:ext cx="2556162" cy="126353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5560" y="1125273"/>
            <a:ext cx="1634656" cy="83815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47842" y="1992064"/>
            <a:ext cx="1620366" cy="88747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30487" y="2888532"/>
            <a:ext cx="1997761" cy="99082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83475" y="4005064"/>
            <a:ext cx="1628749" cy="85979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47570" y="5003610"/>
            <a:ext cx="1977259" cy="101767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13634" y="1105419"/>
            <a:ext cx="1523738" cy="71776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25874" y="1946254"/>
            <a:ext cx="1433791" cy="69065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481984" y="1916832"/>
            <a:ext cx="1418767" cy="71934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358853" y="2680236"/>
            <a:ext cx="1987360" cy="1036796"/>
          </a:xfrm>
          <a:prstGeom prst="rect">
            <a:avLst/>
          </a:prstGeom>
        </p:spPr>
      </p:pic>
      <p:sp>
        <p:nvSpPr>
          <p:cNvPr id="12320" name="Oval 12319"/>
          <p:cNvSpPr/>
          <p:nvPr/>
        </p:nvSpPr>
        <p:spPr>
          <a:xfrm>
            <a:off x="10693754" y="5748593"/>
            <a:ext cx="298790" cy="128679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24" name="Picture 12323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60360" y="4458335"/>
            <a:ext cx="2236240" cy="118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5521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56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/>
          <p:cNvSpPr/>
          <p:nvPr/>
        </p:nvSpPr>
        <p:spPr>
          <a:xfrm>
            <a:off x="440700" y="1537650"/>
            <a:ext cx="11265888" cy="337070"/>
          </a:xfrm>
          <a:prstGeom prst="rect">
            <a:avLst/>
          </a:pr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7437862" y="2044938"/>
            <a:ext cx="4176464" cy="4322069"/>
          </a:xfrm>
          <a:prstGeom prst="rect">
            <a:avLst/>
          </a:prstGeom>
          <a:solidFill>
            <a:schemeClr val="bg1">
              <a:lumMod val="85000"/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143672" y="2044938"/>
            <a:ext cx="4176464" cy="4322070"/>
          </a:xfrm>
          <a:prstGeom prst="rect">
            <a:avLst/>
          </a:prstGeom>
          <a:solidFill>
            <a:schemeClr val="bg1">
              <a:lumMod val="85000"/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440700" y="3786930"/>
            <a:ext cx="11263789" cy="1260000"/>
          </a:xfrm>
          <a:prstGeom prst="rect">
            <a:avLst/>
          </a:pr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442800" y="2418778"/>
            <a:ext cx="11263790" cy="1260000"/>
          </a:xfrm>
          <a:prstGeom prst="rect">
            <a:avLst/>
          </a:pr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442800" y="597600"/>
            <a:ext cx="11304000" cy="828000"/>
          </a:xfrm>
        </p:spPr>
        <p:txBody>
          <a:bodyPr vert="horz"/>
          <a:lstStyle/>
          <a:p>
            <a:r>
              <a:rPr lang="en-US" altLang="de-DE" dirty="0" smtClean="0"/>
              <a:t>CONTROL </a:t>
            </a:r>
            <a:br>
              <a:rPr lang="en-US" altLang="de-DE" dirty="0" smtClean="0"/>
            </a:br>
            <a:r>
              <a:rPr lang="en-US" dirty="0" smtClean="0"/>
              <a:t>Review of Project Lessons Learned &amp; Identification of Best Practices</a:t>
            </a:r>
            <a:endParaRPr lang="en-US" dirty="0"/>
          </a:p>
        </p:txBody>
      </p:sp>
      <p:sp>
        <p:nvSpPr>
          <p:cNvPr id="11" name="Textplatzhalter 6"/>
          <p:cNvSpPr txBox="1">
            <a:spLocks/>
          </p:cNvSpPr>
          <p:nvPr/>
        </p:nvSpPr>
        <p:spPr>
          <a:xfrm>
            <a:off x="3216489" y="2093638"/>
            <a:ext cx="3851120" cy="3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>
                  <a:lumMod val="10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did we do well in the project?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platzhalter 8"/>
          <p:cNvSpPr txBox="1">
            <a:spLocks/>
          </p:cNvSpPr>
          <p:nvPr/>
        </p:nvSpPr>
        <p:spPr>
          <a:xfrm>
            <a:off x="7536158" y="2093638"/>
            <a:ext cx="4176037" cy="7572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>
                  <a:lumMod val="10000"/>
                </a:srgbClr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should we have done in another way?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Inhaltsplatzhalter 7"/>
          <p:cNvSpPr txBox="1">
            <a:spLocks/>
          </p:cNvSpPr>
          <p:nvPr/>
        </p:nvSpPr>
        <p:spPr>
          <a:xfrm>
            <a:off x="3216488" y="5281183"/>
            <a:ext cx="4103648" cy="108831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1800" b="0" kern="1200" baseline="0">
                <a:solidFill>
                  <a:schemeClr val="tx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Practices?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output/finding/solution etc. could be an inspiration for other plants?</a:t>
            </a:r>
            <a:endParaRPr kumimoji="0" lang="en-US" sz="1000" b="1" i="0" u="none" strike="noStrike" kern="1200" cap="none" spc="0" normalizeH="0" baseline="0" noProof="0" dirty="0" smtClean="0">
              <a:ln>
                <a:noFill/>
              </a:ln>
              <a:solidFill>
                <a:srgbClr val="000000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indent="-285750">
              <a:buClrTx/>
              <a:buFont typeface="Wingdings" panose="05000000000000000000" pitchFamily="2" charset="2"/>
              <a:buChar char="ü"/>
              <a:defRPr/>
            </a:pPr>
            <a:r>
              <a:rPr lang="de-DE" sz="1000" dirty="0" smtClean="0"/>
              <a:t>Horizontal </a:t>
            </a:r>
            <a:r>
              <a:rPr lang="de-DE" sz="1000" dirty="0" err="1" smtClean="0"/>
              <a:t>deployment</a:t>
            </a:r>
            <a:r>
              <a:rPr lang="de-DE" sz="1000" dirty="0" smtClean="0"/>
              <a:t> </a:t>
            </a:r>
            <a:r>
              <a:rPr lang="de-DE" sz="1000" dirty="0" err="1" smtClean="0"/>
              <a:t>for</a:t>
            </a:r>
            <a:r>
              <a:rPr lang="de-DE" sz="1000" dirty="0" smtClean="0"/>
              <a:t> </a:t>
            </a:r>
            <a:r>
              <a:rPr lang="de-DE" sz="1000" dirty="0" err="1" smtClean="0"/>
              <a:t>similar</a:t>
            </a:r>
            <a:r>
              <a:rPr lang="de-DE" sz="1000" dirty="0" smtClean="0"/>
              <a:t> </a:t>
            </a:r>
            <a:r>
              <a:rPr lang="de-DE" sz="1000" dirty="0" err="1" smtClean="0"/>
              <a:t>pumps</a:t>
            </a:r>
            <a:r>
              <a:rPr lang="de-DE" sz="1000" dirty="0" smtClean="0"/>
              <a:t>, </a:t>
            </a:r>
          </a:p>
          <a:p>
            <a:pPr marL="171450" indent="-171450">
              <a:buClrTx/>
              <a:buFont typeface="Wingdings" panose="05000000000000000000" pitchFamily="2" charset="2"/>
              <a:buChar char="ü"/>
              <a:defRPr/>
            </a:pPr>
            <a:r>
              <a:rPr lang="de-DE" sz="1000" dirty="0" smtClean="0"/>
              <a:t>   As </a:t>
            </a:r>
            <a:r>
              <a:rPr lang="de-DE" sz="1000" dirty="0" err="1" smtClean="0"/>
              <a:t>lesson</a:t>
            </a:r>
            <a:r>
              <a:rPr lang="de-DE" sz="1000" dirty="0" smtClean="0"/>
              <a:t> </a:t>
            </a:r>
            <a:r>
              <a:rPr lang="de-DE" sz="1000" dirty="0" err="1" smtClean="0"/>
              <a:t>learned</a:t>
            </a:r>
            <a:r>
              <a:rPr lang="de-DE" sz="1000" dirty="0" smtClean="0"/>
              <a:t> </a:t>
            </a:r>
            <a:r>
              <a:rPr lang="de-DE" sz="1000" dirty="0" err="1" smtClean="0"/>
              <a:t>taken</a:t>
            </a:r>
            <a:r>
              <a:rPr lang="de-DE" sz="1000" dirty="0" smtClean="0"/>
              <a:t> </a:t>
            </a:r>
            <a:r>
              <a:rPr lang="de-DE" sz="1000" dirty="0" err="1" smtClean="0"/>
              <a:t>for</a:t>
            </a:r>
            <a:r>
              <a:rPr lang="de-DE" sz="1000" dirty="0" smtClean="0"/>
              <a:t> Line3 &amp; Line4 EOL</a:t>
            </a:r>
            <a:endParaRPr kumimoji="0" lang="en-US" sz="1000" b="0" i="0" u="none" strike="noStrike" kern="1200" cap="none" spc="0" normalizeH="0" baseline="0" noProof="0" dirty="0" smtClean="0">
              <a:ln>
                <a:noFill/>
              </a:ln>
              <a:solidFill>
                <a:srgbClr val="000000">
                  <a:lumMod val="10000"/>
                </a:srgb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6" name="Gleichschenkliges Dreieck 15"/>
          <p:cNvSpPr/>
          <p:nvPr/>
        </p:nvSpPr>
        <p:spPr>
          <a:xfrm rot="10800000">
            <a:off x="4314537" y="5134554"/>
            <a:ext cx="1421422" cy="94645"/>
          </a:xfrm>
          <a:prstGeom prst="triangle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Gleichschenkliges Dreieck 16"/>
          <p:cNvSpPr/>
          <p:nvPr/>
        </p:nvSpPr>
        <p:spPr>
          <a:xfrm rot="10800000">
            <a:off x="8795190" y="5134553"/>
            <a:ext cx="1541348" cy="94645"/>
          </a:xfrm>
          <a:prstGeom prst="triangle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Inhaltsplatzhalter 7"/>
          <p:cNvSpPr txBox="1">
            <a:spLocks/>
          </p:cNvSpPr>
          <p:nvPr/>
        </p:nvSpPr>
        <p:spPr>
          <a:xfrm>
            <a:off x="7536160" y="5281183"/>
            <a:ext cx="4083772" cy="108831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1800" b="0" kern="1200" baseline="0">
                <a:solidFill>
                  <a:schemeClr val="tx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ts val="2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Improvement Ideas / Suggestions?</a:t>
            </a: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000000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we do such a project again, what should we do differently?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</a:rPr>
              <a:t>Create inspection plan for housing</a:t>
            </a:r>
            <a:r>
              <a:rPr kumimoji="0" lang="en-US" sz="1050" b="0" i="0" u="none" strike="noStrike" kern="1200" cap="none" spc="0" normalizeH="0" noProof="0" dirty="0" smtClean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</a:rPr>
              <a:t> and </a:t>
            </a:r>
            <a:r>
              <a:rPr lang="en-US" sz="1050" dirty="0">
                <a:solidFill>
                  <a:srgbClr val="000000">
                    <a:lumMod val="10000"/>
                  </a:srgbClr>
                </a:solidFill>
              </a:rPr>
              <a:t>s</a:t>
            </a:r>
            <a:r>
              <a:rPr kumimoji="0" 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</a:rPr>
              <a:t>tart</a:t>
            </a:r>
            <a:r>
              <a:rPr kumimoji="0" lang="en-US" sz="1050" b="0" i="0" u="none" strike="noStrike" kern="1200" cap="none" spc="0" normalizeH="0" noProof="0" dirty="0" smtClean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</a:rPr>
              <a:t> of </a:t>
            </a:r>
            <a:r>
              <a:rPr lang="en-US" sz="1050" dirty="0" smtClean="0">
                <a:solidFill>
                  <a:srgbClr val="000000">
                    <a:lumMod val="10000"/>
                  </a:srgbClr>
                </a:solidFill>
              </a:rPr>
              <a:t>sampling inspection at KSPG receipt </a:t>
            </a:r>
            <a:r>
              <a:rPr lang="en-US" sz="1050" dirty="0" smtClean="0">
                <a:solidFill>
                  <a:srgbClr val="000000">
                    <a:lumMod val="10000"/>
                  </a:srgbClr>
                </a:solidFill>
              </a:rPr>
              <a:t>stage</a:t>
            </a:r>
            <a:endParaRPr lang="en-US" sz="1050" dirty="0" smtClean="0">
              <a:solidFill>
                <a:srgbClr val="000000">
                  <a:lumMod val="10000"/>
                </a:srgbClr>
              </a:solidFill>
            </a:endParaRPr>
          </a:p>
        </p:txBody>
      </p:sp>
      <p:sp>
        <p:nvSpPr>
          <p:cNvPr id="20" name="Inhaltsplatzhalter 9"/>
          <p:cNvSpPr txBox="1">
            <a:spLocks/>
          </p:cNvSpPr>
          <p:nvPr/>
        </p:nvSpPr>
        <p:spPr>
          <a:xfrm>
            <a:off x="7530551" y="3898303"/>
            <a:ext cx="4176037" cy="10433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00" dirty="0" smtClean="0">
                <a:solidFill>
                  <a:srgbClr val="000000"/>
                </a:solidFill>
                <a:latin typeface="Calibri"/>
              </a:rPr>
              <a:t>NA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451233" y="3791606"/>
            <a:ext cx="269243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Project Performance Lessons</a:t>
            </a:r>
          </a:p>
          <a:p>
            <a:pPr marL="87313" marR="0" lvl="1" indent="-87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Review of PM procedures and practices to manage and perform the project: </a:t>
            </a:r>
          </a:p>
          <a:p>
            <a:pPr marL="176213" marR="0" lvl="1" indent="-88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How was the project defined? / planned? / governed? / executed? / monitored? </a:t>
            </a:r>
          </a:p>
          <a:p>
            <a:pPr marL="176213" marR="0" lvl="2" indent="-88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How did the team perform?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442799" y="2424534"/>
            <a:ext cx="2700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Technical &amp; Result Lessons</a:t>
            </a:r>
          </a:p>
          <a:p>
            <a:pPr marL="87313" marR="0" lvl="0" indent="-87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Was it a good project based on achieved project results?</a:t>
            </a:r>
          </a:p>
          <a:p>
            <a:pPr marL="87313" marR="0" lvl="0" indent="-87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could we learn for future to prevent doing same mistakes in similar processes? (e.g. less mistakes, higher quality, less costs, faster)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uppieren 22"/>
          <p:cNvGrpSpPr/>
          <p:nvPr/>
        </p:nvGrpSpPr>
        <p:grpSpPr>
          <a:xfrm>
            <a:off x="442800" y="1567686"/>
            <a:ext cx="1002257" cy="276999"/>
            <a:chOff x="442800" y="1505762"/>
            <a:chExt cx="1002257" cy="276999"/>
          </a:xfrm>
        </p:grpSpPr>
        <p:sp>
          <p:nvSpPr>
            <p:cNvPr id="24" name="Textfeld 23"/>
            <p:cNvSpPr txBox="1"/>
            <p:nvPr/>
          </p:nvSpPr>
          <p:spPr>
            <a:xfrm>
              <a:off x="442800" y="1505762"/>
              <a:ext cx="5567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Plant:</a:t>
              </a:r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914142" y="150576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</a:t>
              </a:r>
              <a:r>
                <a:rPr lang="en-US" sz="1200" b="0" i="1" noProof="0" dirty="0" smtClean="0">
                  <a:solidFill>
                    <a:srgbClr val="FFFFFF">
                      <a:lumMod val="50000"/>
                    </a:srgbClr>
                  </a:solidFill>
                </a:rPr>
                <a:t>Pune</a:t>
              </a:r>
              <a:endParaRPr kumimoji="0" 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2155480" y="1567686"/>
            <a:ext cx="2159528" cy="276999"/>
            <a:chOff x="442800" y="1505762"/>
            <a:chExt cx="2159528" cy="276999"/>
          </a:xfrm>
        </p:grpSpPr>
        <p:sp>
          <p:nvSpPr>
            <p:cNvPr id="27" name="Textfeld 26"/>
            <p:cNvSpPr txBox="1"/>
            <p:nvPr/>
          </p:nvSpPr>
          <p:spPr>
            <a:xfrm>
              <a:off x="442800" y="1505762"/>
              <a:ext cx="12966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Product group(s):</a:t>
              </a:r>
            </a:p>
          </p:txBody>
        </p:sp>
        <p:sp>
          <p:nvSpPr>
            <p:cNvPr id="28" name="Textfeld 27"/>
            <p:cNvSpPr txBox="1"/>
            <p:nvPr/>
          </p:nvSpPr>
          <p:spPr>
            <a:xfrm>
              <a:off x="1661045" y="1505762"/>
              <a:ext cx="9412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BR10 VDOP </a:t>
              </a:r>
            </a:p>
          </p:txBody>
        </p:sp>
      </p:grpSp>
      <p:grpSp>
        <p:nvGrpSpPr>
          <p:cNvPr id="29" name="Gruppieren 28"/>
          <p:cNvGrpSpPr/>
          <p:nvPr/>
        </p:nvGrpSpPr>
        <p:grpSpPr>
          <a:xfrm>
            <a:off x="5222632" y="1567686"/>
            <a:ext cx="3128684" cy="276999"/>
            <a:chOff x="442800" y="1505762"/>
            <a:chExt cx="3128684" cy="276999"/>
          </a:xfrm>
        </p:grpSpPr>
        <p:sp>
          <p:nvSpPr>
            <p:cNvPr id="30" name="Textfeld 29"/>
            <p:cNvSpPr txBox="1"/>
            <p:nvPr/>
          </p:nvSpPr>
          <p:spPr>
            <a:xfrm>
              <a:off x="442800" y="1505762"/>
              <a:ext cx="1550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Affected Process (</a:t>
              </a:r>
              <a:r>
                <a:rPr kumimoji="0" lang="en-US" sz="12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es</a:t>
              </a:r>
              <a:r>
                <a:rPr kumimoji="0" 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):</a:t>
              </a:r>
            </a:p>
          </p:txBody>
        </p:sp>
        <p:sp>
          <p:nvSpPr>
            <p:cNvPr id="31" name="Textfeld 30"/>
            <p:cNvSpPr txBox="1"/>
            <p:nvPr/>
          </p:nvSpPr>
          <p:spPr>
            <a:xfrm>
              <a:off x="1897884" y="1505762"/>
              <a:ext cx="1673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</a:t>
              </a:r>
              <a:r>
                <a:rPr lang="en-US" sz="1200" b="0" i="1" dirty="0" smtClean="0">
                  <a:solidFill>
                    <a:srgbClr val="FFFFFF">
                      <a:lumMod val="50000"/>
                    </a:srgbClr>
                  </a:solidFill>
                </a:rPr>
                <a:t>Assembly process (EOL)</a:t>
              </a:r>
              <a:endParaRPr kumimoji="0" 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2" name="Gruppieren 31"/>
          <p:cNvGrpSpPr/>
          <p:nvPr/>
        </p:nvGrpSpPr>
        <p:grpSpPr>
          <a:xfrm>
            <a:off x="8942762" y="1571806"/>
            <a:ext cx="1620800" cy="276999"/>
            <a:chOff x="442800" y="1505762"/>
            <a:chExt cx="1620800" cy="276999"/>
          </a:xfrm>
        </p:grpSpPr>
        <p:sp>
          <p:nvSpPr>
            <p:cNvPr id="33" name="Textfeld 32"/>
            <p:cNvSpPr txBox="1"/>
            <p:nvPr/>
          </p:nvSpPr>
          <p:spPr>
            <a:xfrm>
              <a:off x="442800" y="1505762"/>
              <a:ext cx="12760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Impacted KPI(s):</a:t>
              </a:r>
            </a:p>
          </p:txBody>
        </p:sp>
        <p:sp>
          <p:nvSpPr>
            <p:cNvPr id="34" name="Textfeld 33"/>
            <p:cNvSpPr txBox="1"/>
            <p:nvPr/>
          </p:nvSpPr>
          <p:spPr>
            <a:xfrm>
              <a:off x="1599114" y="1505762"/>
              <a:ext cx="464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43B0E0"/>
                </a:buClr>
                <a:buSzTx/>
                <a:buFontTx/>
                <a:buNone/>
                <a:tabLst/>
                <a:defRPr/>
              </a:pPr>
              <a:r>
                <a:rPr lang="en-US" sz="1200" b="0" i="1" dirty="0" smtClean="0">
                  <a:solidFill>
                    <a:srgbClr val="FFFFFF">
                      <a:lumMod val="50000"/>
                    </a:srgbClr>
                  </a:solidFill>
                </a:rPr>
                <a:t>FTQ</a:t>
              </a:r>
              <a:r>
                <a:rPr kumimoji="0" lang="en-US" sz="1200" b="0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</a:t>
              </a:r>
              <a:endParaRPr kumimoji="0" 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sp>
        <p:nvSpPr>
          <p:cNvPr id="37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0456" y="871602"/>
            <a:ext cx="15463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DMAI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C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- 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C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ONTROL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35" name="Inhaltsplatzhalter 7"/>
          <p:cNvSpPr txBox="1">
            <a:spLocks/>
          </p:cNvSpPr>
          <p:nvPr/>
        </p:nvSpPr>
        <p:spPr>
          <a:xfrm>
            <a:off x="3039631" y="2024161"/>
            <a:ext cx="7138425" cy="211211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DE" sz="1000" dirty="0" smtClean="0"/>
              <a:t>BR10 VOP RR1 </a:t>
            </a:r>
            <a:r>
              <a:rPr lang="de-DE" sz="1000" dirty="0" err="1" smtClean="0"/>
              <a:t>test</a:t>
            </a:r>
            <a:r>
              <a:rPr lang="de-DE" sz="1000" dirty="0" smtClean="0"/>
              <a:t> </a:t>
            </a:r>
            <a:r>
              <a:rPr lang="de-DE" sz="1000" dirty="0" err="1" smtClean="0"/>
              <a:t>nok</a:t>
            </a:r>
            <a:r>
              <a:rPr lang="de-DE" sz="1000" dirty="0" smtClean="0"/>
              <a:t> </a:t>
            </a:r>
            <a:r>
              <a:rPr lang="de-DE" sz="1000" dirty="0" err="1" smtClean="0"/>
              <a:t>rejection</a:t>
            </a:r>
            <a:r>
              <a:rPr lang="de-DE" sz="1000" dirty="0" smtClean="0"/>
              <a:t> </a:t>
            </a:r>
            <a:r>
              <a:rPr lang="de-DE" sz="1000" dirty="0" err="1" smtClean="0"/>
              <a:t>is</a:t>
            </a:r>
            <a:r>
              <a:rPr lang="de-DE" sz="1000" dirty="0" smtClean="0"/>
              <a:t> </a:t>
            </a:r>
            <a:r>
              <a:rPr lang="de-DE" sz="1000" dirty="0" err="1" smtClean="0"/>
              <a:t>yet</a:t>
            </a:r>
            <a:r>
              <a:rPr lang="de-DE" sz="1000" dirty="0" smtClean="0"/>
              <a:t> not </a:t>
            </a:r>
            <a:r>
              <a:rPr lang="de-DE" sz="1000" dirty="0" err="1" smtClean="0"/>
              <a:t>improved</a:t>
            </a:r>
            <a:r>
              <a:rPr lang="de-DE" sz="1000" dirty="0" smtClean="0"/>
              <a:t> </a:t>
            </a:r>
            <a:r>
              <a:rPr lang="de-DE" sz="1000" dirty="0" err="1" smtClean="0"/>
              <a:t>as</a:t>
            </a:r>
            <a:r>
              <a:rPr lang="de-DE" sz="1000" dirty="0" smtClean="0"/>
              <a:t> per </a:t>
            </a:r>
            <a:r>
              <a:rPr lang="de-DE" sz="1000" dirty="0" err="1" smtClean="0"/>
              <a:t>target</a:t>
            </a:r>
            <a:r>
              <a:rPr lang="de-DE" sz="1000" dirty="0" smtClean="0"/>
              <a:t> </a:t>
            </a:r>
            <a:r>
              <a:rPr lang="de-DE" sz="1000" dirty="0" err="1" smtClean="0"/>
              <a:t>goal</a:t>
            </a:r>
            <a:endParaRPr lang="de-DE" sz="1000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DE" sz="1000" dirty="0"/>
              <a:t>Through </a:t>
            </a:r>
            <a:r>
              <a:rPr lang="de-DE" sz="1000" dirty="0" err="1"/>
              <a:t>this</a:t>
            </a:r>
            <a:r>
              <a:rPr lang="de-DE" sz="1000" dirty="0"/>
              <a:t> </a:t>
            </a:r>
            <a:r>
              <a:rPr lang="de-DE" sz="1000" dirty="0" err="1"/>
              <a:t>project</a:t>
            </a:r>
            <a:r>
              <a:rPr lang="de-DE" sz="1000" dirty="0"/>
              <a:t> </a:t>
            </a:r>
            <a:r>
              <a:rPr lang="de-DE" sz="1000" dirty="0" err="1"/>
              <a:t>we</a:t>
            </a:r>
            <a:r>
              <a:rPr lang="de-DE" sz="1000" dirty="0"/>
              <a:t> </a:t>
            </a:r>
            <a:r>
              <a:rPr lang="de-DE" sz="1000" dirty="0" err="1"/>
              <a:t>learn</a:t>
            </a:r>
            <a:r>
              <a:rPr lang="de-DE" sz="1000" dirty="0"/>
              <a:t> </a:t>
            </a:r>
            <a:r>
              <a:rPr lang="de-DE" sz="1000" dirty="0" err="1"/>
              <a:t>that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 smtClean="0"/>
              <a:t>housing</a:t>
            </a:r>
            <a:r>
              <a:rPr lang="de-DE" sz="1000" dirty="0" smtClean="0"/>
              <a:t> center 43.47mm </a:t>
            </a:r>
            <a:r>
              <a:rPr lang="de-DE" sz="1000" dirty="0" err="1" smtClean="0"/>
              <a:t>undersize</a:t>
            </a:r>
            <a:r>
              <a:rPr lang="de-DE" sz="1000" dirty="0" smtClean="0"/>
              <a:t> </a:t>
            </a:r>
          </a:p>
          <a:p>
            <a:pPr>
              <a:buClr>
                <a:srgbClr val="00B050"/>
              </a:buClr>
            </a:pPr>
            <a:r>
              <a:rPr lang="de-DE" sz="1000" dirty="0" smtClean="0"/>
              <a:t>          </a:t>
            </a:r>
            <a:r>
              <a:rPr lang="de-DE" sz="1000" dirty="0" err="1" smtClean="0"/>
              <a:t>can</a:t>
            </a:r>
            <a:r>
              <a:rPr lang="de-DE" sz="1000" dirty="0" smtClean="0"/>
              <a:t> </a:t>
            </a:r>
            <a:r>
              <a:rPr lang="de-DE" sz="1000" dirty="0" err="1" smtClean="0"/>
              <a:t>contribute</a:t>
            </a:r>
            <a:r>
              <a:rPr lang="de-DE" sz="1000" dirty="0" smtClean="0"/>
              <a:t> </a:t>
            </a:r>
            <a:r>
              <a:rPr lang="de-DE" sz="1000" dirty="0" err="1"/>
              <a:t>for</a:t>
            </a:r>
            <a:r>
              <a:rPr lang="de-DE" sz="1000" dirty="0"/>
              <a:t> </a:t>
            </a:r>
            <a:r>
              <a:rPr lang="de-DE" sz="1000" dirty="0" smtClean="0"/>
              <a:t>RR1 </a:t>
            </a:r>
            <a:r>
              <a:rPr lang="de-DE" sz="1000" dirty="0" err="1" smtClean="0"/>
              <a:t>test</a:t>
            </a:r>
            <a:r>
              <a:rPr lang="de-DE" sz="1000" dirty="0" smtClean="0"/>
              <a:t> </a:t>
            </a:r>
            <a:r>
              <a:rPr lang="de-DE" sz="1000" dirty="0" err="1" smtClean="0"/>
              <a:t>nok</a:t>
            </a:r>
            <a:r>
              <a:rPr lang="de-DE" sz="1000" dirty="0" smtClean="0"/>
              <a:t> (</a:t>
            </a:r>
            <a:r>
              <a:rPr lang="de-DE" sz="1000" dirty="0" err="1" smtClean="0"/>
              <a:t>Housing</a:t>
            </a:r>
            <a:r>
              <a:rPr lang="de-DE" sz="1000" dirty="0" smtClean="0"/>
              <a:t> </a:t>
            </a:r>
            <a:r>
              <a:rPr lang="de-DE" sz="1000" dirty="0" err="1" smtClean="0"/>
              <a:t>machined</a:t>
            </a:r>
            <a:r>
              <a:rPr lang="de-DE" sz="1000" dirty="0" smtClean="0"/>
              <a:t> at </a:t>
            </a:r>
            <a:r>
              <a:rPr lang="de-DE" sz="1000" dirty="0" err="1" smtClean="0"/>
              <a:t>supplier</a:t>
            </a:r>
            <a:r>
              <a:rPr lang="de-DE" sz="1000" dirty="0" smtClean="0"/>
              <a:t> end)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DE" sz="1000" dirty="0" smtClean="0"/>
              <a:t>Detail </a:t>
            </a:r>
            <a:r>
              <a:rPr lang="de-DE" sz="1000" dirty="0"/>
              <a:t>Understanding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process</a:t>
            </a:r>
            <a:r>
              <a:rPr lang="de-DE" sz="1000" dirty="0"/>
              <a:t> ,</a:t>
            </a:r>
            <a:r>
              <a:rPr lang="de-DE" sz="1000" dirty="0" smtClean="0"/>
              <a:t> </a:t>
            </a:r>
            <a:r>
              <a:rPr lang="de-DE" sz="1000" dirty="0"/>
              <a:t>Y </a:t>
            </a:r>
            <a:r>
              <a:rPr lang="de-DE" sz="1000" dirty="0" smtClean="0"/>
              <a:t>- X </a:t>
            </a:r>
            <a:r>
              <a:rPr lang="de-DE" sz="1000" dirty="0" err="1" smtClean="0"/>
              <a:t>relationship</a:t>
            </a:r>
            <a:r>
              <a:rPr lang="de-DE" sz="1000" dirty="0" smtClean="0"/>
              <a:t> &amp; </a:t>
            </a:r>
            <a:r>
              <a:rPr lang="de-DE" sz="1000" dirty="0" err="1" smtClean="0"/>
              <a:t>Confirmation</a:t>
            </a:r>
            <a:r>
              <a:rPr lang="de-DE" sz="1000" dirty="0" smtClean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smtClean="0"/>
              <a:t>BIG-X</a:t>
            </a:r>
          </a:p>
        </p:txBody>
      </p:sp>
      <p:sp>
        <p:nvSpPr>
          <p:cNvPr id="38" name="Inhaltsplatzhalter 9"/>
          <p:cNvSpPr txBox="1">
            <a:spLocks/>
          </p:cNvSpPr>
          <p:nvPr/>
        </p:nvSpPr>
        <p:spPr>
          <a:xfrm>
            <a:off x="7432257" y="2509305"/>
            <a:ext cx="4176037" cy="10433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000000"/>
                </a:solidFill>
              </a:rPr>
              <a:t>NA</a:t>
            </a:r>
            <a:endParaRPr lang="de-DE" sz="1000" dirty="0"/>
          </a:p>
        </p:txBody>
      </p:sp>
      <p:sp>
        <p:nvSpPr>
          <p:cNvPr id="39" name="Inhaltsplatzhalter 7"/>
          <p:cNvSpPr txBox="1">
            <a:spLocks/>
          </p:cNvSpPr>
          <p:nvPr/>
        </p:nvSpPr>
        <p:spPr>
          <a:xfrm>
            <a:off x="3131500" y="3913031"/>
            <a:ext cx="4104455" cy="10433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DE" sz="1000" dirty="0" err="1" smtClean="0"/>
              <a:t>Monthly</a:t>
            </a:r>
            <a:r>
              <a:rPr lang="de-DE" sz="1000" dirty="0" smtClean="0"/>
              <a:t>  </a:t>
            </a:r>
            <a:r>
              <a:rPr lang="de-DE" sz="1000" dirty="0" err="1" smtClean="0"/>
              <a:t>project</a:t>
            </a:r>
            <a:r>
              <a:rPr lang="de-DE" sz="1000" dirty="0" smtClean="0"/>
              <a:t> </a:t>
            </a:r>
            <a:r>
              <a:rPr lang="de-DE" sz="1000" dirty="0" err="1" smtClean="0"/>
              <a:t>is</a:t>
            </a:r>
            <a:r>
              <a:rPr lang="de-DE" sz="1000" dirty="0" smtClean="0"/>
              <a:t> </a:t>
            </a:r>
            <a:r>
              <a:rPr lang="de-DE" sz="1000" dirty="0" err="1" smtClean="0"/>
              <a:t>reviewed</a:t>
            </a:r>
            <a:r>
              <a:rPr lang="de-DE" sz="1000" dirty="0" smtClean="0"/>
              <a:t> </a:t>
            </a:r>
            <a:r>
              <a:rPr lang="de-DE" sz="1000" dirty="0" smtClean="0"/>
              <a:t>with Management Team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DE" sz="1000" dirty="0" smtClean="0"/>
              <a:t>CFT Involvement</a:t>
            </a:r>
            <a:endParaRPr lang="de-DE" sz="1000" dirty="0"/>
          </a:p>
        </p:txBody>
      </p:sp>
      <p:sp>
        <p:nvSpPr>
          <p:cNvPr id="40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40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1" name="think-cell Folie" r:id="rId5" imgW="360" imgH="360" progId="TCLayout.ActiveDocument.1">
                  <p:embed/>
                </p:oleObj>
              </mc:Choice>
              <mc:Fallback>
                <p:oleObj name="think-cell Folie" r:id="rId5" imgW="360" imgH="36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0">
            <a:extLst>
              <a:ext uri="{FF2B5EF4-FFF2-40B4-BE49-F238E27FC236}">
                <a16:creationId xmlns:a16="http://schemas.microsoft.com/office/drawing/2014/main" id="{0AC336DE-6101-4008-B63F-747D2AF9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0213" y="719938"/>
            <a:ext cx="15463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DMAI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C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- 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C</a:t>
            </a: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ONTROL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35" name="Inhaltsplatzhalter 7"/>
          <p:cNvSpPr txBox="1">
            <a:spLocks/>
          </p:cNvSpPr>
          <p:nvPr/>
        </p:nvSpPr>
        <p:spPr>
          <a:xfrm>
            <a:off x="3205629" y="2581240"/>
            <a:ext cx="4098849" cy="10433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DE" sz="1200" dirty="0" smtClean="0"/>
          </a:p>
        </p:txBody>
      </p:sp>
      <p:sp>
        <p:nvSpPr>
          <p:cNvPr id="38" name="Inhaltsplatzhalter 9"/>
          <p:cNvSpPr txBox="1">
            <a:spLocks/>
          </p:cNvSpPr>
          <p:nvPr/>
        </p:nvSpPr>
        <p:spPr>
          <a:xfrm>
            <a:off x="7432257" y="2509305"/>
            <a:ext cx="4176037" cy="10433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de-DE" sz="1200" dirty="0"/>
          </a:p>
        </p:txBody>
      </p:sp>
      <p:sp>
        <p:nvSpPr>
          <p:cNvPr id="39" name="Inhaltsplatzhalter 7"/>
          <p:cNvSpPr txBox="1">
            <a:spLocks/>
          </p:cNvSpPr>
          <p:nvPr/>
        </p:nvSpPr>
        <p:spPr>
          <a:xfrm>
            <a:off x="3215679" y="3913031"/>
            <a:ext cx="4104455" cy="10433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10000"/>
                </a:schemeClr>
              </a:buClr>
              <a:buSzTx/>
              <a:buFontTx/>
              <a:buNone/>
              <a:tabLst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marR="0" indent="-177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 2" panose="05020102010507070707" pitchFamily="18" charset="2"/>
              <a:buChar char="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marR="0" indent="-1793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EC1"/>
              </a:buClr>
              <a:buSzTx/>
              <a:buFont typeface="Wingdings" panose="05000000000000000000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75" indent="-177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007EC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DE" sz="1200" dirty="0"/>
          </a:p>
        </p:txBody>
      </p:sp>
      <p:sp>
        <p:nvSpPr>
          <p:cNvPr id="40" name="Titel 1"/>
          <p:cNvSpPr txBox="1">
            <a:spLocks/>
          </p:cNvSpPr>
          <p:nvPr/>
        </p:nvSpPr>
        <p:spPr>
          <a:xfrm>
            <a:off x="2905314" y="207983"/>
            <a:ext cx="3334701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PU2025-18- FTQ </a:t>
            </a:r>
            <a:r>
              <a:rPr lang="en-US" sz="1000" b="0" dirty="0"/>
              <a:t>improvement for </a:t>
            </a:r>
            <a:r>
              <a:rPr lang="en-US" sz="1000" b="0" dirty="0" smtClean="0"/>
              <a:t>BR10 VOP- </a:t>
            </a:r>
            <a:r>
              <a:rPr lang="en-US" sz="1000" b="0" dirty="0"/>
              <a:t>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333408" y="548680"/>
            <a:ext cx="4634800" cy="5866608"/>
            <a:chOff x="2250268" y="0"/>
            <a:chExt cx="7106642" cy="896968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50268" y="0"/>
              <a:ext cx="7106642" cy="481079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50268" y="4797152"/>
              <a:ext cx="7106642" cy="4172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334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544" y="3155547"/>
            <a:ext cx="9436911" cy="539906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DB15-F479-43AD-A48C-7C7AA575C53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2905315" y="207983"/>
            <a:ext cx="3024336" cy="4551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>
              <a:buClr>
                <a:srgbClr val="003366"/>
              </a:buClr>
              <a:buSzPct val="120000"/>
              <a:defRPr/>
            </a:pPr>
            <a:r>
              <a:rPr lang="en-US" sz="1000" b="0" dirty="0" smtClean="0"/>
              <a:t>:  PU2023-19- FTQ </a:t>
            </a:r>
            <a:r>
              <a:rPr lang="en-US" sz="1000" b="0" dirty="0"/>
              <a:t>improvement for BR10- RR1 test NOK</a:t>
            </a:r>
            <a:r>
              <a:rPr lang="en-US" altLang="en-US" sz="1000" b="0" dirty="0">
                <a:solidFill>
                  <a:srgbClr val="000000"/>
                </a:solidFill>
                <a:latin typeface="Calibri"/>
                <a:cs typeface="Calibri" panose="020F0502020204030204" pitchFamily="34" charset="0"/>
              </a:rPr>
              <a:t> </a:t>
            </a:r>
          </a:p>
          <a:p>
            <a:pPr fontAlgn="auto">
              <a:spcAft>
                <a:spcPts val="0"/>
              </a:spcAft>
            </a:pPr>
            <a:r>
              <a:rPr lang="en-US" sz="1000" dirty="0" smtClean="0">
                <a:latin typeface="+mn-lt"/>
                <a:cs typeface="Arial" panose="020B0604020202020204" pitchFamily="34" charset="0"/>
              </a:rPr>
              <a:t> </a:t>
            </a:r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6205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jztl_GAhe_sdg.AsS0X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f_Q8NBm27.f1PMRXMGt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VXJH4inP1qE3JsMi6b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Dh0RFR4TlGkBY4P6Rka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6_nqSUN5CIMr8uWTorr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7Oft6gc1uMNyaB8ekeV3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YhpEzko0UiGNs6O3OPZg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zmcc61fP06GHMmQuMSO4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zmcc61fP06GHMmQuMSO4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zmcc61fP06GHMmQuMSO4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zmcc61fP06GHMmQuMSO4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xJd2k09qEOWeMgKgZzw0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o0HK5p7UinvsUcuPq4j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qNV0KxPUCxs6xHfp5dM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gxTvIAQzkKdm_BjTMlhz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gxTvIAQzkKdm_BjTMlhz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gxTvIAQzkKdm_BjTMlhz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gxTvIAQzkKdm_BjTMlhz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gxTvIAQzkKdm_BjTMlhz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Ll8NY3_UenjVR55vsG7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ster_Rh Group_deu">
  <a:themeElements>
    <a:clrScheme name="RH Farben 2016">
      <a:dk1>
        <a:srgbClr val="000000"/>
      </a:dk1>
      <a:lt1>
        <a:srgbClr val="FFFFFF"/>
      </a:lt1>
      <a:dk2>
        <a:srgbClr val="3E3D40"/>
      </a:dk2>
      <a:lt2>
        <a:srgbClr val="007EC1"/>
      </a:lt2>
      <a:accent1>
        <a:srgbClr val="00406E"/>
      </a:accent1>
      <a:accent2>
        <a:srgbClr val="B1C800"/>
      </a:accent2>
      <a:accent3>
        <a:srgbClr val="43B0E0"/>
      </a:accent3>
      <a:accent4>
        <a:srgbClr val="FFCC00"/>
      </a:accent4>
      <a:accent5>
        <a:srgbClr val="6E483D"/>
      </a:accent5>
      <a:accent6>
        <a:srgbClr val="D10019"/>
      </a:accent6>
      <a:hlink>
        <a:srgbClr val="00406E"/>
      </a:hlink>
      <a:folHlink>
        <a:srgbClr val="007EC1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buClr>
            <a:schemeClr val="accent3"/>
          </a:buClr>
          <a:defRPr sz="1800" b="0" dirty="0" smtClean="0">
            <a:solidFill>
              <a:schemeClr val="tx1">
                <a:lumMod val="1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Template RH Excellence_2021.potx" id="{46F2F8DD-F4EB-43A4-94C6-D90DE6ABB951}" vid="{0ECA75EA-8946-4D54-9A97-B7A78605474C}"/>
    </a:ext>
  </a:extLst>
</a:theme>
</file>

<file path=ppt/theme/theme2.xml><?xml version="1.0" encoding="utf-8"?>
<a:theme xmlns:a="http://schemas.openxmlformats.org/drawingml/2006/main" name="16-10-17_Master_One_Rh_Pierburg_ENG">
  <a:themeElements>
    <a:clrScheme name="RH Farben 2016">
      <a:dk1>
        <a:srgbClr val="000000"/>
      </a:dk1>
      <a:lt1>
        <a:srgbClr val="FFFFFF"/>
      </a:lt1>
      <a:dk2>
        <a:srgbClr val="3E3D40"/>
      </a:dk2>
      <a:lt2>
        <a:srgbClr val="007EC1"/>
      </a:lt2>
      <a:accent1>
        <a:srgbClr val="00406E"/>
      </a:accent1>
      <a:accent2>
        <a:srgbClr val="B1C800"/>
      </a:accent2>
      <a:accent3>
        <a:srgbClr val="43B0E0"/>
      </a:accent3>
      <a:accent4>
        <a:srgbClr val="FFCC00"/>
      </a:accent4>
      <a:accent5>
        <a:srgbClr val="6E483D"/>
      </a:accent5>
      <a:accent6>
        <a:srgbClr val="D10019"/>
      </a:accent6>
      <a:hlink>
        <a:srgbClr val="00406E"/>
      </a:hlink>
      <a:folHlink>
        <a:srgbClr val="007EC1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buClr>
            <a:schemeClr val="accent3"/>
          </a:buClr>
          <a:defRPr sz="1800" b="0" dirty="0" err="1" smtClean="0">
            <a:solidFill>
              <a:schemeClr val="tx1">
                <a:lumMod val="10000"/>
              </a:schemeClr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16-10-17_Master_One_Rh_Pierburg_ENG">
  <a:themeElements>
    <a:clrScheme name="RH Farben 2016">
      <a:dk1>
        <a:srgbClr val="000000"/>
      </a:dk1>
      <a:lt1>
        <a:srgbClr val="FFFFFF"/>
      </a:lt1>
      <a:dk2>
        <a:srgbClr val="3E3D40"/>
      </a:dk2>
      <a:lt2>
        <a:srgbClr val="007EC1"/>
      </a:lt2>
      <a:accent1>
        <a:srgbClr val="00406E"/>
      </a:accent1>
      <a:accent2>
        <a:srgbClr val="B1C800"/>
      </a:accent2>
      <a:accent3>
        <a:srgbClr val="43B0E0"/>
      </a:accent3>
      <a:accent4>
        <a:srgbClr val="FFCC00"/>
      </a:accent4>
      <a:accent5>
        <a:srgbClr val="6E483D"/>
      </a:accent5>
      <a:accent6>
        <a:srgbClr val="D10019"/>
      </a:accent6>
      <a:hlink>
        <a:srgbClr val="00406E"/>
      </a:hlink>
      <a:folHlink>
        <a:srgbClr val="007EC1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buClr>
            <a:schemeClr val="accent3"/>
          </a:buClr>
          <a:defRPr sz="1800" b="0" dirty="0" err="1" smtClean="0">
            <a:solidFill>
              <a:schemeClr val="tx1">
                <a:lumMod val="10000"/>
              </a:schemeClr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3970</Words>
  <Application>Microsoft Office PowerPoint</Application>
  <PresentationFormat>Widescreen</PresentationFormat>
  <Paragraphs>984</Paragraphs>
  <Slides>36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3" baseType="lpstr">
      <vt:lpstr>ＭＳ Ｐゴシック</vt:lpstr>
      <vt:lpstr>ＭＳ Ｐゴシック</vt:lpstr>
      <vt:lpstr>宋体</vt:lpstr>
      <vt:lpstr>Arial</vt:lpstr>
      <vt:lpstr>Bosch Office Sans</vt:lpstr>
      <vt:lpstr>Calibri</vt:lpstr>
      <vt:lpstr>Century Gothic</vt:lpstr>
      <vt:lpstr>Symbol</vt:lpstr>
      <vt:lpstr>Times New Roman</vt:lpstr>
      <vt:lpstr>TisaOT-Bold</vt:lpstr>
      <vt:lpstr>TisaOT-Light</vt:lpstr>
      <vt:lpstr>Wingdings</vt:lpstr>
      <vt:lpstr>Wingdings 2</vt:lpstr>
      <vt:lpstr>Master_Rh Group_deu</vt:lpstr>
      <vt:lpstr>16-10-17_Master_One_Rh_Pierburg_ENG</vt:lpstr>
      <vt:lpstr>1_16-10-17_Master_One_Rh_Pierburg_ENG</vt:lpstr>
      <vt:lpstr>think-cell Folie</vt:lpstr>
      <vt:lpstr>PU2025-18- FTQ improvement for BR10 VOP- RR1 test NOK</vt:lpstr>
      <vt:lpstr>Table of Contents</vt:lpstr>
      <vt:lpstr>DEFINE </vt:lpstr>
      <vt:lpstr>Project Basics:</vt:lpstr>
      <vt:lpstr>Define</vt:lpstr>
      <vt:lpstr>PowerPoint Presentation</vt:lpstr>
      <vt:lpstr>PowerPoint Presentation</vt:lpstr>
      <vt:lpstr>Project Definition Tree</vt:lpstr>
      <vt:lpstr>MEASURE</vt:lpstr>
      <vt:lpstr>PowerPoint Presentation</vt:lpstr>
      <vt:lpstr>PowerPoint Presentation</vt:lpstr>
      <vt:lpstr>PowerPoint Presentation</vt:lpstr>
      <vt:lpstr>ANALYZE</vt:lpstr>
      <vt:lpstr>PowerPoint Presentation</vt:lpstr>
      <vt:lpstr>PowerPoint Presentation</vt:lpstr>
      <vt:lpstr>PowerPoint Presentation</vt:lpstr>
      <vt:lpstr>PowerPoint Presentation</vt:lpstr>
      <vt:lpstr>Solution Tree</vt:lpstr>
      <vt:lpstr>Solution Tree</vt:lpstr>
      <vt:lpstr>PowerPoint Presentation</vt:lpstr>
      <vt:lpstr>PowerPoint Presentation</vt:lpstr>
      <vt:lpstr>PowerPoint Presentation</vt:lpstr>
      <vt:lpstr>IMPROVE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</vt:lpstr>
      <vt:lpstr>PowerPoint Presentation</vt:lpstr>
      <vt:lpstr>PowerPoint Presentation</vt:lpstr>
      <vt:lpstr>CONTROL  Review of Project Lessons Learned &amp; Identification of Best Practices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2022-02-10T08:14:53Z</dcterms:created>
  <dcterms:modified xsi:type="dcterms:W3CDTF">2025-12-18T07:22:06Z</dcterms:modified>
</cp:coreProperties>
</file>